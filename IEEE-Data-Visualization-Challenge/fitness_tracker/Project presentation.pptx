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Open Sans 1 Bold" charset="1" panose="00000000000000000000"/>
      <p:regular r:id="rId31"/>
    </p:embeddedFont>
    <p:embeddedFont>
      <p:font typeface="Open Sans 2 Bold" charset="1" panose="020B0806030504020204"/>
      <p:regular r:id="rId32"/>
    </p:embeddedFont>
    <p:embeddedFont>
      <p:font typeface="DM Sans" charset="1" panose="00000000000000000000"/>
      <p:regular r:id="rId33"/>
    </p:embeddedFont>
    <p:embeddedFont>
      <p:font typeface="Open Sans 1" charset="1" panose="00000000000000000000"/>
      <p:regular r:id="rId34"/>
    </p:embeddedFont>
    <p:embeddedFont>
      <p:font typeface="Open Sans 2" charset="1" panose="020B0606030504020204"/>
      <p:regular r:id="rId35"/>
    </p:embeddedFont>
    <p:embeddedFont>
      <p:font typeface="Open Sans Extra Bold" charset="1" panose="020B0906030804020204"/>
      <p:regular r:id="rId36"/>
    </p:embeddedFont>
    <p:embeddedFont>
      <p:font typeface="Be Vietnam Bold" charset="1" panose="00000900000000000000"/>
      <p:regular r:id="rId37"/>
    </p:embeddedFont>
    <p:embeddedFont>
      <p:font typeface="Be Vietnam" charset="1" panose="000005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png" Type="http://schemas.openxmlformats.org/officeDocument/2006/relationships/image"/><Relationship Id="rId30" Target="../media/image29.svg" Type="http://schemas.openxmlformats.org/officeDocument/2006/relationships/image"/><Relationship Id="rId31" Target="../media/image30.png" Type="http://schemas.openxmlformats.org/officeDocument/2006/relationships/image"/><Relationship Id="rId32" Target="../media/image31.svg" Type="http://schemas.openxmlformats.org/officeDocument/2006/relationships/image"/><Relationship Id="rId33" Target="../media/image32.png" Type="http://schemas.openxmlformats.org/officeDocument/2006/relationships/image"/><Relationship Id="rId34" Target="../media/image33.sv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2" Target="../media/image34.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8.png" Type="http://schemas.openxmlformats.org/officeDocument/2006/relationships/image"/><Relationship Id="rId18" Target="../media/image2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2" Target="../media/image1.pn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2" Target="../media/image1.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18" Target="../media/image16.png" Type="http://schemas.openxmlformats.org/officeDocument/2006/relationships/image"/><Relationship Id="rId19" Target="../media/image17.svg" Type="http://schemas.openxmlformats.org/officeDocument/2006/relationships/image"/><Relationship Id="rId2" Target="../media/image1.png" Type="http://schemas.openxmlformats.org/officeDocument/2006/relationships/image"/><Relationship Id="rId20" Target="../media/image18.png" Type="http://schemas.openxmlformats.org/officeDocument/2006/relationships/image"/><Relationship Id="rId21" Target="../media/image19.svg" Type="http://schemas.openxmlformats.org/officeDocument/2006/relationships/image"/><Relationship Id="rId22" Target="../media/image26.png" Type="http://schemas.openxmlformats.org/officeDocument/2006/relationships/image"/><Relationship Id="rId23" Target="../media/image27.svg" Type="http://schemas.openxmlformats.org/officeDocument/2006/relationships/image"/><Relationship Id="rId3" Target="../media/image65.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66.png" Type="http://schemas.openxmlformats.org/officeDocument/2006/relationships/image"/><Relationship Id="rId12" Target="../media/image67.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15" Target="../media/image4.png" Type="http://schemas.openxmlformats.org/officeDocument/2006/relationships/image"/><Relationship Id="rId16" Target="../media/image5.svg" Type="http://schemas.openxmlformats.org/officeDocument/2006/relationships/image"/><Relationship Id="rId17" Target="../media/image8.png" Type="http://schemas.openxmlformats.org/officeDocument/2006/relationships/image"/><Relationship Id="rId18" Target="../media/image9.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6.png" Type="http://schemas.openxmlformats.org/officeDocument/2006/relationships/image"/><Relationship Id="rId24" Target="../media/image27.svg" Type="http://schemas.openxmlformats.org/officeDocument/2006/relationships/image"/><Relationship Id="rId25" Target="../media/image28.png" Type="http://schemas.openxmlformats.org/officeDocument/2006/relationships/image"/><Relationship Id="rId26" Target="../media/image29.svg" Type="http://schemas.openxmlformats.org/officeDocument/2006/relationships/image"/><Relationship Id="rId27" Target="../media/image68.png" Type="http://schemas.openxmlformats.org/officeDocument/2006/relationships/image"/><Relationship Id="rId28" Target="../media/image69.svg" Type="http://schemas.openxmlformats.org/officeDocument/2006/relationships/image"/><Relationship Id="rId29" Target="../media/image70.png" Type="http://schemas.openxmlformats.org/officeDocument/2006/relationships/image"/><Relationship Id="rId3" Target="../media/image10.png" Type="http://schemas.openxmlformats.org/officeDocument/2006/relationships/image"/><Relationship Id="rId30" Target="../media/image71.sv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66.png" Type="http://schemas.openxmlformats.org/officeDocument/2006/relationships/image"/><Relationship Id="rId30" Target="../media/image29.svg" Type="http://schemas.openxmlformats.org/officeDocument/2006/relationships/image"/><Relationship Id="rId4" Target="../media/image6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66.png" Type="http://schemas.openxmlformats.org/officeDocument/2006/relationships/image"/><Relationship Id="rId30" Target="../media/image29.svg" Type="http://schemas.openxmlformats.org/officeDocument/2006/relationships/image"/><Relationship Id="rId4" Target="../media/image6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2.png" Type="http://schemas.openxmlformats.org/officeDocument/2006/relationships/image"/><Relationship Id="rId4" Target="../media/image73.svg" Type="http://schemas.openxmlformats.org/officeDocument/2006/relationships/image"/><Relationship Id="rId5" Target="../media/image74.png" Type="http://schemas.openxmlformats.org/officeDocument/2006/relationships/image"/><Relationship Id="rId6" Target="../media/image7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6.pn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66.png" Type="http://schemas.openxmlformats.org/officeDocument/2006/relationships/image"/><Relationship Id="rId30" Target="../media/image29.svg" Type="http://schemas.openxmlformats.org/officeDocument/2006/relationships/image"/><Relationship Id="rId4" Target="../media/image6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15" Target="../media/image10.png" Type="http://schemas.openxmlformats.org/officeDocument/2006/relationships/image"/><Relationship Id="rId16" Target="../media/image11.svg" Type="http://schemas.openxmlformats.org/officeDocument/2006/relationships/image"/><Relationship Id="rId17" Target="../media/image12.png" Type="http://schemas.openxmlformats.org/officeDocument/2006/relationships/image"/><Relationship Id="rId18" Target="../media/image13.svg" Type="http://schemas.openxmlformats.org/officeDocument/2006/relationships/image"/><Relationship Id="rId19" Target="../media/image14.png" Type="http://schemas.openxmlformats.org/officeDocument/2006/relationships/image"/><Relationship Id="rId2" Target="../media/image1.png" Type="http://schemas.openxmlformats.org/officeDocument/2006/relationships/image"/><Relationship Id="rId20" Target="../media/image15.svg" Type="http://schemas.openxmlformats.org/officeDocument/2006/relationships/image"/><Relationship Id="rId21" Target="../media/image18.png" Type="http://schemas.openxmlformats.org/officeDocument/2006/relationships/image"/><Relationship Id="rId22" Target="../media/image19.svg" Type="http://schemas.openxmlformats.org/officeDocument/2006/relationships/image"/><Relationship Id="rId23" Target="../media/image20.png" Type="http://schemas.openxmlformats.org/officeDocument/2006/relationships/image"/><Relationship Id="rId24" Target="../media/image21.svg" Type="http://schemas.openxmlformats.org/officeDocument/2006/relationships/image"/><Relationship Id="rId25" Target="../media/image22.png" Type="http://schemas.openxmlformats.org/officeDocument/2006/relationships/image"/><Relationship Id="rId26" Target="../media/image23.svg" Type="http://schemas.openxmlformats.org/officeDocument/2006/relationships/image"/><Relationship Id="rId27" Target="../media/image24.png" Type="http://schemas.openxmlformats.org/officeDocument/2006/relationships/image"/><Relationship Id="rId28" Target="../media/image25.svg" Type="http://schemas.openxmlformats.org/officeDocument/2006/relationships/image"/><Relationship Id="rId29" Target="../media/image26.png" Type="http://schemas.openxmlformats.org/officeDocument/2006/relationships/image"/><Relationship Id="rId3" Target="../media/image16.png" Type="http://schemas.openxmlformats.org/officeDocument/2006/relationships/image"/><Relationship Id="rId30" Target="../media/image27.svg" Type="http://schemas.openxmlformats.org/officeDocument/2006/relationships/image"/><Relationship Id="rId4" Target="../media/image17.svg" Type="http://schemas.openxmlformats.org/officeDocument/2006/relationships/image"/><Relationship Id="rId5" Target="../media/image72.png" Type="http://schemas.openxmlformats.org/officeDocument/2006/relationships/image"/><Relationship Id="rId6" Target="../media/image73.svg" Type="http://schemas.openxmlformats.org/officeDocument/2006/relationships/image"/><Relationship Id="rId7" Target="../media/image74.png" Type="http://schemas.openxmlformats.org/officeDocument/2006/relationships/image"/><Relationship Id="rId8" Target="../media/image75.svg" Type="http://schemas.openxmlformats.org/officeDocument/2006/relationships/image"/><Relationship Id="rId9"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7.pn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78.png" Type="http://schemas.openxmlformats.org/officeDocument/2006/relationships/image"/><Relationship Id="rId28" Target="../media/image7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66.png" Type="http://schemas.openxmlformats.org/officeDocument/2006/relationships/image"/><Relationship Id="rId14" Target="../media/image67.svg" Type="http://schemas.openxmlformats.org/officeDocument/2006/relationships/image"/><Relationship Id="rId15" Target="../media/image80.png" Type="http://schemas.openxmlformats.org/officeDocument/2006/relationships/image"/><Relationship Id="rId16" Target="../media/image81.svg" Type="http://schemas.openxmlformats.org/officeDocument/2006/relationships/image"/><Relationship Id="rId17" Target="../media/image82.png" Type="http://schemas.openxmlformats.org/officeDocument/2006/relationships/image"/><Relationship Id="rId18" Target="../media/image83.svg" Type="http://schemas.openxmlformats.org/officeDocument/2006/relationships/image"/><Relationship Id="rId19" Target="../media/image84.png" Type="http://schemas.openxmlformats.org/officeDocument/2006/relationships/image"/><Relationship Id="rId2" Target="../media/image1.png" Type="http://schemas.openxmlformats.org/officeDocument/2006/relationships/image"/><Relationship Id="rId20" Target="../media/image85.svg" Type="http://schemas.openxmlformats.org/officeDocument/2006/relationships/image"/><Relationship Id="rId21" Target="../media/image86.png" Type="http://schemas.openxmlformats.org/officeDocument/2006/relationships/image"/><Relationship Id="rId22" Target="../media/image87.svg" Type="http://schemas.openxmlformats.org/officeDocument/2006/relationships/image"/><Relationship Id="rId23" Target="../media/image88.png" Type="http://schemas.openxmlformats.org/officeDocument/2006/relationships/image"/><Relationship Id="rId24" Target="../media/image89.sv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36705" y="6409875"/>
            <a:ext cx="724985" cy="920616"/>
          </a:xfrm>
          <a:custGeom>
            <a:avLst/>
            <a:gdLst/>
            <a:ahLst/>
            <a:cxnLst/>
            <a:rect r="r" b="b" t="t" l="l"/>
            <a:pathLst>
              <a:path h="920616" w="724985">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a:ln cap="sq">
            <a:noFill/>
            <a:prstDash val="solid"/>
            <a:miter/>
          </a:ln>
        </p:spPr>
      </p:sp>
      <p:sp>
        <p:nvSpPr>
          <p:cNvPr name="Freeform 17" id="17"/>
          <p:cNvSpPr/>
          <p:nvPr/>
        </p:nvSpPr>
        <p:spPr>
          <a:xfrm flipH="false" flipV="false" rot="0">
            <a:off x="4737926" y="2576219"/>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8" id="18"/>
          <p:cNvGrpSpPr/>
          <p:nvPr/>
        </p:nvGrpSpPr>
        <p:grpSpPr>
          <a:xfrm rot="0">
            <a:off x="1501020" y="6166549"/>
            <a:ext cx="14471234" cy="2927189"/>
            <a:chOff x="0" y="0"/>
            <a:chExt cx="19294978" cy="3902918"/>
          </a:xfrm>
        </p:grpSpPr>
        <p:sp>
          <p:nvSpPr>
            <p:cNvPr name="Freeform 19" id="19"/>
            <p:cNvSpPr/>
            <p:nvPr/>
          </p:nvSpPr>
          <p:spPr>
            <a:xfrm flipH="false" flipV="false" rot="0">
              <a:off x="15761778" y="1057712"/>
              <a:ext cx="3533200" cy="2107072"/>
            </a:xfrm>
            <a:custGeom>
              <a:avLst/>
              <a:gdLst/>
              <a:ahLst/>
              <a:cxnLst/>
              <a:rect r="r" b="b" t="t" l="l"/>
              <a:pathLst>
                <a:path h="2107072" w="3533200">
                  <a:moveTo>
                    <a:pt x="0" y="0"/>
                  </a:moveTo>
                  <a:lnTo>
                    <a:pt x="3533200" y="0"/>
                  </a:lnTo>
                  <a:lnTo>
                    <a:pt x="3533200" y="2107072"/>
                  </a:lnTo>
                  <a:lnTo>
                    <a:pt x="0" y="2107072"/>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20" id="20"/>
            <p:cNvSpPr/>
            <p:nvPr/>
          </p:nvSpPr>
          <p:spPr>
            <a:xfrm flipH="false" flipV="false" rot="0">
              <a:off x="0" y="0"/>
              <a:ext cx="3150719" cy="3902918"/>
            </a:xfrm>
            <a:custGeom>
              <a:avLst/>
              <a:gdLst/>
              <a:ahLst/>
              <a:cxnLst/>
              <a:rect r="r" b="b" t="t" l="l"/>
              <a:pathLst>
                <a:path h="3902918" w="3150719">
                  <a:moveTo>
                    <a:pt x="0" y="0"/>
                  </a:moveTo>
                  <a:lnTo>
                    <a:pt x="3150719" y="0"/>
                  </a:lnTo>
                  <a:lnTo>
                    <a:pt x="3150719" y="3902918"/>
                  </a:lnTo>
                  <a:lnTo>
                    <a:pt x="0" y="3902918"/>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grpSp>
      <p:sp>
        <p:nvSpPr>
          <p:cNvPr name="TextBox 21" id="21"/>
          <p:cNvSpPr txBox="true"/>
          <p:nvPr/>
        </p:nvSpPr>
        <p:spPr>
          <a:xfrm rot="0">
            <a:off x="4831481" y="7036033"/>
            <a:ext cx="8070901" cy="587551"/>
          </a:xfrm>
          <a:prstGeom prst="rect">
            <a:avLst/>
          </a:prstGeom>
        </p:spPr>
        <p:txBody>
          <a:bodyPr anchor="t" rtlCol="false" tIns="0" lIns="0" bIns="0" rIns="0">
            <a:spAutoFit/>
          </a:bodyPr>
          <a:lstStyle/>
          <a:p>
            <a:pPr algn="ctr">
              <a:lnSpc>
                <a:spcPts val="4381"/>
              </a:lnSpc>
            </a:pPr>
            <a:r>
              <a:rPr lang="en-US" b="true" sz="4381" spc="-87">
                <a:solidFill>
                  <a:srgbClr val="000000"/>
                </a:solidFill>
                <a:latin typeface="Open Sans 1 Bold"/>
                <a:ea typeface="Open Sans 1 Bold"/>
                <a:cs typeface="Open Sans 1 Bold"/>
                <a:sym typeface="Open Sans 1 Bold"/>
              </a:rPr>
              <a:t>Presented by DataMorphers</a:t>
            </a:r>
          </a:p>
        </p:txBody>
      </p:sp>
      <p:sp>
        <p:nvSpPr>
          <p:cNvPr name="TextBox 22" id="22"/>
          <p:cNvSpPr txBox="true"/>
          <p:nvPr/>
        </p:nvSpPr>
        <p:spPr>
          <a:xfrm rot="0">
            <a:off x="1228270" y="3434546"/>
            <a:ext cx="15412058" cy="1917744"/>
          </a:xfrm>
          <a:prstGeom prst="rect">
            <a:avLst/>
          </a:prstGeom>
        </p:spPr>
        <p:txBody>
          <a:bodyPr anchor="t" rtlCol="false" tIns="0" lIns="0" bIns="0" rIns="0">
            <a:spAutoFit/>
          </a:bodyPr>
          <a:lstStyle/>
          <a:p>
            <a:pPr algn="ctr">
              <a:lnSpc>
                <a:spcPts val="14191"/>
              </a:lnSpc>
            </a:pPr>
            <a:r>
              <a:rPr lang="en-US" b="true" sz="15097">
                <a:solidFill>
                  <a:srgbClr val="000000"/>
                </a:solidFill>
                <a:latin typeface="Open Sans 2 Bold"/>
                <a:ea typeface="Open Sans 2 Bold"/>
                <a:cs typeface="Open Sans 2 Bold"/>
                <a:sym typeface="Open Sans 2 Bold"/>
              </a:rPr>
              <a:t>Fitness Tracker</a:t>
            </a:r>
          </a:p>
        </p:txBody>
      </p:sp>
      <p:sp>
        <p:nvSpPr>
          <p:cNvPr name="TextBox 23" id="23"/>
          <p:cNvSpPr txBox="true"/>
          <p:nvPr/>
        </p:nvSpPr>
        <p:spPr>
          <a:xfrm rot="0">
            <a:off x="2363040" y="5305425"/>
            <a:ext cx="13454997" cy="823601"/>
          </a:xfrm>
          <a:prstGeom prst="rect">
            <a:avLst/>
          </a:prstGeom>
        </p:spPr>
        <p:txBody>
          <a:bodyPr anchor="t" rtlCol="false" tIns="0" lIns="0" bIns="0" rIns="0">
            <a:spAutoFit/>
          </a:bodyPr>
          <a:lstStyle/>
          <a:p>
            <a:pPr algn="l">
              <a:lnSpc>
                <a:spcPts val="6092"/>
              </a:lnSpc>
            </a:pPr>
            <a:r>
              <a:rPr lang="en-US" sz="6480" u="sng" b="true">
                <a:solidFill>
                  <a:srgbClr val="000000"/>
                </a:solidFill>
                <a:latin typeface="Open Sans 2 Bold"/>
                <a:ea typeface="Open Sans 2 Bold"/>
                <a:cs typeface="Open Sans 2 Bold"/>
                <a:sym typeface="Open Sans 2 Bold"/>
              </a:rPr>
              <a:t>A Comprehensive Data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1086902" y="2671025"/>
            <a:ext cx="9333298" cy="2584846"/>
          </a:xfrm>
          <a:prstGeom prst="rect">
            <a:avLst/>
          </a:prstGeom>
        </p:spPr>
        <p:txBody>
          <a:bodyPr anchor="t" rtlCol="false" tIns="0" lIns="0" bIns="0" rIns="0">
            <a:spAutoFit/>
          </a:bodyPr>
          <a:lstStyle/>
          <a:p>
            <a:pPr algn="l">
              <a:lnSpc>
                <a:spcPts val="8356"/>
              </a:lnSpc>
            </a:pPr>
            <a:r>
              <a:rPr lang="en-US" sz="8615" b="true">
                <a:solidFill>
                  <a:srgbClr val="000000"/>
                </a:solidFill>
                <a:latin typeface="Open Sans 1 Bold"/>
                <a:ea typeface="Open Sans 1 Bold"/>
                <a:cs typeface="Open Sans 1 Bold"/>
                <a:sym typeface="Open Sans 1 Bold"/>
              </a:rPr>
              <a:t>Objective for the Presentation</a:t>
            </a:r>
          </a:p>
          <a:p>
            <a:pPr algn="just">
              <a:lnSpc>
                <a:spcPts val="3899"/>
              </a:lnSpc>
            </a:pPr>
          </a:p>
        </p:txBody>
      </p:sp>
      <p:grpSp>
        <p:nvGrpSpPr>
          <p:cNvPr name="Group 4" id="4"/>
          <p:cNvGrpSpPr/>
          <p:nvPr/>
        </p:nvGrpSpPr>
        <p:grpSpPr>
          <a:xfrm rot="0">
            <a:off x="10261239" y="532098"/>
            <a:ext cx="6998061" cy="1476564"/>
            <a:chOff x="0" y="0"/>
            <a:chExt cx="2342659" cy="494292"/>
          </a:xfrm>
        </p:grpSpPr>
        <p:sp>
          <p:nvSpPr>
            <p:cNvPr name="Freeform 5" id="5"/>
            <p:cNvSpPr/>
            <p:nvPr/>
          </p:nvSpPr>
          <p:spPr>
            <a:xfrm flipH="false" flipV="false" rot="0">
              <a:off x="0" y="0"/>
              <a:ext cx="2342659" cy="494292"/>
            </a:xfrm>
            <a:custGeom>
              <a:avLst/>
              <a:gdLst/>
              <a:ahLst/>
              <a:cxnLst/>
              <a:rect r="r" b="b" t="t" l="l"/>
              <a:pathLst>
                <a:path h="494292" w="2342659">
                  <a:moveTo>
                    <a:pt x="16594" y="0"/>
                  </a:moveTo>
                  <a:lnTo>
                    <a:pt x="2326064" y="0"/>
                  </a:lnTo>
                  <a:cubicBezTo>
                    <a:pt x="2335229" y="0"/>
                    <a:pt x="2342659" y="7430"/>
                    <a:pt x="2342659" y="16594"/>
                  </a:cubicBezTo>
                  <a:lnTo>
                    <a:pt x="2342659" y="477697"/>
                  </a:lnTo>
                  <a:cubicBezTo>
                    <a:pt x="2342659" y="486862"/>
                    <a:pt x="2335229" y="494292"/>
                    <a:pt x="2326064" y="494292"/>
                  </a:cubicBezTo>
                  <a:lnTo>
                    <a:pt x="16594" y="494292"/>
                  </a:lnTo>
                  <a:cubicBezTo>
                    <a:pt x="7430" y="494292"/>
                    <a:pt x="0" y="486862"/>
                    <a:pt x="0" y="477697"/>
                  </a:cubicBezTo>
                  <a:lnTo>
                    <a:pt x="0" y="16594"/>
                  </a:lnTo>
                  <a:cubicBezTo>
                    <a:pt x="0" y="7430"/>
                    <a:pt x="7430" y="0"/>
                    <a:pt x="16594" y="0"/>
                  </a:cubicBezTo>
                  <a:close/>
                </a:path>
              </a:pathLst>
            </a:custGeom>
            <a:solidFill>
              <a:srgbClr val="8AB7E2"/>
            </a:solidFill>
          </p:spPr>
        </p:sp>
        <p:sp>
          <p:nvSpPr>
            <p:cNvPr name="TextBox 6" id="6"/>
            <p:cNvSpPr txBox="true"/>
            <p:nvPr/>
          </p:nvSpPr>
          <p:spPr>
            <a:xfrm>
              <a:off x="0" y="85725"/>
              <a:ext cx="2342659" cy="408567"/>
            </a:xfrm>
            <a:prstGeom prst="rect">
              <a:avLst/>
            </a:prstGeom>
          </p:spPr>
          <p:txBody>
            <a:bodyPr anchor="ctr" rtlCol="false" tIns="50800" lIns="50800" bIns="50800" rIns="50800"/>
            <a:lstStyle/>
            <a:p>
              <a:pPr algn="ctr">
                <a:lnSpc>
                  <a:spcPts val="1925"/>
                </a:lnSpc>
              </a:pPr>
            </a:p>
          </p:txBody>
        </p:sp>
      </p:grpSp>
      <p:sp>
        <p:nvSpPr>
          <p:cNvPr name="Freeform 7" id="7"/>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11" id="11"/>
          <p:cNvGrpSpPr/>
          <p:nvPr/>
        </p:nvGrpSpPr>
        <p:grpSpPr>
          <a:xfrm rot="0">
            <a:off x="10261239" y="2554880"/>
            <a:ext cx="6998061" cy="1476564"/>
            <a:chOff x="0" y="0"/>
            <a:chExt cx="2342659" cy="494292"/>
          </a:xfrm>
        </p:grpSpPr>
        <p:sp>
          <p:nvSpPr>
            <p:cNvPr name="Freeform 12" id="12"/>
            <p:cNvSpPr/>
            <p:nvPr/>
          </p:nvSpPr>
          <p:spPr>
            <a:xfrm flipH="false" flipV="false" rot="0">
              <a:off x="0" y="0"/>
              <a:ext cx="2342659" cy="494292"/>
            </a:xfrm>
            <a:custGeom>
              <a:avLst/>
              <a:gdLst/>
              <a:ahLst/>
              <a:cxnLst/>
              <a:rect r="r" b="b" t="t" l="l"/>
              <a:pathLst>
                <a:path h="494292" w="2342659">
                  <a:moveTo>
                    <a:pt x="16594" y="0"/>
                  </a:moveTo>
                  <a:lnTo>
                    <a:pt x="2326064" y="0"/>
                  </a:lnTo>
                  <a:cubicBezTo>
                    <a:pt x="2335229" y="0"/>
                    <a:pt x="2342659" y="7430"/>
                    <a:pt x="2342659" y="16594"/>
                  </a:cubicBezTo>
                  <a:lnTo>
                    <a:pt x="2342659" y="477697"/>
                  </a:lnTo>
                  <a:cubicBezTo>
                    <a:pt x="2342659" y="486862"/>
                    <a:pt x="2335229" y="494292"/>
                    <a:pt x="2326064" y="494292"/>
                  </a:cubicBezTo>
                  <a:lnTo>
                    <a:pt x="16594" y="494292"/>
                  </a:lnTo>
                  <a:cubicBezTo>
                    <a:pt x="7430" y="494292"/>
                    <a:pt x="0" y="486862"/>
                    <a:pt x="0" y="477697"/>
                  </a:cubicBezTo>
                  <a:lnTo>
                    <a:pt x="0" y="16594"/>
                  </a:lnTo>
                  <a:cubicBezTo>
                    <a:pt x="0" y="7430"/>
                    <a:pt x="7430" y="0"/>
                    <a:pt x="16594" y="0"/>
                  </a:cubicBezTo>
                  <a:close/>
                </a:path>
              </a:pathLst>
            </a:custGeom>
            <a:solidFill>
              <a:srgbClr val="8AB7E2"/>
            </a:solidFill>
          </p:spPr>
        </p:sp>
        <p:sp>
          <p:nvSpPr>
            <p:cNvPr name="TextBox 13" id="13"/>
            <p:cNvSpPr txBox="true"/>
            <p:nvPr/>
          </p:nvSpPr>
          <p:spPr>
            <a:xfrm>
              <a:off x="0" y="85725"/>
              <a:ext cx="2342659" cy="408567"/>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10261239" y="4577661"/>
            <a:ext cx="6998061" cy="1363797"/>
            <a:chOff x="0" y="0"/>
            <a:chExt cx="2342659" cy="456542"/>
          </a:xfrm>
        </p:grpSpPr>
        <p:sp>
          <p:nvSpPr>
            <p:cNvPr name="Freeform 15" id="15"/>
            <p:cNvSpPr/>
            <p:nvPr/>
          </p:nvSpPr>
          <p:spPr>
            <a:xfrm flipH="false" flipV="false" rot="0">
              <a:off x="0" y="0"/>
              <a:ext cx="2342659" cy="456542"/>
            </a:xfrm>
            <a:custGeom>
              <a:avLst/>
              <a:gdLst/>
              <a:ahLst/>
              <a:cxnLst/>
              <a:rect r="r" b="b" t="t" l="l"/>
              <a:pathLst>
                <a:path h="456542" w="2342659">
                  <a:moveTo>
                    <a:pt x="16594" y="0"/>
                  </a:moveTo>
                  <a:lnTo>
                    <a:pt x="2326064" y="0"/>
                  </a:lnTo>
                  <a:cubicBezTo>
                    <a:pt x="2335229" y="0"/>
                    <a:pt x="2342659" y="7430"/>
                    <a:pt x="2342659" y="16594"/>
                  </a:cubicBezTo>
                  <a:lnTo>
                    <a:pt x="2342659" y="439948"/>
                  </a:lnTo>
                  <a:cubicBezTo>
                    <a:pt x="2342659" y="449113"/>
                    <a:pt x="2335229" y="456542"/>
                    <a:pt x="2326064" y="456542"/>
                  </a:cubicBezTo>
                  <a:lnTo>
                    <a:pt x="16594" y="456542"/>
                  </a:lnTo>
                  <a:cubicBezTo>
                    <a:pt x="7430" y="456542"/>
                    <a:pt x="0" y="449113"/>
                    <a:pt x="0" y="439948"/>
                  </a:cubicBezTo>
                  <a:lnTo>
                    <a:pt x="0" y="16594"/>
                  </a:lnTo>
                  <a:cubicBezTo>
                    <a:pt x="0" y="7430"/>
                    <a:pt x="7430" y="0"/>
                    <a:pt x="16594" y="0"/>
                  </a:cubicBezTo>
                  <a:close/>
                </a:path>
              </a:pathLst>
            </a:custGeom>
            <a:solidFill>
              <a:srgbClr val="8AB7E2"/>
            </a:solidFill>
          </p:spPr>
        </p:sp>
        <p:sp>
          <p:nvSpPr>
            <p:cNvPr name="TextBox 16" id="16"/>
            <p:cNvSpPr txBox="true"/>
            <p:nvPr/>
          </p:nvSpPr>
          <p:spPr>
            <a:xfrm>
              <a:off x="0" y="85725"/>
              <a:ext cx="2342659" cy="370817"/>
            </a:xfrm>
            <a:prstGeom prst="rect">
              <a:avLst/>
            </a:prstGeom>
          </p:spPr>
          <p:txBody>
            <a:bodyPr anchor="ctr" rtlCol="false" tIns="50800" lIns="50800" bIns="50800" rIns="50800"/>
            <a:lstStyle/>
            <a:p>
              <a:pPr algn="ctr">
                <a:lnSpc>
                  <a:spcPts val="1925"/>
                </a:lnSpc>
              </a:pPr>
            </a:p>
          </p:txBody>
        </p:sp>
      </p:grpSp>
      <p:grpSp>
        <p:nvGrpSpPr>
          <p:cNvPr name="Group 17" id="17"/>
          <p:cNvGrpSpPr/>
          <p:nvPr/>
        </p:nvGrpSpPr>
        <p:grpSpPr>
          <a:xfrm rot="0">
            <a:off x="10261239" y="6484383"/>
            <a:ext cx="6998061" cy="1363797"/>
            <a:chOff x="0" y="0"/>
            <a:chExt cx="2342659" cy="456542"/>
          </a:xfrm>
        </p:grpSpPr>
        <p:sp>
          <p:nvSpPr>
            <p:cNvPr name="Freeform 18" id="18"/>
            <p:cNvSpPr/>
            <p:nvPr/>
          </p:nvSpPr>
          <p:spPr>
            <a:xfrm flipH="false" flipV="false" rot="0">
              <a:off x="0" y="0"/>
              <a:ext cx="2342659" cy="456542"/>
            </a:xfrm>
            <a:custGeom>
              <a:avLst/>
              <a:gdLst/>
              <a:ahLst/>
              <a:cxnLst/>
              <a:rect r="r" b="b" t="t" l="l"/>
              <a:pathLst>
                <a:path h="456542" w="2342659">
                  <a:moveTo>
                    <a:pt x="16594" y="0"/>
                  </a:moveTo>
                  <a:lnTo>
                    <a:pt x="2326064" y="0"/>
                  </a:lnTo>
                  <a:cubicBezTo>
                    <a:pt x="2335229" y="0"/>
                    <a:pt x="2342659" y="7430"/>
                    <a:pt x="2342659" y="16594"/>
                  </a:cubicBezTo>
                  <a:lnTo>
                    <a:pt x="2342659" y="439948"/>
                  </a:lnTo>
                  <a:cubicBezTo>
                    <a:pt x="2342659" y="449113"/>
                    <a:pt x="2335229" y="456542"/>
                    <a:pt x="2326064" y="456542"/>
                  </a:cubicBezTo>
                  <a:lnTo>
                    <a:pt x="16594" y="456542"/>
                  </a:lnTo>
                  <a:cubicBezTo>
                    <a:pt x="7430" y="456542"/>
                    <a:pt x="0" y="449113"/>
                    <a:pt x="0" y="439948"/>
                  </a:cubicBezTo>
                  <a:lnTo>
                    <a:pt x="0" y="16594"/>
                  </a:lnTo>
                  <a:cubicBezTo>
                    <a:pt x="0" y="7430"/>
                    <a:pt x="7430" y="0"/>
                    <a:pt x="16594" y="0"/>
                  </a:cubicBezTo>
                  <a:close/>
                </a:path>
              </a:pathLst>
            </a:custGeom>
            <a:solidFill>
              <a:srgbClr val="8AB7E2"/>
            </a:solidFill>
          </p:spPr>
        </p:sp>
        <p:sp>
          <p:nvSpPr>
            <p:cNvPr name="TextBox 19" id="19"/>
            <p:cNvSpPr txBox="true"/>
            <p:nvPr/>
          </p:nvSpPr>
          <p:spPr>
            <a:xfrm>
              <a:off x="0" y="85725"/>
              <a:ext cx="2342659" cy="370817"/>
            </a:xfrm>
            <a:prstGeom prst="rect">
              <a:avLst/>
            </a:prstGeom>
          </p:spPr>
          <p:txBody>
            <a:bodyPr anchor="ctr" rtlCol="false" tIns="50800" lIns="50800" bIns="50800" rIns="50800"/>
            <a:lstStyle/>
            <a:p>
              <a:pPr algn="ctr">
                <a:lnSpc>
                  <a:spcPts val="1925"/>
                </a:lnSpc>
              </a:pPr>
            </a:p>
          </p:txBody>
        </p:sp>
      </p:grpSp>
      <p:grpSp>
        <p:nvGrpSpPr>
          <p:cNvPr name="Group 20" id="20"/>
          <p:cNvGrpSpPr/>
          <p:nvPr/>
        </p:nvGrpSpPr>
        <p:grpSpPr>
          <a:xfrm rot="0">
            <a:off x="10261239" y="8391105"/>
            <a:ext cx="6998061" cy="1476564"/>
            <a:chOff x="0" y="0"/>
            <a:chExt cx="2342659" cy="494292"/>
          </a:xfrm>
        </p:grpSpPr>
        <p:sp>
          <p:nvSpPr>
            <p:cNvPr name="Freeform 21" id="21"/>
            <p:cNvSpPr/>
            <p:nvPr/>
          </p:nvSpPr>
          <p:spPr>
            <a:xfrm flipH="false" flipV="false" rot="0">
              <a:off x="0" y="0"/>
              <a:ext cx="2342659" cy="494292"/>
            </a:xfrm>
            <a:custGeom>
              <a:avLst/>
              <a:gdLst/>
              <a:ahLst/>
              <a:cxnLst/>
              <a:rect r="r" b="b" t="t" l="l"/>
              <a:pathLst>
                <a:path h="494292" w="2342659">
                  <a:moveTo>
                    <a:pt x="16594" y="0"/>
                  </a:moveTo>
                  <a:lnTo>
                    <a:pt x="2326064" y="0"/>
                  </a:lnTo>
                  <a:cubicBezTo>
                    <a:pt x="2335229" y="0"/>
                    <a:pt x="2342659" y="7430"/>
                    <a:pt x="2342659" y="16594"/>
                  </a:cubicBezTo>
                  <a:lnTo>
                    <a:pt x="2342659" y="477697"/>
                  </a:lnTo>
                  <a:cubicBezTo>
                    <a:pt x="2342659" y="486862"/>
                    <a:pt x="2335229" y="494292"/>
                    <a:pt x="2326064" y="494292"/>
                  </a:cubicBezTo>
                  <a:lnTo>
                    <a:pt x="16594" y="494292"/>
                  </a:lnTo>
                  <a:cubicBezTo>
                    <a:pt x="7430" y="494292"/>
                    <a:pt x="0" y="486862"/>
                    <a:pt x="0" y="477697"/>
                  </a:cubicBezTo>
                  <a:lnTo>
                    <a:pt x="0" y="16594"/>
                  </a:lnTo>
                  <a:cubicBezTo>
                    <a:pt x="0" y="7430"/>
                    <a:pt x="7430" y="0"/>
                    <a:pt x="16594" y="0"/>
                  </a:cubicBezTo>
                  <a:close/>
                </a:path>
              </a:pathLst>
            </a:custGeom>
            <a:solidFill>
              <a:srgbClr val="8AB7E2"/>
            </a:solidFill>
          </p:spPr>
        </p:sp>
        <p:sp>
          <p:nvSpPr>
            <p:cNvPr name="TextBox 22" id="22"/>
            <p:cNvSpPr txBox="true"/>
            <p:nvPr/>
          </p:nvSpPr>
          <p:spPr>
            <a:xfrm>
              <a:off x="0" y="85725"/>
              <a:ext cx="2342659" cy="408567"/>
            </a:xfrm>
            <a:prstGeom prst="rect">
              <a:avLst/>
            </a:prstGeom>
          </p:spPr>
          <p:txBody>
            <a:bodyPr anchor="ctr" rtlCol="false" tIns="50800" lIns="50800" bIns="50800" rIns="50800"/>
            <a:lstStyle/>
            <a:p>
              <a:pPr algn="ctr">
                <a:lnSpc>
                  <a:spcPts val="1925"/>
                </a:lnSpc>
              </a:pPr>
            </a:p>
          </p:txBody>
        </p:sp>
      </p:grpSp>
      <p:sp>
        <p:nvSpPr>
          <p:cNvPr name="Freeform 23" id="23"/>
          <p:cNvSpPr/>
          <p:nvPr/>
        </p:nvSpPr>
        <p:spPr>
          <a:xfrm flipH="false" flipV="false" rot="0">
            <a:off x="1833782" y="244072"/>
            <a:ext cx="2554098" cy="2052615"/>
          </a:xfrm>
          <a:custGeom>
            <a:avLst/>
            <a:gdLst/>
            <a:ahLst/>
            <a:cxnLst/>
            <a:rect r="r" b="b" t="t" l="l"/>
            <a:pathLst>
              <a:path h="2052615" w="2554098">
                <a:moveTo>
                  <a:pt x="0" y="0"/>
                </a:moveTo>
                <a:lnTo>
                  <a:pt x="2554097" y="0"/>
                </a:lnTo>
                <a:lnTo>
                  <a:pt x="2554097" y="2052616"/>
                </a:lnTo>
                <a:lnTo>
                  <a:pt x="0" y="205261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4" id="24"/>
          <p:cNvSpPr txBox="true"/>
          <p:nvPr/>
        </p:nvSpPr>
        <p:spPr>
          <a:xfrm rot="0">
            <a:off x="1028700" y="5105400"/>
            <a:ext cx="8814491" cy="2990670"/>
          </a:xfrm>
          <a:prstGeom prst="rect">
            <a:avLst/>
          </a:prstGeom>
        </p:spPr>
        <p:txBody>
          <a:bodyPr anchor="t" rtlCol="false" tIns="0" lIns="0" bIns="0" rIns="0">
            <a:spAutoFit/>
          </a:bodyPr>
          <a:lstStyle/>
          <a:p>
            <a:pPr algn="l">
              <a:lnSpc>
                <a:spcPts val="3387"/>
              </a:lnSpc>
            </a:pPr>
            <a:r>
              <a:rPr lang="en-US" sz="2509" spc="150" b="true">
                <a:solidFill>
                  <a:srgbClr val="000000"/>
                </a:solidFill>
                <a:latin typeface="Open Sans 1 Bold"/>
                <a:ea typeface="Open Sans 1 Bold"/>
                <a:cs typeface="Open Sans 1 Bold"/>
                <a:sym typeface="Open Sans 1 Bold"/>
              </a:rPr>
              <a:t>The objective of this analysis is to explore the relationships within a fitness tracker dataset to uncover actionable insights about workout efficiency, mood influences, and environmental impacts. Specifically, we aim to answer the following key questions:</a:t>
            </a:r>
          </a:p>
          <a:p>
            <a:pPr algn="l" marL="0" indent="0" lvl="0">
              <a:lnSpc>
                <a:spcPts val="3387"/>
              </a:lnSpc>
              <a:spcBef>
                <a:spcPct val="0"/>
              </a:spcBef>
            </a:pPr>
          </a:p>
        </p:txBody>
      </p:sp>
      <p:sp>
        <p:nvSpPr>
          <p:cNvPr name="TextBox 25" id="25"/>
          <p:cNvSpPr txBox="true"/>
          <p:nvPr/>
        </p:nvSpPr>
        <p:spPr>
          <a:xfrm rot="0">
            <a:off x="10777422" y="983197"/>
            <a:ext cx="1153636" cy="754661"/>
          </a:xfrm>
          <a:prstGeom prst="rect">
            <a:avLst/>
          </a:prstGeom>
        </p:spPr>
        <p:txBody>
          <a:bodyPr anchor="t" rtlCol="false" tIns="0" lIns="0" bIns="0" rIns="0">
            <a:spAutoFit/>
          </a:bodyPr>
          <a:lstStyle/>
          <a:p>
            <a:pPr algn="l">
              <a:lnSpc>
                <a:spcPts val="5611"/>
              </a:lnSpc>
            </a:pPr>
            <a:r>
              <a:rPr lang="en-US" sz="5845" spc="-479">
                <a:solidFill>
                  <a:srgbClr val="000000"/>
                </a:solidFill>
                <a:latin typeface="DM Sans"/>
                <a:ea typeface="DM Sans"/>
                <a:cs typeface="DM Sans"/>
                <a:sym typeface="DM Sans"/>
              </a:rPr>
              <a:t>01.</a:t>
            </a:r>
          </a:p>
        </p:txBody>
      </p:sp>
      <p:sp>
        <p:nvSpPr>
          <p:cNvPr name="TextBox 26" id="26"/>
          <p:cNvSpPr txBox="true"/>
          <p:nvPr/>
        </p:nvSpPr>
        <p:spPr>
          <a:xfrm rot="0">
            <a:off x="11931059" y="625304"/>
            <a:ext cx="5246892" cy="1472565"/>
          </a:xfrm>
          <a:prstGeom prst="rect">
            <a:avLst/>
          </a:prstGeom>
        </p:spPr>
        <p:txBody>
          <a:bodyPr anchor="t" rtlCol="false" tIns="0" lIns="0" bIns="0" rIns="0">
            <a:spAutoFit/>
          </a:bodyPr>
          <a:lstStyle/>
          <a:p>
            <a:pPr algn="just">
              <a:lnSpc>
                <a:spcPts val="2969"/>
              </a:lnSpc>
            </a:pPr>
            <a:r>
              <a:rPr lang="en-US" b="true" sz="2199" spc="35">
                <a:solidFill>
                  <a:srgbClr val="000000"/>
                </a:solidFill>
                <a:latin typeface="Open Sans 1 Bold"/>
                <a:ea typeface="Open Sans 1 Bold"/>
                <a:cs typeface="Open Sans 1 Bold"/>
                <a:sym typeface="Open Sans 1 Bold"/>
              </a:rPr>
              <a:t>The impact of workout types, weather, and location on calorie burn and heart rate.</a:t>
            </a:r>
          </a:p>
          <a:p>
            <a:pPr algn="just" marL="0" indent="0" lvl="0">
              <a:lnSpc>
                <a:spcPts val="2969"/>
              </a:lnSpc>
              <a:spcBef>
                <a:spcPct val="0"/>
              </a:spcBef>
            </a:pPr>
          </a:p>
        </p:txBody>
      </p:sp>
      <p:sp>
        <p:nvSpPr>
          <p:cNvPr name="TextBox 27" id="27"/>
          <p:cNvSpPr txBox="true"/>
          <p:nvPr/>
        </p:nvSpPr>
        <p:spPr>
          <a:xfrm rot="0">
            <a:off x="10777422" y="3005979"/>
            <a:ext cx="1153636" cy="754661"/>
          </a:xfrm>
          <a:prstGeom prst="rect">
            <a:avLst/>
          </a:prstGeom>
        </p:spPr>
        <p:txBody>
          <a:bodyPr anchor="t" rtlCol="false" tIns="0" lIns="0" bIns="0" rIns="0">
            <a:spAutoFit/>
          </a:bodyPr>
          <a:lstStyle/>
          <a:p>
            <a:pPr algn="l">
              <a:lnSpc>
                <a:spcPts val="5611"/>
              </a:lnSpc>
            </a:pPr>
            <a:r>
              <a:rPr lang="en-US" sz="5845" spc="-479">
                <a:solidFill>
                  <a:srgbClr val="000000"/>
                </a:solidFill>
                <a:latin typeface="DM Sans"/>
                <a:ea typeface="DM Sans"/>
                <a:cs typeface="DM Sans"/>
                <a:sym typeface="DM Sans"/>
              </a:rPr>
              <a:t>02.</a:t>
            </a:r>
          </a:p>
        </p:txBody>
      </p:sp>
      <p:sp>
        <p:nvSpPr>
          <p:cNvPr name="TextBox 28" id="28"/>
          <p:cNvSpPr txBox="true"/>
          <p:nvPr/>
        </p:nvSpPr>
        <p:spPr>
          <a:xfrm rot="0">
            <a:off x="11931059" y="2844054"/>
            <a:ext cx="5246892" cy="1211580"/>
          </a:xfrm>
          <a:prstGeom prst="rect">
            <a:avLst/>
          </a:prstGeom>
        </p:spPr>
        <p:txBody>
          <a:bodyPr anchor="t" rtlCol="false" tIns="0" lIns="0" bIns="0" rIns="0">
            <a:spAutoFit/>
          </a:bodyPr>
          <a:lstStyle/>
          <a:p>
            <a:pPr algn="just">
              <a:lnSpc>
                <a:spcPts val="3240"/>
              </a:lnSpc>
            </a:pPr>
            <a:r>
              <a:rPr lang="en-US" b="true" sz="2400" spc="38">
                <a:solidFill>
                  <a:srgbClr val="000000"/>
                </a:solidFill>
                <a:latin typeface="Open Sans 1 Bold"/>
                <a:ea typeface="Open Sans 1 Bold"/>
                <a:cs typeface="Open Sans 1 Bold"/>
                <a:sym typeface="Open Sans 1 Bold"/>
              </a:rPr>
              <a:t>Relationships between sleep, mood, and activity levels.</a:t>
            </a:r>
          </a:p>
          <a:p>
            <a:pPr algn="just" marL="0" indent="0" lvl="0">
              <a:lnSpc>
                <a:spcPts val="3240"/>
              </a:lnSpc>
              <a:spcBef>
                <a:spcPct val="0"/>
              </a:spcBef>
            </a:pPr>
          </a:p>
        </p:txBody>
      </p:sp>
      <p:sp>
        <p:nvSpPr>
          <p:cNvPr name="TextBox 29" id="29"/>
          <p:cNvSpPr txBox="true"/>
          <p:nvPr/>
        </p:nvSpPr>
        <p:spPr>
          <a:xfrm rot="0">
            <a:off x="10777422" y="5028760"/>
            <a:ext cx="1153636" cy="754661"/>
          </a:xfrm>
          <a:prstGeom prst="rect">
            <a:avLst/>
          </a:prstGeom>
        </p:spPr>
        <p:txBody>
          <a:bodyPr anchor="t" rtlCol="false" tIns="0" lIns="0" bIns="0" rIns="0">
            <a:spAutoFit/>
          </a:bodyPr>
          <a:lstStyle/>
          <a:p>
            <a:pPr algn="l">
              <a:lnSpc>
                <a:spcPts val="5611"/>
              </a:lnSpc>
            </a:pPr>
            <a:r>
              <a:rPr lang="en-US" sz="5845" spc="-479">
                <a:solidFill>
                  <a:srgbClr val="000000"/>
                </a:solidFill>
                <a:latin typeface="DM Sans"/>
                <a:ea typeface="DM Sans"/>
                <a:cs typeface="DM Sans"/>
                <a:sym typeface="DM Sans"/>
              </a:rPr>
              <a:t>03.</a:t>
            </a:r>
          </a:p>
        </p:txBody>
      </p:sp>
      <p:sp>
        <p:nvSpPr>
          <p:cNvPr name="TextBox 30" id="30"/>
          <p:cNvSpPr txBox="true"/>
          <p:nvPr/>
        </p:nvSpPr>
        <p:spPr>
          <a:xfrm rot="0">
            <a:off x="11931059" y="4844270"/>
            <a:ext cx="5246892" cy="802005"/>
          </a:xfrm>
          <a:prstGeom prst="rect">
            <a:avLst/>
          </a:prstGeom>
        </p:spPr>
        <p:txBody>
          <a:bodyPr anchor="t" rtlCol="false" tIns="0" lIns="0" bIns="0" rIns="0">
            <a:spAutoFit/>
          </a:bodyPr>
          <a:lstStyle/>
          <a:p>
            <a:pPr algn="l" marL="0" indent="0" lvl="0">
              <a:lnSpc>
                <a:spcPts val="3240"/>
              </a:lnSpc>
              <a:spcBef>
                <a:spcPct val="0"/>
              </a:spcBef>
            </a:pPr>
            <a:r>
              <a:rPr lang="en-US" b="true" sz="2400" spc="201">
                <a:solidFill>
                  <a:srgbClr val="000000"/>
                </a:solidFill>
                <a:latin typeface="Open Sans 1 Bold"/>
                <a:ea typeface="Open Sans 1 Bold"/>
                <a:cs typeface="Open Sans 1 Bold"/>
                <a:sym typeface="Open Sans 1 Bold"/>
              </a:rPr>
              <a:t>How locations and weather influence mood?</a:t>
            </a:r>
          </a:p>
        </p:txBody>
      </p:sp>
      <p:sp>
        <p:nvSpPr>
          <p:cNvPr name="TextBox 31" id="31"/>
          <p:cNvSpPr txBox="true"/>
          <p:nvPr/>
        </p:nvSpPr>
        <p:spPr>
          <a:xfrm rot="0">
            <a:off x="10777422" y="6935482"/>
            <a:ext cx="1153636" cy="754661"/>
          </a:xfrm>
          <a:prstGeom prst="rect">
            <a:avLst/>
          </a:prstGeom>
        </p:spPr>
        <p:txBody>
          <a:bodyPr anchor="t" rtlCol="false" tIns="0" lIns="0" bIns="0" rIns="0">
            <a:spAutoFit/>
          </a:bodyPr>
          <a:lstStyle/>
          <a:p>
            <a:pPr algn="l">
              <a:lnSpc>
                <a:spcPts val="5611"/>
              </a:lnSpc>
            </a:pPr>
            <a:r>
              <a:rPr lang="en-US" sz="5845" spc="-479">
                <a:solidFill>
                  <a:srgbClr val="000000"/>
                </a:solidFill>
                <a:latin typeface="DM Sans"/>
                <a:ea typeface="DM Sans"/>
                <a:cs typeface="DM Sans"/>
                <a:sym typeface="DM Sans"/>
              </a:rPr>
              <a:t>04.</a:t>
            </a:r>
          </a:p>
        </p:txBody>
      </p:sp>
      <p:sp>
        <p:nvSpPr>
          <p:cNvPr name="TextBox 32" id="32"/>
          <p:cNvSpPr txBox="true"/>
          <p:nvPr/>
        </p:nvSpPr>
        <p:spPr>
          <a:xfrm rot="0">
            <a:off x="11931059" y="6684408"/>
            <a:ext cx="5246892" cy="802005"/>
          </a:xfrm>
          <a:prstGeom prst="rect">
            <a:avLst/>
          </a:prstGeom>
        </p:spPr>
        <p:txBody>
          <a:bodyPr anchor="t" rtlCol="false" tIns="0" lIns="0" bIns="0" rIns="0">
            <a:spAutoFit/>
          </a:bodyPr>
          <a:lstStyle/>
          <a:p>
            <a:pPr algn="just" marL="0" indent="0" lvl="0">
              <a:lnSpc>
                <a:spcPts val="3240"/>
              </a:lnSpc>
              <a:spcBef>
                <a:spcPct val="0"/>
              </a:spcBef>
            </a:pPr>
            <a:r>
              <a:rPr lang="en-US" b="true" sz="2400" spc="38">
                <a:solidFill>
                  <a:srgbClr val="000000"/>
                </a:solidFill>
                <a:latin typeface="Open Sans 1 Bold"/>
                <a:ea typeface="Open Sans 1 Bold"/>
                <a:cs typeface="Open Sans 1 Bold"/>
                <a:sym typeface="Open Sans 1 Bold"/>
              </a:rPr>
              <a:t>Optimal steps/active minutes for efficient workouts.</a:t>
            </a:r>
          </a:p>
        </p:txBody>
      </p:sp>
      <p:sp>
        <p:nvSpPr>
          <p:cNvPr name="TextBox 33" id="33"/>
          <p:cNvSpPr txBox="true"/>
          <p:nvPr/>
        </p:nvSpPr>
        <p:spPr>
          <a:xfrm rot="0">
            <a:off x="10777422" y="8842204"/>
            <a:ext cx="1153636" cy="754661"/>
          </a:xfrm>
          <a:prstGeom prst="rect">
            <a:avLst/>
          </a:prstGeom>
        </p:spPr>
        <p:txBody>
          <a:bodyPr anchor="t" rtlCol="false" tIns="0" lIns="0" bIns="0" rIns="0">
            <a:spAutoFit/>
          </a:bodyPr>
          <a:lstStyle/>
          <a:p>
            <a:pPr algn="l">
              <a:lnSpc>
                <a:spcPts val="5611"/>
              </a:lnSpc>
            </a:pPr>
            <a:r>
              <a:rPr lang="en-US" sz="5845" spc="-479">
                <a:solidFill>
                  <a:srgbClr val="000000"/>
                </a:solidFill>
                <a:latin typeface="DM Sans"/>
                <a:ea typeface="DM Sans"/>
                <a:cs typeface="DM Sans"/>
                <a:sym typeface="DM Sans"/>
              </a:rPr>
              <a:t>05.</a:t>
            </a:r>
          </a:p>
        </p:txBody>
      </p:sp>
      <p:sp>
        <p:nvSpPr>
          <p:cNvPr name="TextBox 34" id="34"/>
          <p:cNvSpPr txBox="true"/>
          <p:nvPr/>
        </p:nvSpPr>
        <p:spPr>
          <a:xfrm rot="0">
            <a:off x="11726305" y="8514930"/>
            <a:ext cx="5451645" cy="1165860"/>
          </a:xfrm>
          <a:prstGeom prst="rect">
            <a:avLst/>
          </a:prstGeom>
        </p:spPr>
        <p:txBody>
          <a:bodyPr anchor="t" rtlCol="false" tIns="0" lIns="0" bIns="0" rIns="0">
            <a:spAutoFit/>
          </a:bodyPr>
          <a:lstStyle/>
          <a:p>
            <a:pPr algn="just">
              <a:lnSpc>
                <a:spcPts val="3105"/>
              </a:lnSpc>
            </a:pPr>
            <a:r>
              <a:rPr lang="en-US" b="true" sz="2300" spc="36">
                <a:solidFill>
                  <a:srgbClr val="000000"/>
                </a:solidFill>
                <a:latin typeface="Open Sans 1 Bold"/>
                <a:ea typeface="Open Sans 1 Bold"/>
                <a:cs typeface="Open Sans 1 Bold"/>
                <a:sym typeface="Open Sans 1 Bold"/>
              </a:rPr>
              <a:t>Weather’s role in shaping workout preferences and outcomes.</a:t>
            </a:r>
          </a:p>
          <a:p>
            <a:pPr algn="just" marL="0" indent="0" lvl="0">
              <a:lnSpc>
                <a:spcPts val="3105"/>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AutoShape 3" id="3"/>
          <p:cNvSpPr/>
          <p:nvPr/>
        </p:nvSpPr>
        <p:spPr>
          <a:xfrm>
            <a:off x="-886757" y="5074942"/>
            <a:ext cx="20061513" cy="0"/>
          </a:xfrm>
          <a:prstGeom prst="line">
            <a:avLst/>
          </a:prstGeom>
          <a:ln cap="flat" w="28575">
            <a:solidFill>
              <a:srgbClr val="000000"/>
            </a:solidFill>
            <a:prstDash val="solid"/>
            <a:headEnd type="none" len="sm" w="sm"/>
            <a:tailEnd type="none" len="sm" w="sm"/>
          </a:ln>
        </p:spPr>
      </p:sp>
      <p:grpSp>
        <p:nvGrpSpPr>
          <p:cNvPr name="Group 4" id="4"/>
          <p:cNvGrpSpPr/>
          <p:nvPr/>
        </p:nvGrpSpPr>
        <p:grpSpPr>
          <a:xfrm rot="0">
            <a:off x="5930165" y="4823914"/>
            <a:ext cx="502056" cy="50205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6" id="6"/>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7" id="7"/>
          <p:cNvGrpSpPr/>
          <p:nvPr/>
        </p:nvGrpSpPr>
        <p:grpSpPr>
          <a:xfrm rot="0">
            <a:off x="2227066" y="4823914"/>
            <a:ext cx="502056" cy="5020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name="TextBox 9" id="9"/>
            <p:cNvSpPr txBox="true"/>
            <p:nvPr/>
          </p:nvSpPr>
          <p:spPr>
            <a:xfrm>
              <a:off x="190500" y="219075"/>
              <a:ext cx="431800" cy="403225"/>
            </a:xfrm>
            <a:prstGeom prst="rect">
              <a:avLst/>
            </a:prstGeom>
          </p:spPr>
          <p:txBody>
            <a:bodyPr anchor="ctr" rtlCol="false" tIns="50800" lIns="50800" bIns="50800" rIns="50800"/>
            <a:lstStyle/>
            <a:p>
              <a:pPr algn="ctr">
                <a:lnSpc>
                  <a:spcPts val="2266"/>
                </a:lnSpc>
              </a:pPr>
            </a:p>
          </p:txBody>
        </p:sp>
      </p:grpSp>
      <p:grpSp>
        <p:nvGrpSpPr>
          <p:cNvPr name="Group 10" id="10"/>
          <p:cNvGrpSpPr/>
          <p:nvPr/>
        </p:nvGrpSpPr>
        <p:grpSpPr>
          <a:xfrm rot="0">
            <a:off x="9653627" y="4823914"/>
            <a:ext cx="502056" cy="50205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2" id="12"/>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3" id="13"/>
          <p:cNvGrpSpPr/>
          <p:nvPr/>
        </p:nvGrpSpPr>
        <p:grpSpPr>
          <a:xfrm rot="0">
            <a:off x="13396139" y="4823914"/>
            <a:ext cx="502056" cy="50205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5" id="15"/>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6" id="16"/>
          <p:cNvSpPr txBox="true"/>
          <p:nvPr/>
        </p:nvSpPr>
        <p:spPr>
          <a:xfrm rot="0">
            <a:off x="4732501" y="1916964"/>
            <a:ext cx="8822997" cy="2272665"/>
          </a:xfrm>
          <a:prstGeom prst="rect">
            <a:avLst/>
          </a:prstGeom>
        </p:spPr>
        <p:txBody>
          <a:bodyPr anchor="t" rtlCol="false" tIns="0" lIns="0" bIns="0" rIns="0">
            <a:spAutoFit/>
          </a:bodyPr>
          <a:lstStyle/>
          <a:p>
            <a:pPr algn="ctr" marL="0" indent="0" lvl="1">
              <a:lnSpc>
                <a:spcPts val="8730"/>
              </a:lnSpc>
              <a:spcBef>
                <a:spcPct val="0"/>
              </a:spcBef>
            </a:pPr>
            <a:r>
              <a:rPr lang="en-US" b="true" sz="9000">
                <a:solidFill>
                  <a:srgbClr val="000000"/>
                </a:solidFill>
                <a:latin typeface="Open Sans 1 Bold"/>
                <a:ea typeface="Open Sans 1 Bold"/>
                <a:cs typeface="Open Sans 1 Bold"/>
                <a:sym typeface="Open Sans 1 Bold"/>
              </a:rPr>
              <a:t>Ideation process</a:t>
            </a:r>
          </a:p>
        </p:txBody>
      </p:sp>
      <p:sp>
        <p:nvSpPr>
          <p:cNvPr name="TextBox 17" id="17"/>
          <p:cNvSpPr txBox="true"/>
          <p:nvPr/>
        </p:nvSpPr>
        <p:spPr>
          <a:xfrm rot="0">
            <a:off x="1689548" y="6432650"/>
            <a:ext cx="2646492" cy="1546860"/>
          </a:xfrm>
          <a:prstGeom prst="rect">
            <a:avLst/>
          </a:prstGeom>
        </p:spPr>
        <p:txBody>
          <a:bodyPr anchor="t" rtlCol="false" tIns="0" lIns="0" bIns="0" rIns="0">
            <a:spAutoFit/>
          </a:bodyPr>
          <a:lstStyle/>
          <a:p>
            <a:pPr algn="l">
              <a:lnSpc>
                <a:spcPts val="3120"/>
              </a:lnSpc>
            </a:pPr>
            <a:r>
              <a:rPr lang="en-US" sz="2000" b="true">
                <a:solidFill>
                  <a:srgbClr val="000000"/>
                </a:solidFill>
                <a:latin typeface="Open Sans 1 Bold"/>
                <a:ea typeface="Open Sans 1 Bold"/>
                <a:cs typeface="Open Sans 1 Bold"/>
                <a:sym typeface="Open Sans 1 Bold"/>
              </a:rPr>
              <a:t>inporting required libraries</a:t>
            </a:r>
          </a:p>
          <a:p>
            <a:pPr algn="l">
              <a:lnSpc>
                <a:spcPts val="3120"/>
              </a:lnSpc>
            </a:pPr>
            <a:r>
              <a:rPr lang="en-US" sz="2000" b="true">
                <a:solidFill>
                  <a:srgbClr val="000000"/>
                </a:solidFill>
                <a:latin typeface="Open Sans 1 Bold"/>
                <a:ea typeface="Open Sans 1 Bold"/>
                <a:cs typeface="Open Sans 1 Bold"/>
                <a:sym typeface="Open Sans 1 Bold"/>
              </a:rPr>
              <a:t>resading the dataset</a:t>
            </a:r>
          </a:p>
          <a:p>
            <a:pPr algn="l">
              <a:lnSpc>
                <a:spcPts val="3120"/>
              </a:lnSpc>
            </a:pPr>
            <a:r>
              <a:rPr lang="en-US" sz="2000" b="true">
                <a:solidFill>
                  <a:srgbClr val="000000"/>
                </a:solidFill>
                <a:latin typeface="Open Sans 1 Bold"/>
                <a:ea typeface="Open Sans 1 Bold"/>
                <a:cs typeface="Open Sans 1 Bold"/>
                <a:sym typeface="Open Sans 1 Bold"/>
              </a:rPr>
              <a:t>cleaning the dataset</a:t>
            </a:r>
          </a:p>
        </p:txBody>
      </p:sp>
      <p:sp>
        <p:nvSpPr>
          <p:cNvPr name="TextBox 18" id="18"/>
          <p:cNvSpPr txBox="true"/>
          <p:nvPr/>
        </p:nvSpPr>
        <p:spPr>
          <a:xfrm rot="0">
            <a:off x="5394750" y="6428841"/>
            <a:ext cx="2732862" cy="1156336"/>
          </a:xfrm>
          <a:prstGeom prst="rect">
            <a:avLst/>
          </a:prstGeom>
        </p:spPr>
        <p:txBody>
          <a:bodyPr anchor="t" rtlCol="false" tIns="0" lIns="0" bIns="0" rIns="0">
            <a:spAutoFit/>
          </a:bodyPr>
          <a:lstStyle/>
          <a:p>
            <a:pPr algn="l">
              <a:lnSpc>
                <a:spcPts val="3119"/>
              </a:lnSpc>
            </a:pPr>
            <a:r>
              <a:rPr lang="en-US" sz="1999" b="true">
                <a:solidFill>
                  <a:srgbClr val="000000"/>
                </a:solidFill>
                <a:latin typeface="Open Sans 1 Bold"/>
                <a:ea typeface="Open Sans 1 Bold"/>
                <a:cs typeface="Open Sans 1 Bold"/>
                <a:sym typeface="Open Sans 1 Bold"/>
              </a:rPr>
              <a:t>Data processing</a:t>
            </a:r>
          </a:p>
          <a:p>
            <a:pPr algn="l">
              <a:lnSpc>
                <a:spcPts val="3119"/>
              </a:lnSpc>
            </a:pPr>
            <a:r>
              <a:rPr lang="en-US" sz="1999" b="true">
                <a:solidFill>
                  <a:srgbClr val="000000"/>
                </a:solidFill>
                <a:latin typeface="Open Sans 1 Bold"/>
                <a:ea typeface="Open Sans 1 Bold"/>
                <a:cs typeface="Open Sans 1 Bold"/>
                <a:sym typeface="Open Sans 1 Bold"/>
              </a:rPr>
              <a:t>Analysis Logic</a:t>
            </a:r>
          </a:p>
          <a:p>
            <a:pPr algn="l">
              <a:lnSpc>
                <a:spcPts val="3119"/>
              </a:lnSpc>
            </a:pPr>
            <a:r>
              <a:rPr lang="en-US" sz="1999" b="true">
                <a:solidFill>
                  <a:srgbClr val="000000"/>
                </a:solidFill>
                <a:latin typeface="Open Sans 1 Bold"/>
                <a:ea typeface="Open Sans 1 Bold"/>
                <a:cs typeface="Open Sans 1 Bold"/>
                <a:sym typeface="Open Sans 1 Bold"/>
              </a:rPr>
              <a:t>Subploting the data</a:t>
            </a:r>
          </a:p>
        </p:txBody>
      </p:sp>
      <p:sp>
        <p:nvSpPr>
          <p:cNvPr name="TextBox 19" id="19"/>
          <p:cNvSpPr txBox="true"/>
          <p:nvPr/>
        </p:nvSpPr>
        <p:spPr>
          <a:xfrm rot="0">
            <a:off x="9331284" y="6428841"/>
            <a:ext cx="2747991" cy="1546861"/>
          </a:xfrm>
          <a:prstGeom prst="rect">
            <a:avLst/>
          </a:prstGeom>
        </p:spPr>
        <p:txBody>
          <a:bodyPr anchor="t" rtlCol="false" tIns="0" lIns="0" bIns="0" rIns="0">
            <a:spAutoFit/>
          </a:bodyPr>
          <a:lstStyle/>
          <a:p>
            <a:pPr algn="l">
              <a:lnSpc>
                <a:spcPts val="3119"/>
              </a:lnSpc>
            </a:pPr>
            <a:r>
              <a:rPr lang="en-US" sz="1999" b="true">
                <a:solidFill>
                  <a:srgbClr val="000000"/>
                </a:solidFill>
                <a:latin typeface="Open Sans 1 Bold"/>
                <a:ea typeface="Open Sans 1 Bold"/>
                <a:cs typeface="Open Sans 1 Bold"/>
                <a:sym typeface="Open Sans 1 Bold"/>
              </a:rPr>
              <a:t>To Define the problem statement on the basis of data visualization .</a:t>
            </a:r>
          </a:p>
        </p:txBody>
      </p:sp>
      <p:sp>
        <p:nvSpPr>
          <p:cNvPr name="TextBox 20" id="20"/>
          <p:cNvSpPr txBox="true"/>
          <p:nvPr/>
        </p:nvSpPr>
        <p:spPr>
          <a:xfrm rot="0">
            <a:off x="13279425" y="6428841"/>
            <a:ext cx="2646492" cy="1156336"/>
          </a:xfrm>
          <a:prstGeom prst="rect">
            <a:avLst/>
          </a:prstGeom>
        </p:spPr>
        <p:txBody>
          <a:bodyPr anchor="t" rtlCol="false" tIns="0" lIns="0" bIns="0" rIns="0">
            <a:spAutoFit/>
          </a:bodyPr>
          <a:lstStyle/>
          <a:p>
            <a:pPr algn="l">
              <a:lnSpc>
                <a:spcPts val="3119"/>
              </a:lnSpc>
            </a:pPr>
            <a:r>
              <a:rPr lang="en-US" sz="1999" b="true">
                <a:solidFill>
                  <a:srgbClr val="000000"/>
                </a:solidFill>
                <a:latin typeface="Open Sans 1 Bold"/>
                <a:ea typeface="Open Sans 1 Bold"/>
                <a:cs typeface="Open Sans 1 Bold"/>
                <a:sym typeface="Open Sans 1 Bold"/>
              </a:rPr>
              <a:t>To Find the solution of the problem statement.</a:t>
            </a:r>
          </a:p>
        </p:txBody>
      </p:sp>
      <p:sp>
        <p:nvSpPr>
          <p:cNvPr name="Freeform 21" id="21"/>
          <p:cNvSpPr/>
          <p:nvPr/>
        </p:nvSpPr>
        <p:spPr>
          <a:xfrm flipH="false" flipV="false" rot="0">
            <a:off x="-1573240" y="8893298"/>
            <a:ext cx="4051334" cy="2765036"/>
          </a:xfrm>
          <a:custGeom>
            <a:avLst/>
            <a:gdLst/>
            <a:ahLst/>
            <a:cxnLst/>
            <a:rect r="r" b="b" t="t" l="l"/>
            <a:pathLst>
              <a:path h="2765036" w="4051334">
                <a:moveTo>
                  <a:pt x="0" y="0"/>
                </a:moveTo>
                <a:lnTo>
                  <a:pt x="4051334" y="0"/>
                </a:lnTo>
                <a:lnTo>
                  <a:pt x="4051334" y="2765036"/>
                </a:lnTo>
                <a:lnTo>
                  <a:pt x="0" y="27650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15262955" y="8864586"/>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23" id="23"/>
          <p:cNvSpPr/>
          <p:nvPr/>
        </p:nvSpPr>
        <p:spPr>
          <a:xfrm flipH="false" flipV="false" rot="0">
            <a:off x="-674156" y="-1322787"/>
            <a:ext cx="4224468" cy="2645573"/>
          </a:xfrm>
          <a:custGeom>
            <a:avLst/>
            <a:gdLst/>
            <a:ahLst/>
            <a:cxnLst/>
            <a:rect r="r" b="b" t="t" l="l"/>
            <a:pathLst>
              <a:path h="2645573" w="4224468">
                <a:moveTo>
                  <a:pt x="0" y="0"/>
                </a:moveTo>
                <a:lnTo>
                  <a:pt x="4224468" y="0"/>
                </a:lnTo>
                <a:lnTo>
                  <a:pt x="4224468" y="2645574"/>
                </a:lnTo>
                <a:lnTo>
                  <a:pt x="0" y="2645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4" id="24"/>
          <p:cNvSpPr/>
          <p:nvPr/>
        </p:nvSpPr>
        <p:spPr>
          <a:xfrm flipH="false" flipV="false" rot="0">
            <a:off x="11101574"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5" id="25"/>
          <p:cNvSpPr/>
          <p:nvPr/>
        </p:nvSpPr>
        <p:spPr>
          <a:xfrm flipH="false" flipV="false" rot="0">
            <a:off x="9653627" y="-3037933"/>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26" id="26"/>
          <p:cNvSpPr/>
          <p:nvPr/>
        </p:nvSpPr>
        <p:spPr>
          <a:xfrm flipH="false" flipV="false" rot="-5400000">
            <a:off x="4745771" y="-1877331"/>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27" id="27"/>
          <p:cNvSpPr/>
          <p:nvPr/>
        </p:nvSpPr>
        <p:spPr>
          <a:xfrm flipH="false" flipV="false" rot="0">
            <a:off x="2932282" y="9271808"/>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28" id="28"/>
          <p:cNvSpPr/>
          <p:nvPr/>
        </p:nvSpPr>
        <p:spPr>
          <a:xfrm flipH="false" flipV="false" rot="0">
            <a:off x="15262955" y="-1072630"/>
            <a:ext cx="1996345" cy="2149497"/>
          </a:xfrm>
          <a:custGeom>
            <a:avLst/>
            <a:gdLst/>
            <a:ahLst/>
            <a:cxnLst/>
            <a:rect r="r" b="b" t="t" l="l"/>
            <a:pathLst>
              <a:path h="2149497" w="1996345">
                <a:moveTo>
                  <a:pt x="0" y="0"/>
                </a:moveTo>
                <a:lnTo>
                  <a:pt x="1996345" y="0"/>
                </a:lnTo>
                <a:lnTo>
                  <a:pt x="1996345" y="2149497"/>
                </a:lnTo>
                <a:lnTo>
                  <a:pt x="0" y="214949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TextBox 29" id="29"/>
          <p:cNvSpPr txBox="true"/>
          <p:nvPr/>
        </p:nvSpPr>
        <p:spPr>
          <a:xfrm rot="0">
            <a:off x="1122205" y="5760312"/>
            <a:ext cx="3213835" cy="367538"/>
          </a:xfrm>
          <a:prstGeom prst="rect">
            <a:avLst/>
          </a:prstGeom>
        </p:spPr>
        <p:txBody>
          <a:bodyPr anchor="t" rtlCol="false" tIns="0" lIns="0" bIns="0" rIns="0">
            <a:spAutoFit/>
          </a:bodyPr>
          <a:lstStyle/>
          <a:p>
            <a:pPr algn="ctr" marL="0" indent="0" lvl="1">
              <a:lnSpc>
                <a:spcPts val="2715"/>
              </a:lnSpc>
              <a:spcBef>
                <a:spcPct val="0"/>
              </a:spcBef>
            </a:pPr>
            <a:r>
              <a:rPr lang="en-US" b="true" sz="2799">
                <a:solidFill>
                  <a:srgbClr val="000000"/>
                </a:solidFill>
                <a:latin typeface="Open Sans 1 Bold"/>
                <a:ea typeface="Open Sans 1 Bold"/>
                <a:cs typeface="Open Sans 1 Bold"/>
                <a:sym typeface="Open Sans 1 Bold"/>
              </a:rPr>
              <a:t>01. Data Cleaning</a:t>
            </a:r>
          </a:p>
        </p:txBody>
      </p:sp>
      <p:sp>
        <p:nvSpPr>
          <p:cNvPr name="TextBox 30" id="30"/>
          <p:cNvSpPr txBox="true"/>
          <p:nvPr/>
        </p:nvSpPr>
        <p:spPr>
          <a:xfrm rot="0">
            <a:off x="8845676" y="5588862"/>
            <a:ext cx="3213835" cy="710438"/>
          </a:xfrm>
          <a:prstGeom prst="rect">
            <a:avLst/>
          </a:prstGeom>
        </p:spPr>
        <p:txBody>
          <a:bodyPr anchor="t" rtlCol="false" tIns="0" lIns="0" bIns="0" rIns="0">
            <a:spAutoFit/>
          </a:bodyPr>
          <a:lstStyle/>
          <a:p>
            <a:pPr algn="ctr" marL="0" indent="0" lvl="1">
              <a:lnSpc>
                <a:spcPts val="2715"/>
              </a:lnSpc>
              <a:spcBef>
                <a:spcPct val="0"/>
              </a:spcBef>
            </a:pPr>
            <a:r>
              <a:rPr lang="en-US" b="true" sz="2799">
                <a:solidFill>
                  <a:srgbClr val="000000"/>
                </a:solidFill>
                <a:latin typeface="Open Sans 1 Bold"/>
                <a:ea typeface="Open Sans 1 Bold"/>
                <a:cs typeface="Open Sans 1 Bold"/>
                <a:sym typeface="Open Sans 1 Bold"/>
              </a:rPr>
              <a:t>03. Problem statement</a:t>
            </a:r>
          </a:p>
        </p:txBody>
      </p:sp>
      <p:sp>
        <p:nvSpPr>
          <p:cNvPr name="TextBox 31" id="31"/>
          <p:cNvSpPr txBox="true"/>
          <p:nvPr/>
        </p:nvSpPr>
        <p:spPr>
          <a:xfrm rot="0">
            <a:off x="5154263" y="5760312"/>
            <a:ext cx="3213835" cy="367538"/>
          </a:xfrm>
          <a:prstGeom prst="rect">
            <a:avLst/>
          </a:prstGeom>
        </p:spPr>
        <p:txBody>
          <a:bodyPr anchor="t" rtlCol="false" tIns="0" lIns="0" bIns="0" rIns="0">
            <a:spAutoFit/>
          </a:bodyPr>
          <a:lstStyle/>
          <a:p>
            <a:pPr algn="ctr" marL="0" indent="0" lvl="1">
              <a:lnSpc>
                <a:spcPts val="2715"/>
              </a:lnSpc>
              <a:spcBef>
                <a:spcPct val="0"/>
              </a:spcBef>
            </a:pPr>
            <a:r>
              <a:rPr lang="en-US" b="true" sz="2799">
                <a:solidFill>
                  <a:srgbClr val="000000"/>
                </a:solidFill>
                <a:latin typeface="Open Sans 1 Bold"/>
                <a:ea typeface="Open Sans 1 Bold"/>
                <a:cs typeface="Open Sans 1 Bold"/>
                <a:sym typeface="Open Sans 1 Bold"/>
              </a:rPr>
              <a:t>02. Visualization</a:t>
            </a:r>
          </a:p>
        </p:txBody>
      </p:sp>
      <p:sp>
        <p:nvSpPr>
          <p:cNvPr name="TextBox 32" id="32"/>
          <p:cNvSpPr txBox="true"/>
          <p:nvPr/>
        </p:nvSpPr>
        <p:spPr>
          <a:xfrm rot="0">
            <a:off x="12556854" y="5760312"/>
            <a:ext cx="3213835" cy="367538"/>
          </a:xfrm>
          <a:prstGeom prst="rect">
            <a:avLst/>
          </a:prstGeom>
        </p:spPr>
        <p:txBody>
          <a:bodyPr anchor="t" rtlCol="false" tIns="0" lIns="0" bIns="0" rIns="0">
            <a:spAutoFit/>
          </a:bodyPr>
          <a:lstStyle/>
          <a:p>
            <a:pPr algn="ctr" marL="0" indent="0" lvl="1">
              <a:lnSpc>
                <a:spcPts val="2715"/>
              </a:lnSpc>
              <a:spcBef>
                <a:spcPct val="0"/>
              </a:spcBef>
            </a:pPr>
            <a:r>
              <a:rPr lang="en-US" b="true" sz="2799">
                <a:solidFill>
                  <a:srgbClr val="000000"/>
                </a:solidFill>
                <a:latin typeface="Open Sans 1 Bold"/>
                <a:ea typeface="Open Sans 1 Bold"/>
                <a:cs typeface="Open Sans 1 Bold"/>
                <a:sym typeface="Open Sans 1 Bold"/>
              </a:rPr>
              <a:t>04. Solution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3461267" y="3382678"/>
            <a:ext cx="11365466" cy="2697480"/>
          </a:xfrm>
          <a:prstGeom prst="rect">
            <a:avLst/>
          </a:prstGeom>
        </p:spPr>
        <p:txBody>
          <a:bodyPr anchor="t" rtlCol="false" tIns="0" lIns="0" bIns="0" rIns="0">
            <a:spAutoFit/>
          </a:bodyPr>
          <a:lstStyle/>
          <a:p>
            <a:pPr algn="l" marL="906780" indent="-453390" lvl="1">
              <a:lnSpc>
                <a:spcPts val="4200"/>
              </a:lnSpc>
              <a:buAutoNum type="arabicPeriod" startAt="1"/>
            </a:pPr>
            <a:r>
              <a:rPr lang="en-US" b="true" sz="4200">
                <a:solidFill>
                  <a:srgbClr val="000000"/>
                </a:solidFill>
                <a:latin typeface="Open Sans 1 Bold"/>
                <a:ea typeface="Open Sans 1 Bold"/>
                <a:cs typeface="Open Sans 1 Bold"/>
                <a:sym typeface="Open Sans 1 Bold"/>
              </a:rPr>
              <a:t>How do different workout types affect calorie burn and average heart rate, considering factors like weather and location? </a:t>
            </a:r>
          </a:p>
          <a:p>
            <a:pPr algn="l">
              <a:lnSpc>
                <a:spcPts val="4200"/>
              </a:lnSpc>
            </a:pPr>
          </a:p>
        </p:txBody>
      </p:sp>
      <p:sp>
        <p:nvSpPr>
          <p:cNvPr name="TextBox 4" id="4"/>
          <p:cNvSpPr txBox="true"/>
          <p:nvPr/>
        </p:nvSpPr>
        <p:spPr>
          <a:xfrm rot="0">
            <a:off x="4046960" y="971550"/>
            <a:ext cx="10194080" cy="587375"/>
          </a:xfrm>
          <a:prstGeom prst="rect">
            <a:avLst/>
          </a:prstGeom>
        </p:spPr>
        <p:txBody>
          <a:bodyPr anchor="t" rtlCol="false" tIns="0" lIns="0" bIns="0" rIns="0">
            <a:spAutoFit/>
          </a:bodyPr>
          <a:lstStyle/>
          <a:p>
            <a:pPr algn="ctr">
              <a:lnSpc>
                <a:spcPts val="4899"/>
              </a:lnSpc>
            </a:pPr>
            <a:r>
              <a:rPr lang="en-US" sz="3499" b="true">
                <a:solidFill>
                  <a:srgbClr val="000000"/>
                </a:solidFill>
                <a:latin typeface="Open Sans 1 Bold"/>
                <a:ea typeface="Open Sans 1 Bold"/>
                <a:cs typeface="Open Sans 1 Bold"/>
                <a:sym typeface="Open Sans 1 Bold"/>
              </a:rPr>
              <a:t>Question No.01</a:t>
            </a:r>
          </a:p>
        </p:txBody>
      </p:sp>
      <p:sp>
        <p:nvSpPr>
          <p:cNvPr name="Freeform 5" id="5"/>
          <p:cNvSpPr/>
          <p:nvPr/>
        </p:nvSpPr>
        <p:spPr>
          <a:xfrm flipH="false" flipV="false" rot="0">
            <a:off x="14162256" y="4934996"/>
            <a:ext cx="3712953" cy="5352004"/>
          </a:xfrm>
          <a:custGeom>
            <a:avLst/>
            <a:gdLst/>
            <a:ahLst/>
            <a:cxnLst/>
            <a:rect r="r" b="b" t="t" l="l"/>
            <a:pathLst>
              <a:path h="5352004" w="3712953">
                <a:moveTo>
                  <a:pt x="0" y="0"/>
                </a:moveTo>
                <a:lnTo>
                  <a:pt x="3712952" y="0"/>
                </a:lnTo>
                <a:lnTo>
                  <a:pt x="3712952" y="5352004"/>
                </a:lnTo>
                <a:lnTo>
                  <a:pt x="0" y="5352004"/>
                </a:lnTo>
                <a:lnTo>
                  <a:pt x="0" y="0"/>
                </a:lnTo>
                <a:close/>
              </a:path>
            </a:pathLst>
          </a:custGeom>
          <a:blipFill>
            <a:blip r:embed="rId3"/>
            <a:stretch>
              <a:fillRect l="0" t="0" r="0" b="0"/>
            </a:stretch>
          </a:blipFill>
        </p:spPr>
      </p:sp>
      <p:sp>
        <p:nvSpPr>
          <p:cNvPr name="Freeform 6" id="6"/>
          <p:cNvSpPr/>
          <p:nvPr/>
        </p:nvSpPr>
        <p:spPr>
          <a:xfrm flipH="false" flipV="false" rot="719027">
            <a:off x="16855245" y="4287024"/>
            <a:ext cx="928638" cy="1489070"/>
          </a:xfrm>
          <a:custGeom>
            <a:avLst/>
            <a:gdLst/>
            <a:ahLst/>
            <a:cxnLst/>
            <a:rect r="r" b="b" t="t" l="l"/>
            <a:pathLst>
              <a:path h="1489070" w="928638">
                <a:moveTo>
                  <a:pt x="0" y="0"/>
                </a:moveTo>
                <a:lnTo>
                  <a:pt x="928638" y="0"/>
                </a:lnTo>
                <a:lnTo>
                  <a:pt x="928638" y="1489070"/>
                </a:lnTo>
                <a:lnTo>
                  <a:pt x="0" y="1489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910195">
            <a:off x="538296" y="4495528"/>
            <a:ext cx="928638" cy="1489070"/>
          </a:xfrm>
          <a:custGeom>
            <a:avLst/>
            <a:gdLst/>
            <a:ahLst/>
            <a:cxnLst/>
            <a:rect r="r" b="b" t="t" l="l"/>
            <a:pathLst>
              <a:path h="1489070" w="928638">
                <a:moveTo>
                  <a:pt x="0" y="0"/>
                </a:moveTo>
                <a:lnTo>
                  <a:pt x="928639" y="0"/>
                </a:lnTo>
                <a:lnTo>
                  <a:pt x="928639" y="1489070"/>
                </a:lnTo>
                <a:lnTo>
                  <a:pt x="0" y="14890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57884" y="5759714"/>
            <a:ext cx="3780284" cy="4527286"/>
          </a:xfrm>
          <a:custGeom>
            <a:avLst/>
            <a:gdLst/>
            <a:ahLst/>
            <a:cxnLst/>
            <a:rect r="r" b="b" t="t" l="l"/>
            <a:pathLst>
              <a:path h="4527286" w="3780284">
                <a:moveTo>
                  <a:pt x="0" y="0"/>
                </a:moveTo>
                <a:lnTo>
                  <a:pt x="3780284" y="0"/>
                </a:lnTo>
                <a:lnTo>
                  <a:pt x="3780284" y="4527286"/>
                </a:lnTo>
                <a:lnTo>
                  <a:pt x="0" y="4527286"/>
                </a:lnTo>
                <a:lnTo>
                  <a:pt x="0" y="0"/>
                </a:lnTo>
                <a:close/>
              </a:path>
            </a:pathLst>
          </a:custGeom>
          <a:blipFill>
            <a:blip r:embed="rId6"/>
            <a:stretch>
              <a:fillRect l="0" t="0" r="0" b="0"/>
            </a:stretch>
          </a:blipFill>
        </p:spPr>
      </p:sp>
      <p:sp>
        <p:nvSpPr>
          <p:cNvPr name="Freeform 9" id="9"/>
          <p:cNvSpPr/>
          <p:nvPr/>
        </p:nvSpPr>
        <p:spPr>
          <a:xfrm flipH="false" flipV="false" rot="0">
            <a:off x="14471347" y="2333112"/>
            <a:ext cx="1291684" cy="1291684"/>
          </a:xfrm>
          <a:custGeom>
            <a:avLst/>
            <a:gdLst/>
            <a:ahLst/>
            <a:cxnLst/>
            <a:rect r="r" b="b" t="t" l="l"/>
            <a:pathLst>
              <a:path h="1291684" w="1291684">
                <a:moveTo>
                  <a:pt x="0" y="0"/>
                </a:moveTo>
                <a:lnTo>
                  <a:pt x="1291684" y="0"/>
                </a:lnTo>
                <a:lnTo>
                  <a:pt x="1291684" y="1291684"/>
                </a:lnTo>
                <a:lnTo>
                  <a:pt x="0" y="12916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false" rot="0">
            <a:off x="2524969" y="2333112"/>
            <a:ext cx="1291684" cy="1291684"/>
          </a:xfrm>
          <a:custGeom>
            <a:avLst/>
            <a:gdLst/>
            <a:ahLst/>
            <a:cxnLst/>
            <a:rect r="r" b="b" t="t" l="l"/>
            <a:pathLst>
              <a:path h="1291684" w="1291684">
                <a:moveTo>
                  <a:pt x="1291684" y="0"/>
                </a:moveTo>
                <a:lnTo>
                  <a:pt x="0" y="0"/>
                </a:lnTo>
                <a:lnTo>
                  <a:pt x="0" y="1291684"/>
                </a:lnTo>
                <a:lnTo>
                  <a:pt x="1291684" y="1291684"/>
                </a:lnTo>
                <a:lnTo>
                  <a:pt x="129168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4159943" y="407736"/>
            <a:ext cx="12881781" cy="9471527"/>
            <a:chOff x="0" y="0"/>
            <a:chExt cx="4357541" cy="3203949"/>
          </a:xfrm>
        </p:grpSpPr>
        <p:sp>
          <p:nvSpPr>
            <p:cNvPr name="Freeform 4" id="4"/>
            <p:cNvSpPr/>
            <p:nvPr/>
          </p:nvSpPr>
          <p:spPr>
            <a:xfrm flipH="false" flipV="false" rot="0">
              <a:off x="0" y="0"/>
              <a:ext cx="4357541" cy="3203949"/>
            </a:xfrm>
            <a:custGeom>
              <a:avLst/>
              <a:gdLst/>
              <a:ahLst/>
              <a:cxnLst/>
              <a:rect r="r" b="b" t="t" l="l"/>
              <a:pathLst>
                <a:path h="3203949" w="4357541">
                  <a:moveTo>
                    <a:pt x="4233080" y="3203949"/>
                  </a:moveTo>
                  <a:lnTo>
                    <a:pt x="124460" y="3203949"/>
                  </a:lnTo>
                  <a:cubicBezTo>
                    <a:pt x="55880" y="3203949"/>
                    <a:pt x="0" y="3148069"/>
                    <a:pt x="0" y="3079489"/>
                  </a:cubicBezTo>
                  <a:lnTo>
                    <a:pt x="0" y="124460"/>
                  </a:lnTo>
                  <a:cubicBezTo>
                    <a:pt x="0" y="55880"/>
                    <a:pt x="55880" y="0"/>
                    <a:pt x="124460" y="0"/>
                  </a:cubicBezTo>
                  <a:lnTo>
                    <a:pt x="4233081" y="0"/>
                  </a:lnTo>
                  <a:cubicBezTo>
                    <a:pt x="4301661" y="0"/>
                    <a:pt x="4357541" y="55880"/>
                    <a:pt x="4357541" y="124460"/>
                  </a:cubicBezTo>
                  <a:lnTo>
                    <a:pt x="4357541" y="3079489"/>
                  </a:lnTo>
                  <a:cubicBezTo>
                    <a:pt x="4357541" y="3148069"/>
                    <a:pt x="4301661" y="3203949"/>
                    <a:pt x="4233081" y="3203949"/>
                  </a:cubicBezTo>
                  <a:close/>
                </a:path>
              </a:pathLst>
            </a:custGeom>
            <a:solidFill>
              <a:srgbClr val="000000"/>
            </a:solidFill>
          </p:spPr>
        </p:sp>
      </p:grpSp>
      <p:grpSp>
        <p:nvGrpSpPr>
          <p:cNvPr name="Group 5" id="5"/>
          <p:cNvGrpSpPr/>
          <p:nvPr/>
        </p:nvGrpSpPr>
        <p:grpSpPr>
          <a:xfrm rot="0">
            <a:off x="4577488" y="663073"/>
            <a:ext cx="12681812" cy="9336632"/>
            <a:chOff x="0" y="0"/>
            <a:chExt cx="4289897" cy="3158317"/>
          </a:xfrm>
        </p:grpSpPr>
        <p:sp>
          <p:nvSpPr>
            <p:cNvPr name="Freeform 6" id="6"/>
            <p:cNvSpPr/>
            <p:nvPr/>
          </p:nvSpPr>
          <p:spPr>
            <a:xfrm flipH="false" flipV="false" rot="0">
              <a:off x="0" y="0"/>
              <a:ext cx="4289897" cy="3158318"/>
            </a:xfrm>
            <a:custGeom>
              <a:avLst/>
              <a:gdLst/>
              <a:ahLst/>
              <a:cxnLst/>
              <a:rect r="r" b="b" t="t" l="l"/>
              <a:pathLst>
                <a:path h="3158318" w="4289897">
                  <a:moveTo>
                    <a:pt x="4165437" y="3158317"/>
                  </a:moveTo>
                  <a:lnTo>
                    <a:pt x="124460" y="3158317"/>
                  </a:lnTo>
                  <a:cubicBezTo>
                    <a:pt x="55880" y="3158317"/>
                    <a:pt x="0" y="3102438"/>
                    <a:pt x="0" y="3033857"/>
                  </a:cubicBezTo>
                  <a:lnTo>
                    <a:pt x="0" y="124460"/>
                  </a:lnTo>
                  <a:cubicBezTo>
                    <a:pt x="0" y="55880"/>
                    <a:pt x="55880" y="0"/>
                    <a:pt x="124460" y="0"/>
                  </a:cubicBezTo>
                  <a:lnTo>
                    <a:pt x="4165437" y="0"/>
                  </a:lnTo>
                  <a:cubicBezTo>
                    <a:pt x="4234017" y="0"/>
                    <a:pt x="4289897" y="55880"/>
                    <a:pt x="4289897" y="124460"/>
                  </a:cubicBezTo>
                  <a:lnTo>
                    <a:pt x="4289897" y="3033858"/>
                  </a:lnTo>
                  <a:cubicBezTo>
                    <a:pt x="4289897" y="3102438"/>
                    <a:pt x="4234017" y="3158318"/>
                    <a:pt x="4165437" y="3158318"/>
                  </a:cubicBezTo>
                  <a:close/>
                </a:path>
              </a:pathLst>
            </a:custGeom>
            <a:solidFill>
              <a:srgbClr val="D6DCFF"/>
            </a:solidFill>
          </p:spPr>
        </p:sp>
      </p:grpSp>
      <p:grpSp>
        <p:nvGrpSpPr>
          <p:cNvPr name="Group 7" id="7"/>
          <p:cNvGrpSpPr/>
          <p:nvPr/>
        </p:nvGrpSpPr>
        <p:grpSpPr>
          <a:xfrm rot="0">
            <a:off x="5151327" y="4482541"/>
            <a:ext cx="2922327" cy="680085"/>
            <a:chOff x="0" y="0"/>
            <a:chExt cx="769666" cy="179117"/>
          </a:xfrm>
        </p:grpSpPr>
        <p:sp>
          <p:nvSpPr>
            <p:cNvPr name="Freeform 8" id="8"/>
            <p:cNvSpPr/>
            <p:nvPr/>
          </p:nvSpPr>
          <p:spPr>
            <a:xfrm flipH="false" flipV="false" rot="0">
              <a:off x="0" y="0"/>
              <a:ext cx="769666" cy="179117"/>
            </a:xfrm>
            <a:custGeom>
              <a:avLst/>
              <a:gdLst/>
              <a:ahLst/>
              <a:cxnLst/>
              <a:rect r="r" b="b" t="t" l="l"/>
              <a:pathLst>
                <a:path h="179117" w="769666">
                  <a:moveTo>
                    <a:pt x="0" y="0"/>
                  </a:moveTo>
                  <a:lnTo>
                    <a:pt x="769666" y="0"/>
                  </a:lnTo>
                  <a:lnTo>
                    <a:pt x="769666" y="179117"/>
                  </a:lnTo>
                  <a:lnTo>
                    <a:pt x="0" y="179117"/>
                  </a:lnTo>
                  <a:close/>
                </a:path>
              </a:pathLst>
            </a:custGeom>
            <a:solidFill>
              <a:srgbClr val="F58F70"/>
            </a:solidFill>
          </p:spPr>
        </p:sp>
        <p:sp>
          <p:nvSpPr>
            <p:cNvPr name="TextBox 9" id="9"/>
            <p:cNvSpPr txBox="true"/>
            <p:nvPr/>
          </p:nvSpPr>
          <p:spPr>
            <a:xfrm>
              <a:off x="0" y="-76200"/>
              <a:ext cx="769666" cy="255317"/>
            </a:xfrm>
            <a:prstGeom prst="rect">
              <a:avLst/>
            </a:prstGeom>
          </p:spPr>
          <p:txBody>
            <a:bodyPr anchor="ctr" rtlCol="false" tIns="50800" lIns="50800" bIns="50800" rIns="50800"/>
            <a:lstStyle/>
            <a:p>
              <a:pPr algn="ctr">
                <a:lnSpc>
                  <a:spcPts val="3119"/>
                </a:lnSpc>
              </a:pPr>
            </a:p>
          </p:txBody>
        </p:sp>
      </p:grpSp>
      <p:sp>
        <p:nvSpPr>
          <p:cNvPr name="Freeform 10" id="10"/>
          <p:cNvSpPr/>
          <p:nvPr/>
        </p:nvSpPr>
        <p:spPr>
          <a:xfrm flipH="false" flipV="false" rot="-1964075">
            <a:off x="480746" y="5489465"/>
            <a:ext cx="1313834" cy="1292335"/>
          </a:xfrm>
          <a:custGeom>
            <a:avLst/>
            <a:gdLst/>
            <a:ahLst/>
            <a:cxnLst/>
            <a:rect r="r" b="b" t="t" l="l"/>
            <a:pathLst>
              <a:path h="1292335" w="1313834">
                <a:moveTo>
                  <a:pt x="0" y="0"/>
                </a:moveTo>
                <a:lnTo>
                  <a:pt x="1313834" y="0"/>
                </a:lnTo>
                <a:lnTo>
                  <a:pt x="1313834" y="1292335"/>
                </a:lnTo>
                <a:lnTo>
                  <a:pt x="0" y="1292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5312708" y="1989970"/>
            <a:ext cx="394890" cy="394890"/>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13" id="13"/>
          <p:cNvGrpSpPr/>
          <p:nvPr/>
        </p:nvGrpSpPr>
        <p:grpSpPr>
          <a:xfrm rot="0">
            <a:off x="5312708" y="5368438"/>
            <a:ext cx="394890" cy="39489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15" id="15"/>
          <p:cNvGrpSpPr/>
          <p:nvPr/>
        </p:nvGrpSpPr>
        <p:grpSpPr>
          <a:xfrm rot="0">
            <a:off x="5312708" y="7468541"/>
            <a:ext cx="394890" cy="394890"/>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sp>
        <p:nvSpPr>
          <p:cNvPr name="TextBox 17" id="17"/>
          <p:cNvSpPr txBox="true"/>
          <p:nvPr/>
        </p:nvSpPr>
        <p:spPr>
          <a:xfrm rot="0">
            <a:off x="6038017" y="7387218"/>
            <a:ext cx="10880953" cy="2138680"/>
          </a:xfrm>
          <a:prstGeom prst="rect">
            <a:avLst/>
          </a:prstGeom>
        </p:spPr>
        <p:txBody>
          <a:bodyPr anchor="t" rtlCol="false" tIns="0" lIns="0" bIns="0" rIns="0">
            <a:spAutoFit/>
          </a:bodyPr>
          <a:lstStyle/>
          <a:p>
            <a:pPr algn="l">
              <a:lnSpc>
                <a:spcPts val="3379"/>
              </a:lnSpc>
            </a:pPr>
            <a:r>
              <a:rPr lang="en-US" sz="2599" b="true">
                <a:solidFill>
                  <a:srgbClr val="000000"/>
                </a:solidFill>
                <a:latin typeface="Open Sans 1 Bold"/>
                <a:ea typeface="Open Sans 1 Bold"/>
                <a:cs typeface="Open Sans 1 Bold"/>
                <a:sym typeface="Open Sans 1 Bold"/>
              </a:rPr>
              <a:t>High altitudes elevate both calorie burn and heart rate due to oxygen scarcity.</a:t>
            </a:r>
          </a:p>
          <a:p>
            <a:pPr algn="l">
              <a:lnSpc>
                <a:spcPts val="3379"/>
              </a:lnSpc>
            </a:pPr>
            <a:r>
              <a:rPr lang="en-US" sz="2599" b="true">
                <a:solidFill>
                  <a:srgbClr val="000000"/>
                </a:solidFill>
                <a:latin typeface="Open Sans 1 Bold"/>
                <a:ea typeface="Open Sans 1 Bold"/>
                <a:cs typeface="Open Sans 1 Bold"/>
                <a:sym typeface="Open Sans 1 Bold"/>
              </a:rPr>
              <a:t>Urban settings reduce sustained effort, while natural terrains increase intensity and variability.</a:t>
            </a:r>
          </a:p>
          <a:p>
            <a:pPr algn="l" marL="0" indent="0" lvl="0">
              <a:lnSpc>
                <a:spcPts val="3379"/>
              </a:lnSpc>
              <a:spcBef>
                <a:spcPct val="0"/>
              </a:spcBef>
            </a:pPr>
          </a:p>
        </p:txBody>
      </p:sp>
      <p:grpSp>
        <p:nvGrpSpPr>
          <p:cNvPr name="Group 18" id="18"/>
          <p:cNvGrpSpPr/>
          <p:nvPr/>
        </p:nvGrpSpPr>
        <p:grpSpPr>
          <a:xfrm rot="0">
            <a:off x="5312708" y="3077171"/>
            <a:ext cx="394890" cy="394890"/>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20" id="20"/>
          <p:cNvGrpSpPr/>
          <p:nvPr/>
        </p:nvGrpSpPr>
        <p:grpSpPr>
          <a:xfrm rot="0">
            <a:off x="5312708" y="8382978"/>
            <a:ext cx="394890" cy="394890"/>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sp>
        <p:nvSpPr>
          <p:cNvPr name="Freeform 22" id="22"/>
          <p:cNvSpPr/>
          <p:nvPr/>
        </p:nvSpPr>
        <p:spPr>
          <a:xfrm flipH="true" flipV="false" rot="0">
            <a:off x="15795448" y="7831580"/>
            <a:ext cx="2492552" cy="2273235"/>
          </a:xfrm>
          <a:custGeom>
            <a:avLst/>
            <a:gdLst/>
            <a:ahLst/>
            <a:cxnLst/>
            <a:rect r="r" b="b" t="t" l="l"/>
            <a:pathLst>
              <a:path h="2273235" w="2492552">
                <a:moveTo>
                  <a:pt x="2492552" y="0"/>
                </a:moveTo>
                <a:lnTo>
                  <a:pt x="0" y="0"/>
                </a:lnTo>
                <a:lnTo>
                  <a:pt x="0" y="2273235"/>
                </a:lnTo>
                <a:lnTo>
                  <a:pt x="2492552" y="2273235"/>
                </a:lnTo>
                <a:lnTo>
                  <a:pt x="2492552" y="0"/>
                </a:lnTo>
                <a:close/>
              </a:path>
            </a:pathLst>
          </a:custGeom>
          <a:blipFill>
            <a:blip r:embed="rId5">
              <a:alphaModFix amt="64000"/>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31260" y="6114003"/>
            <a:ext cx="4546227" cy="4323049"/>
          </a:xfrm>
          <a:custGeom>
            <a:avLst/>
            <a:gdLst/>
            <a:ahLst/>
            <a:cxnLst/>
            <a:rect r="r" b="b" t="t" l="l"/>
            <a:pathLst>
              <a:path h="4323049" w="4546227">
                <a:moveTo>
                  <a:pt x="0" y="0"/>
                </a:moveTo>
                <a:lnTo>
                  <a:pt x="4546228" y="0"/>
                </a:lnTo>
                <a:lnTo>
                  <a:pt x="4546228" y="4323049"/>
                </a:lnTo>
                <a:lnTo>
                  <a:pt x="0" y="4323049"/>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0" y="6221453"/>
            <a:ext cx="4546227" cy="4323049"/>
          </a:xfrm>
          <a:custGeom>
            <a:avLst/>
            <a:gdLst/>
            <a:ahLst/>
            <a:cxnLst/>
            <a:rect r="r" b="b" t="t" l="l"/>
            <a:pathLst>
              <a:path h="4323049" w="4546227">
                <a:moveTo>
                  <a:pt x="0" y="0"/>
                </a:moveTo>
                <a:lnTo>
                  <a:pt x="4546227" y="0"/>
                </a:lnTo>
                <a:lnTo>
                  <a:pt x="4546227" y="4323049"/>
                </a:lnTo>
                <a:lnTo>
                  <a:pt x="0" y="4323049"/>
                </a:lnTo>
                <a:lnTo>
                  <a:pt x="0" y="0"/>
                </a:lnTo>
                <a:close/>
              </a:path>
            </a:pathLst>
          </a:custGeom>
          <a:blipFill>
            <a:blip r:embed="rId9">
              <a:alphaModFix amt="40000"/>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17458" y="1009650"/>
            <a:ext cx="4578255" cy="680085"/>
            <a:chOff x="0" y="0"/>
            <a:chExt cx="1205796" cy="179117"/>
          </a:xfrm>
        </p:grpSpPr>
        <p:sp>
          <p:nvSpPr>
            <p:cNvPr name="Freeform 26" id="26"/>
            <p:cNvSpPr/>
            <p:nvPr/>
          </p:nvSpPr>
          <p:spPr>
            <a:xfrm flipH="false" flipV="false" rot="0">
              <a:off x="0" y="0"/>
              <a:ext cx="1205796" cy="179117"/>
            </a:xfrm>
            <a:custGeom>
              <a:avLst/>
              <a:gdLst/>
              <a:ahLst/>
              <a:cxnLst/>
              <a:rect r="r" b="b" t="t" l="l"/>
              <a:pathLst>
                <a:path h="179117" w="1205796">
                  <a:moveTo>
                    <a:pt x="0" y="0"/>
                  </a:moveTo>
                  <a:lnTo>
                    <a:pt x="1205796" y="0"/>
                  </a:lnTo>
                  <a:lnTo>
                    <a:pt x="1205796" y="179117"/>
                  </a:lnTo>
                  <a:lnTo>
                    <a:pt x="0" y="179117"/>
                  </a:lnTo>
                  <a:close/>
                </a:path>
              </a:pathLst>
            </a:custGeom>
            <a:solidFill>
              <a:srgbClr val="F58F70"/>
            </a:solidFill>
          </p:spPr>
        </p:sp>
        <p:sp>
          <p:nvSpPr>
            <p:cNvPr name="TextBox 27" id="27"/>
            <p:cNvSpPr txBox="true"/>
            <p:nvPr/>
          </p:nvSpPr>
          <p:spPr>
            <a:xfrm>
              <a:off x="0" y="-76200"/>
              <a:ext cx="1205796" cy="255317"/>
            </a:xfrm>
            <a:prstGeom prst="rect">
              <a:avLst/>
            </a:prstGeom>
          </p:spPr>
          <p:txBody>
            <a:bodyPr anchor="ctr" rtlCol="false" tIns="50800" lIns="50800" bIns="50800" rIns="50800"/>
            <a:lstStyle/>
            <a:p>
              <a:pPr algn="ctr">
                <a:lnSpc>
                  <a:spcPts val="3119"/>
                </a:lnSpc>
              </a:pPr>
            </a:p>
          </p:txBody>
        </p:sp>
      </p:grpSp>
      <p:sp>
        <p:nvSpPr>
          <p:cNvPr name="TextBox 28" id="28"/>
          <p:cNvSpPr txBox="true"/>
          <p:nvPr/>
        </p:nvSpPr>
        <p:spPr>
          <a:xfrm rot="0">
            <a:off x="6038017" y="5282828"/>
            <a:ext cx="10880953" cy="852805"/>
          </a:xfrm>
          <a:prstGeom prst="rect">
            <a:avLst/>
          </a:prstGeom>
        </p:spPr>
        <p:txBody>
          <a:bodyPr anchor="t" rtlCol="false" tIns="0" lIns="0" bIns="0" rIns="0">
            <a:spAutoFit/>
          </a:bodyPr>
          <a:lstStyle/>
          <a:p>
            <a:pPr algn="l" marL="0" indent="0" lvl="0">
              <a:lnSpc>
                <a:spcPts val="3379"/>
              </a:lnSpc>
              <a:spcBef>
                <a:spcPct val="0"/>
              </a:spcBef>
            </a:pPr>
            <a:r>
              <a:rPr lang="en-US" b="true" sz="2599">
                <a:solidFill>
                  <a:srgbClr val="000000"/>
                </a:solidFill>
                <a:latin typeface="Open Sans 1 Bold"/>
                <a:ea typeface="Open Sans 1 Bold"/>
                <a:cs typeface="Open Sans 1 Bold"/>
                <a:sym typeface="Open Sans 1 Bold"/>
              </a:rPr>
              <a:t>Cold weather increases calorie burn due to heat generation, while hot weather raises heart rate but limits exercise duration.</a:t>
            </a:r>
          </a:p>
        </p:txBody>
      </p:sp>
      <p:sp>
        <p:nvSpPr>
          <p:cNvPr name="TextBox 29" id="29"/>
          <p:cNvSpPr txBox="true"/>
          <p:nvPr/>
        </p:nvSpPr>
        <p:spPr>
          <a:xfrm rot="0">
            <a:off x="6038017" y="1853006"/>
            <a:ext cx="10880953" cy="852805"/>
          </a:xfrm>
          <a:prstGeom prst="rect">
            <a:avLst/>
          </a:prstGeom>
        </p:spPr>
        <p:txBody>
          <a:bodyPr anchor="t" rtlCol="false" tIns="0" lIns="0" bIns="0" rIns="0">
            <a:spAutoFit/>
          </a:bodyPr>
          <a:lstStyle/>
          <a:p>
            <a:pPr algn="l" marL="0" indent="0" lvl="0">
              <a:lnSpc>
                <a:spcPts val="3379"/>
              </a:lnSpc>
              <a:spcBef>
                <a:spcPct val="0"/>
              </a:spcBef>
            </a:pPr>
            <a:r>
              <a:rPr lang="en-US" b="true" sz="2599">
                <a:solidFill>
                  <a:srgbClr val="000000"/>
                </a:solidFill>
                <a:latin typeface="Open Sans 1 Bold"/>
                <a:ea typeface="Open Sans 1 Bold"/>
                <a:cs typeface="Open Sans 1 Bold"/>
                <a:sym typeface="Open Sans 1 Bold"/>
              </a:rPr>
              <a:t>Cardio burns the most calories and keeps the heart rate high, while strength training and yoga have moderate effects.</a:t>
            </a:r>
          </a:p>
        </p:txBody>
      </p:sp>
      <p:sp>
        <p:nvSpPr>
          <p:cNvPr name="TextBox 30" id="30"/>
          <p:cNvSpPr txBox="true"/>
          <p:nvPr/>
        </p:nvSpPr>
        <p:spPr>
          <a:xfrm rot="0">
            <a:off x="5417458" y="857250"/>
            <a:ext cx="4448770" cy="832485"/>
          </a:xfrm>
          <a:prstGeom prst="rect">
            <a:avLst/>
          </a:prstGeom>
        </p:spPr>
        <p:txBody>
          <a:bodyPr anchor="t" rtlCol="false" tIns="0" lIns="0" bIns="0" rIns="0">
            <a:spAutoFit/>
          </a:bodyPr>
          <a:lstStyle/>
          <a:p>
            <a:pPr algn="ctr">
              <a:lnSpc>
                <a:spcPts val="7020"/>
              </a:lnSpc>
              <a:spcBef>
                <a:spcPct val="0"/>
              </a:spcBef>
            </a:pPr>
            <a:r>
              <a:rPr lang="en-US" b="true" sz="4500">
                <a:solidFill>
                  <a:srgbClr val="000000"/>
                </a:solidFill>
                <a:latin typeface="Open Sans 1 Bold"/>
                <a:ea typeface="Open Sans 1 Bold"/>
                <a:cs typeface="Open Sans 1 Bold"/>
                <a:sym typeface="Open Sans 1 Bold"/>
              </a:rPr>
              <a:t>Workout Types:</a:t>
            </a:r>
          </a:p>
        </p:txBody>
      </p:sp>
      <p:sp>
        <p:nvSpPr>
          <p:cNvPr name="TextBox 31" id="31"/>
          <p:cNvSpPr txBox="true"/>
          <p:nvPr/>
        </p:nvSpPr>
        <p:spPr>
          <a:xfrm rot="0">
            <a:off x="6038017" y="2991561"/>
            <a:ext cx="10880953" cy="852805"/>
          </a:xfrm>
          <a:prstGeom prst="rect">
            <a:avLst/>
          </a:prstGeom>
        </p:spPr>
        <p:txBody>
          <a:bodyPr anchor="t" rtlCol="false" tIns="0" lIns="0" bIns="0" rIns="0">
            <a:spAutoFit/>
          </a:bodyPr>
          <a:lstStyle/>
          <a:p>
            <a:pPr algn="l" marL="0" indent="0" lvl="0">
              <a:lnSpc>
                <a:spcPts val="3379"/>
              </a:lnSpc>
              <a:spcBef>
                <a:spcPct val="0"/>
              </a:spcBef>
            </a:pPr>
            <a:r>
              <a:rPr lang="en-US" b="true" sz="2599">
                <a:solidFill>
                  <a:srgbClr val="000000"/>
                </a:solidFill>
                <a:latin typeface="Open Sans 1 Bold"/>
                <a:ea typeface="Open Sans 1 Bold"/>
                <a:cs typeface="Open Sans 1 Bold"/>
                <a:sym typeface="Open Sans 1 Bold"/>
              </a:rPr>
              <a:t>HIIT(High-Intensity Interval Training) maximizes calorie burn with alternating high heart rate spikes.</a:t>
            </a:r>
          </a:p>
        </p:txBody>
      </p:sp>
      <p:sp>
        <p:nvSpPr>
          <p:cNvPr name="TextBox 32" id="32"/>
          <p:cNvSpPr txBox="true"/>
          <p:nvPr/>
        </p:nvSpPr>
        <p:spPr>
          <a:xfrm rot="0">
            <a:off x="5312708" y="4248055"/>
            <a:ext cx="2619256" cy="832485"/>
          </a:xfrm>
          <a:prstGeom prst="rect">
            <a:avLst/>
          </a:prstGeom>
        </p:spPr>
        <p:txBody>
          <a:bodyPr anchor="t" rtlCol="false" tIns="0" lIns="0" bIns="0" rIns="0">
            <a:spAutoFit/>
          </a:bodyPr>
          <a:lstStyle/>
          <a:p>
            <a:pPr algn="ctr">
              <a:lnSpc>
                <a:spcPts val="7020"/>
              </a:lnSpc>
              <a:spcBef>
                <a:spcPct val="0"/>
              </a:spcBef>
            </a:pPr>
            <a:r>
              <a:rPr lang="en-US" b="true" sz="4500">
                <a:solidFill>
                  <a:srgbClr val="000000"/>
                </a:solidFill>
                <a:latin typeface="Open Sans 1 Bold"/>
                <a:ea typeface="Open Sans 1 Bold"/>
                <a:cs typeface="Open Sans 1 Bold"/>
                <a:sym typeface="Open Sans 1 Bold"/>
              </a:rPr>
              <a:t>Weather:</a:t>
            </a:r>
          </a:p>
        </p:txBody>
      </p:sp>
      <p:grpSp>
        <p:nvGrpSpPr>
          <p:cNvPr name="Group 33" id="33"/>
          <p:cNvGrpSpPr/>
          <p:nvPr/>
        </p:nvGrpSpPr>
        <p:grpSpPr>
          <a:xfrm rot="0">
            <a:off x="5312708" y="6507108"/>
            <a:ext cx="2922327" cy="680085"/>
            <a:chOff x="0" y="0"/>
            <a:chExt cx="769666" cy="179117"/>
          </a:xfrm>
        </p:grpSpPr>
        <p:sp>
          <p:nvSpPr>
            <p:cNvPr name="Freeform 34" id="34"/>
            <p:cNvSpPr/>
            <p:nvPr/>
          </p:nvSpPr>
          <p:spPr>
            <a:xfrm flipH="false" flipV="false" rot="0">
              <a:off x="0" y="0"/>
              <a:ext cx="769666" cy="179117"/>
            </a:xfrm>
            <a:custGeom>
              <a:avLst/>
              <a:gdLst/>
              <a:ahLst/>
              <a:cxnLst/>
              <a:rect r="r" b="b" t="t" l="l"/>
              <a:pathLst>
                <a:path h="179117" w="769666">
                  <a:moveTo>
                    <a:pt x="0" y="0"/>
                  </a:moveTo>
                  <a:lnTo>
                    <a:pt x="769666" y="0"/>
                  </a:lnTo>
                  <a:lnTo>
                    <a:pt x="769666" y="179117"/>
                  </a:lnTo>
                  <a:lnTo>
                    <a:pt x="0" y="179117"/>
                  </a:lnTo>
                  <a:close/>
                </a:path>
              </a:pathLst>
            </a:custGeom>
            <a:solidFill>
              <a:srgbClr val="F58F70"/>
            </a:solidFill>
          </p:spPr>
        </p:sp>
        <p:sp>
          <p:nvSpPr>
            <p:cNvPr name="TextBox 35" id="35"/>
            <p:cNvSpPr txBox="true"/>
            <p:nvPr/>
          </p:nvSpPr>
          <p:spPr>
            <a:xfrm>
              <a:off x="0" y="-76200"/>
              <a:ext cx="769666" cy="255317"/>
            </a:xfrm>
            <a:prstGeom prst="rect">
              <a:avLst/>
            </a:prstGeom>
          </p:spPr>
          <p:txBody>
            <a:bodyPr anchor="ctr" rtlCol="false" tIns="50800" lIns="50800" bIns="50800" rIns="50800"/>
            <a:lstStyle/>
            <a:p>
              <a:pPr algn="ctr">
                <a:lnSpc>
                  <a:spcPts val="3119"/>
                </a:lnSpc>
              </a:pPr>
            </a:p>
          </p:txBody>
        </p:sp>
      </p:grpSp>
      <p:sp>
        <p:nvSpPr>
          <p:cNvPr name="TextBox 36" id="36"/>
          <p:cNvSpPr txBox="true"/>
          <p:nvPr/>
        </p:nvSpPr>
        <p:spPr>
          <a:xfrm rot="0">
            <a:off x="5312708" y="6297558"/>
            <a:ext cx="2630686" cy="832485"/>
          </a:xfrm>
          <a:prstGeom prst="rect">
            <a:avLst/>
          </a:prstGeom>
        </p:spPr>
        <p:txBody>
          <a:bodyPr anchor="t" rtlCol="false" tIns="0" lIns="0" bIns="0" rIns="0">
            <a:spAutoFit/>
          </a:bodyPr>
          <a:lstStyle/>
          <a:p>
            <a:pPr algn="ctr">
              <a:lnSpc>
                <a:spcPts val="7020"/>
              </a:lnSpc>
              <a:spcBef>
                <a:spcPct val="0"/>
              </a:spcBef>
            </a:pPr>
            <a:r>
              <a:rPr lang="en-US" b="true" sz="4500">
                <a:solidFill>
                  <a:srgbClr val="000000"/>
                </a:solidFill>
                <a:latin typeface="Open Sans 1 Bold"/>
                <a:ea typeface="Open Sans 1 Bold"/>
                <a:cs typeface="Open Sans 1 Bold"/>
                <a:sym typeface="Open Sans 1 Bold"/>
              </a:rPr>
              <a:t>Location: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2087890" y="3011848"/>
            <a:ext cx="14112221" cy="3968496"/>
          </a:xfrm>
          <a:prstGeom prst="rect">
            <a:avLst/>
          </a:prstGeom>
        </p:spPr>
        <p:txBody>
          <a:bodyPr anchor="t" rtlCol="false" tIns="0" lIns="0" bIns="0" rIns="0">
            <a:spAutoFit/>
          </a:bodyPr>
          <a:lstStyle/>
          <a:p>
            <a:pPr algn="ctr">
              <a:lnSpc>
                <a:spcPts val="2441"/>
              </a:lnSpc>
            </a:pPr>
          </a:p>
          <a:p>
            <a:pPr algn="l" marL="474979" indent="-237490" lvl="1">
              <a:lnSpc>
                <a:spcPts val="2441"/>
              </a:lnSpc>
              <a:buFont typeface="Arial"/>
              <a:buChar char="•"/>
            </a:pPr>
            <a:r>
              <a:rPr lang="en-US" b="true" sz="2199">
                <a:solidFill>
                  <a:srgbClr val="000000"/>
                </a:solidFill>
                <a:latin typeface="Open Sans 1 Bold"/>
                <a:ea typeface="Open Sans 1 Bold"/>
                <a:cs typeface="Open Sans 1 Bold"/>
                <a:sym typeface="Open Sans 1 Bold"/>
              </a:rPr>
              <a:t>Define Objectives:</a:t>
            </a:r>
            <a:r>
              <a:rPr lang="en-US" sz="2199">
                <a:solidFill>
                  <a:srgbClr val="000000"/>
                </a:solidFill>
                <a:latin typeface="Open Sans 1"/>
                <a:ea typeface="Open Sans 1"/>
                <a:cs typeface="Open Sans 1"/>
                <a:sym typeface="Open Sans 1"/>
              </a:rPr>
              <a:t> Analyze how workout types, weather, and location affect calorie burn and heart rate.</a:t>
            </a:r>
          </a:p>
          <a:p>
            <a:pPr algn="l">
              <a:lnSpc>
                <a:spcPts val="2441"/>
              </a:lnSpc>
            </a:pPr>
          </a:p>
          <a:p>
            <a:pPr algn="l" marL="474979" indent="-237490" lvl="1">
              <a:lnSpc>
                <a:spcPts val="2441"/>
              </a:lnSpc>
              <a:buFont typeface="Arial"/>
              <a:buChar char="•"/>
            </a:pPr>
            <a:r>
              <a:rPr lang="en-US" b="true" sz="2199">
                <a:solidFill>
                  <a:srgbClr val="000000"/>
                </a:solidFill>
                <a:latin typeface="Open Sans 1 Bold"/>
                <a:ea typeface="Open Sans 1 Bold"/>
                <a:cs typeface="Open Sans 1 Bold"/>
                <a:sym typeface="Open Sans 1 Bold"/>
              </a:rPr>
              <a:t>Data Collection:</a:t>
            </a:r>
            <a:r>
              <a:rPr lang="en-US" sz="2199">
                <a:solidFill>
                  <a:srgbClr val="000000"/>
                </a:solidFill>
                <a:latin typeface="Open Sans 1"/>
                <a:ea typeface="Open Sans 1"/>
                <a:cs typeface="Open Sans 1"/>
                <a:sym typeface="Open Sans 1"/>
              </a:rPr>
              <a:t> Gather data on workout types, calorie burn, heart rate, weather (hot, cold, moderate), and locations (urban, nature, high altitude).</a:t>
            </a:r>
          </a:p>
          <a:p>
            <a:pPr algn="l">
              <a:lnSpc>
                <a:spcPts val="2441"/>
              </a:lnSpc>
            </a:pPr>
          </a:p>
          <a:p>
            <a:pPr algn="l" marL="474979" indent="-237490" lvl="1">
              <a:lnSpc>
                <a:spcPts val="2441"/>
              </a:lnSpc>
              <a:buFont typeface="Arial"/>
              <a:buChar char="•"/>
            </a:pPr>
            <a:r>
              <a:rPr lang="en-US" b="true" sz="2199">
                <a:solidFill>
                  <a:srgbClr val="000000"/>
                </a:solidFill>
                <a:latin typeface="Open Sans 1 Bold"/>
                <a:ea typeface="Open Sans 1 Bold"/>
                <a:cs typeface="Open Sans 1 Bold"/>
                <a:sym typeface="Open Sans 1 Bold"/>
              </a:rPr>
              <a:t>Data Preparation:</a:t>
            </a:r>
            <a:r>
              <a:rPr lang="en-US" sz="2199">
                <a:solidFill>
                  <a:srgbClr val="000000"/>
                </a:solidFill>
                <a:latin typeface="Open Sans 1"/>
                <a:ea typeface="Open Sans 1"/>
                <a:cs typeface="Open Sans 1"/>
                <a:sym typeface="Open Sans 1"/>
              </a:rPr>
              <a:t> Clean and normalize data for accurate comparisons across metrics.</a:t>
            </a:r>
          </a:p>
          <a:p>
            <a:pPr algn="l">
              <a:lnSpc>
                <a:spcPts val="2441"/>
              </a:lnSpc>
            </a:pPr>
          </a:p>
          <a:p>
            <a:pPr algn="l" marL="474979" indent="-237490" lvl="1">
              <a:lnSpc>
                <a:spcPts val="2441"/>
              </a:lnSpc>
              <a:buFont typeface="Arial"/>
              <a:buChar char="•"/>
            </a:pPr>
            <a:r>
              <a:rPr lang="en-US" b="true" sz="2199">
                <a:solidFill>
                  <a:srgbClr val="000000"/>
                </a:solidFill>
                <a:latin typeface="Open Sans 1 Bold"/>
                <a:ea typeface="Open Sans 1 Bold"/>
                <a:cs typeface="Open Sans 1 Bold"/>
                <a:sym typeface="Open Sans 1 Bold"/>
              </a:rPr>
              <a:t>Visualization Techniques: </a:t>
            </a:r>
            <a:r>
              <a:rPr lang="en-US" sz="2199">
                <a:solidFill>
                  <a:srgbClr val="000000"/>
                </a:solidFill>
                <a:latin typeface="Open Sans 1"/>
                <a:ea typeface="Open Sans 1"/>
                <a:cs typeface="Open Sans 1"/>
                <a:sym typeface="Open Sans 1"/>
              </a:rPr>
              <a:t>Use bar charts, scatter plots, heatmaps, and box plots to highlight trends, variability, and correlations</a:t>
            </a:r>
          </a:p>
          <a:p>
            <a:pPr algn="l">
              <a:lnSpc>
                <a:spcPts val="2441"/>
              </a:lnSpc>
            </a:pPr>
          </a:p>
          <a:p>
            <a:pPr algn="l" marL="474979" indent="-237490" lvl="1">
              <a:lnSpc>
                <a:spcPts val="2441"/>
              </a:lnSpc>
              <a:buFont typeface="Arial"/>
              <a:buChar char="•"/>
            </a:pPr>
            <a:r>
              <a:rPr lang="en-US" b="true" sz="2199">
                <a:solidFill>
                  <a:srgbClr val="000000"/>
                </a:solidFill>
                <a:latin typeface="Open Sans 1 Bold"/>
                <a:ea typeface="Open Sans 1 Bold"/>
                <a:cs typeface="Open Sans 1 Bold"/>
                <a:sym typeface="Open Sans 1 Bold"/>
              </a:rPr>
              <a:t>Insights and Tools:</a:t>
            </a:r>
            <a:r>
              <a:rPr lang="en-US" sz="2199">
                <a:solidFill>
                  <a:srgbClr val="000000"/>
                </a:solidFill>
                <a:latin typeface="Open Sans 1"/>
                <a:ea typeface="Open Sans 1"/>
                <a:cs typeface="Open Sans 1"/>
                <a:sym typeface="Open Sans 1"/>
              </a:rPr>
              <a:t> Present key findings with Python libraries (Matplotlib, Seaborn) or interactive dashboards like Tableau for impactful storytelling.</a:t>
            </a:r>
          </a:p>
        </p:txBody>
      </p:sp>
      <p:grpSp>
        <p:nvGrpSpPr>
          <p:cNvPr name="Group 4" id="4"/>
          <p:cNvGrpSpPr/>
          <p:nvPr/>
        </p:nvGrpSpPr>
        <p:grpSpPr>
          <a:xfrm rot="0">
            <a:off x="7356778" y="1211013"/>
            <a:ext cx="3048287" cy="602632"/>
            <a:chOff x="0" y="0"/>
            <a:chExt cx="802841" cy="158718"/>
          </a:xfrm>
        </p:grpSpPr>
        <p:sp>
          <p:nvSpPr>
            <p:cNvPr name="Freeform 5" id="5"/>
            <p:cNvSpPr/>
            <p:nvPr/>
          </p:nvSpPr>
          <p:spPr>
            <a:xfrm flipH="false" flipV="false" rot="0">
              <a:off x="0" y="0"/>
              <a:ext cx="802841" cy="158718"/>
            </a:xfrm>
            <a:custGeom>
              <a:avLst/>
              <a:gdLst/>
              <a:ahLst/>
              <a:cxnLst/>
              <a:rect r="r" b="b" t="t" l="l"/>
              <a:pathLst>
                <a:path h="158718" w="802841">
                  <a:moveTo>
                    <a:pt x="79359" y="0"/>
                  </a:moveTo>
                  <a:lnTo>
                    <a:pt x="723482" y="0"/>
                  </a:lnTo>
                  <a:cubicBezTo>
                    <a:pt x="744529" y="0"/>
                    <a:pt x="764715" y="8361"/>
                    <a:pt x="779597" y="23244"/>
                  </a:cubicBezTo>
                  <a:cubicBezTo>
                    <a:pt x="794480" y="38126"/>
                    <a:pt x="802841" y="58312"/>
                    <a:pt x="802841" y="79359"/>
                  </a:cubicBezTo>
                  <a:lnTo>
                    <a:pt x="802841" y="79359"/>
                  </a:lnTo>
                  <a:cubicBezTo>
                    <a:pt x="802841" y="100406"/>
                    <a:pt x="794480" y="120591"/>
                    <a:pt x="779597" y="135474"/>
                  </a:cubicBezTo>
                  <a:cubicBezTo>
                    <a:pt x="764715" y="150357"/>
                    <a:pt x="744529" y="158718"/>
                    <a:pt x="723482" y="158718"/>
                  </a:cubicBezTo>
                  <a:lnTo>
                    <a:pt x="79359" y="158718"/>
                  </a:lnTo>
                  <a:cubicBezTo>
                    <a:pt x="58312" y="158718"/>
                    <a:pt x="38126" y="150357"/>
                    <a:pt x="23244" y="135474"/>
                  </a:cubicBezTo>
                  <a:cubicBezTo>
                    <a:pt x="8361" y="120591"/>
                    <a:pt x="0" y="100406"/>
                    <a:pt x="0" y="79359"/>
                  </a:cubicBezTo>
                  <a:lnTo>
                    <a:pt x="0" y="79359"/>
                  </a:lnTo>
                  <a:cubicBezTo>
                    <a:pt x="0" y="58312"/>
                    <a:pt x="8361" y="38126"/>
                    <a:pt x="23244" y="23244"/>
                  </a:cubicBezTo>
                  <a:cubicBezTo>
                    <a:pt x="38126" y="8361"/>
                    <a:pt x="58312" y="0"/>
                    <a:pt x="79359" y="0"/>
                  </a:cubicBezTo>
                  <a:close/>
                </a:path>
              </a:pathLst>
            </a:custGeom>
            <a:solidFill>
              <a:srgbClr val="8AB7E2">
                <a:alpha val="60000"/>
              </a:srgbClr>
            </a:solidFill>
          </p:spPr>
        </p:sp>
        <p:sp>
          <p:nvSpPr>
            <p:cNvPr name="TextBox 6" id="6"/>
            <p:cNvSpPr txBox="true"/>
            <p:nvPr/>
          </p:nvSpPr>
          <p:spPr>
            <a:xfrm>
              <a:off x="0" y="28575"/>
              <a:ext cx="802841" cy="130143"/>
            </a:xfrm>
            <a:prstGeom prst="rect">
              <a:avLst/>
            </a:prstGeom>
          </p:spPr>
          <p:txBody>
            <a:bodyPr anchor="ctr" rtlCol="false" tIns="50800" lIns="50800" bIns="50800" rIns="50800"/>
            <a:lstStyle/>
            <a:p>
              <a:pPr algn="ctr">
                <a:lnSpc>
                  <a:spcPts val="2266"/>
                </a:lnSpc>
              </a:pPr>
            </a:p>
          </p:txBody>
        </p:sp>
      </p:grpSp>
      <p:sp>
        <p:nvSpPr>
          <p:cNvPr name="Freeform 7" id="7"/>
          <p:cNvSpPr/>
          <p:nvPr/>
        </p:nvSpPr>
        <p:spPr>
          <a:xfrm flipH="false" flipV="false" rot="0">
            <a:off x="10580211" y="1028700"/>
            <a:ext cx="1061836" cy="1087541"/>
          </a:xfrm>
          <a:custGeom>
            <a:avLst/>
            <a:gdLst/>
            <a:ahLst/>
            <a:cxnLst/>
            <a:rect r="r" b="b" t="t" l="l"/>
            <a:pathLst>
              <a:path h="1087541" w="1061836">
                <a:moveTo>
                  <a:pt x="0" y="0"/>
                </a:moveTo>
                <a:lnTo>
                  <a:pt x="1061836" y="0"/>
                </a:lnTo>
                <a:lnTo>
                  <a:pt x="1061836" y="1087541"/>
                </a:lnTo>
                <a:lnTo>
                  <a:pt x="0" y="10875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7292310" y="1331297"/>
            <a:ext cx="3048287" cy="482348"/>
            <a:chOff x="0" y="0"/>
            <a:chExt cx="802841" cy="127038"/>
          </a:xfrm>
        </p:grpSpPr>
        <p:sp>
          <p:nvSpPr>
            <p:cNvPr name="Freeform 9" id="9"/>
            <p:cNvSpPr/>
            <p:nvPr/>
          </p:nvSpPr>
          <p:spPr>
            <a:xfrm flipH="false" flipV="false" rot="0">
              <a:off x="0" y="0"/>
              <a:ext cx="802841" cy="127038"/>
            </a:xfrm>
            <a:custGeom>
              <a:avLst/>
              <a:gdLst/>
              <a:ahLst/>
              <a:cxnLst/>
              <a:rect r="r" b="b" t="t" l="l"/>
              <a:pathLst>
                <a:path h="127038" w="802841">
                  <a:moveTo>
                    <a:pt x="63519" y="0"/>
                  </a:moveTo>
                  <a:lnTo>
                    <a:pt x="739322" y="0"/>
                  </a:lnTo>
                  <a:cubicBezTo>
                    <a:pt x="774402" y="0"/>
                    <a:pt x="802841" y="28438"/>
                    <a:pt x="802841" y="63519"/>
                  </a:cubicBezTo>
                  <a:lnTo>
                    <a:pt x="802841" y="63519"/>
                  </a:lnTo>
                  <a:cubicBezTo>
                    <a:pt x="802841" y="80365"/>
                    <a:pt x="796149" y="96522"/>
                    <a:pt x="784237" y="108434"/>
                  </a:cubicBezTo>
                  <a:cubicBezTo>
                    <a:pt x="772324" y="120346"/>
                    <a:pt x="756168" y="127038"/>
                    <a:pt x="739322" y="127038"/>
                  </a:cubicBezTo>
                  <a:lnTo>
                    <a:pt x="63519" y="127038"/>
                  </a:lnTo>
                  <a:cubicBezTo>
                    <a:pt x="46673" y="127038"/>
                    <a:pt x="30516" y="120346"/>
                    <a:pt x="18604" y="108434"/>
                  </a:cubicBezTo>
                  <a:cubicBezTo>
                    <a:pt x="6692" y="96522"/>
                    <a:pt x="0" y="80365"/>
                    <a:pt x="0" y="63519"/>
                  </a:cubicBezTo>
                  <a:lnTo>
                    <a:pt x="0" y="63519"/>
                  </a:lnTo>
                  <a:cubicBezTo>
                    <a:pt x="0" y="46673"/>
                    <a:pt x="6692" y="30516"/>
                    <a:pt x="18604" y="18604"/>
                  </a:cubicBezTo>
                  <a:cubicBezTo>
                    <a:pt x="30516" y="6692"/>
                    <a:pt x="46673" y="0"/>
                    <a:pt x="63519" y="0"/>
                  </a:cubicBezTo>
                  <a:close/>
                </a:path>
              </a:pathLst>
            </a:custGeom>
            <a:solidFill>
              <a:srgbClr val="ED9AC2">
                <a:alpha val="60000"/>
              </a:srgbClr>
            </a:solidFill>
          </p:spPr>
        </p:sp>
        <p:sp>
          <p:nvSpPr>
            <p:cNvPr name="TextBox 10" id="10"/>
            <p:cNvSpPr txBox="true"/>
            <p:nvPr/>
          </p:nvSpPr>
          <p:spPr>
            <a:xfrm>
              <a:off x="0" y="28575"/>
              <a:ext cx="802841" cy="98463"/>
            </a:xfrm>
            <a:prstGeom prst="rect">
              <a:avLst/>
            </a:prstGeom>
          </p:spPr>
          <p:txBody>
            <a:bodyPr anchor="ctr" rtlCol="false" tIns="50800" lIns="50800" bIns="50800" rIns="50800"/>
            <a:lstStyle/>
            <a:p>
              <a:pPr algn="ctr">
                <a:lnSpc>
                  <a:spcPts val="2266"/>
                </a:lnSpc>
              </a:pPr>
            </a:p>
          </p:txBody>
        </p:sp>
      </p:grpSp>
      <p:sp>
        <p:nvSpPr>
          <p:cNvPr name="TextBox 11" id="11"/>
          <p:cNvSpPr txBox="true"/>
          <p:nvPr/>
        </p:nvSpPr>
        <p:spPr>
          <a:xfrm rot="0">
            <a:off x="7431876" y="1226522"/>
            <a:ext cx="2769156" cy="587123"/>
          </a:xfrm>
          <a:prstGeom prst="rect">
            <a:avLst/>
          </a:prstGeom>
        </p:spPr>
        <p:txBody>
          <a:bodyPr anchor="t" rtlCol="false" tIns="0" lIns="0" bIns="0" rIns="0">
            <a:spAutoFit/>
          </a:bodyPr>
          <a:lstStyle/>
          <a:p>
            <a:pPr algn="ctr">
              <a:lnSpc>
                <a:spcPts val="4991"/>
              </a:lnSpc>
              <a:spcBef>
                <a:spcPct val="0"/>
              </a:spcBef>
            </a:pPr>
            <a:r>
              <a:rPr lang="en-US" b="true" sz="3199">
                <a:solidFill>
                  <a:srgbClr val="000000"/>
                </a:solidFill>
                <a:latin typeface="Open Sans 1 Bold"/>
                <a:ea typeface="Open Sans 1 Bold"/>
                <a:cs typeface="Open Sans 1 Bold"/>
                <a:sym typeface="Open Sans 1 Bold"/>
              </a:rPr>
              <a:t>Methodology </a:t>
            </a:r>
          </a:p>
        </p:txBody>
      </p:sp>
      <p:sp>
        <p:nvSpPr>
          <p:cNvPr name="Freeform 12" id="12"/>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4" id="14"/>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5" id="15"/>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grpSp>
        <p:nvGrpSpPr>
          <p:cNvPr name="Group 16" id="16"/>
          <p:cNvGrpSpPr/>
          <p:nvPr/>
        </p:nvGrpSpPr>
        <p:grpSpPr>
          <a:xfrm rot="0">
            <a:off x="16036796" y="8606772"/>
            <a:ext cx="1523222" cy="1575919"/>
            <a:chOff x="0" y="0"/>
            <a:chExt cx="2030962" cy="2101225"/>
          </a:xfrm>
        </p:grpSpPr>
        <p:sp>
          <p:nvSpPr>
            <p:cNvPr name="Freeform 17" id="17"/>
            <p:cNvSpPr/>
            <p:nvPr/>
          </p:nvSpPr>
          <p:spPr>
            <a:xfrm flipH="false" flipV="false" rot="0">
              <a:off x="0" y="0"/>
              <a:ext cx="1897200" cy="2101225"/>
            </a:xfrm>
            <a:custGeom>
              <a:avLst/>
              <a:gdLst/>
              <a:ahLst/>
              <a:cxnLst/>
              <a:rect r="r" b="b" t="t" l="l"/>
              <a:pathLst>
                <a:path h="2101225" w="1897200">
                  <a:moveTo>
                    <a:pt x="0" y="0"/>
                  </a:moveTo>
                  <a:lnTo>
                    <a:pt x="1897200" y="0"/>
                  </a:lnTo>
                  <a:lnTo>
                    <a:pt x="1897200" y="2101225"/>
                  </a:lnTo>
                  <a:lnTo>
                    <a:pt x="0" y="21012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8" id="18"/>
            <p:cNvSpPr/>
            <p:nvPr/>
          </p:nvSpPr>
          <p:spPr>
            <a:xfrm flipH="false" flipV="false" rot="0">
              <a:off x="217753" y="93023"/>
              <a:ext cx="1813209" cy="2008202"/>
            </a:xfrm>
            <a:custGeom>
              <a:avLst/>
              <a:gdLst/>
              <a:ahLst/>
              <a:cxnLst/>
              <a:rect r="r" b="b" t="t" l="l"/>
              <a:pathLst>
                <a:path h="2008202" w="1813209">
                  <a:moveTo>
                    <a:pt x="0" y="0"/>
                  </a:moveTo>
                  <a:lnTo>
                    <a:pt x="1813209" y="0"/>
                  </a:lnTo>
                  <a:lnTo>
                    <a:pt x="1813209" y="2008202"/>
                  </a:lnTo>
                  <a:lnTo>
                    <a:pt x="0" y="20082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4207146" y="690090"/>
            <a:ext cx="11843752" cy="8906821"/>
          </a:xfrm>
          <a:custGeom>
            <a:avLst/>
            <a:gdLst/>
            <a:ahLst/>
            <a:cxnLst/>
            <a:rect r="r" b="b" t="t" l="l"/>
            <a:pathLst>
              <a:path h="8906821" w="11843752">
                <a:moveTo>
                  <a:pt x="0" y="0"/>
                </a:moveTo>
                <a:lnTo>
                  <a:pt x="11843752" y="0"/>
                </a:lnTo>
                <a:lnTo>
                  <a:pt x="11843752" y="8906820"/>
                </a:lnTo>
                <a:lnTo>
                  <a:pt x="0" y="8906820"/>
                </a:lnTo>
                <a:lnTo>
                  <a:pt x="0" y="0"/>
                </a:lnTo>
                <a:close/>
              </a:path>
            </a:pathLst>
          </a:custGeom>
          <a:blipFill>
            <a:blip r:embed="rId3"/>
            <a:stretch>
              <a:fillRect l="0" t="0" r="-774" b="0"/>
            </a:stretch>
          </a:blipFill>
        </p:spPr>
      </p:sp>
      <p:sp>
        <p:nvSpPr>
          <p:cNvPr name="Freeform 4" id="4"/>
          <p:cNvSpPr/>
          <p:nvPr/>
        </p:nvSpPr>
        <p:spPr>
          <a:xfrm flipH="false" flipV="false" rot="0">
            <a:off x="155207" y="-6515161"/>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2898" y="8669864"/>
            <a:ext cx="2587020" cy="2386526"/>
          </a:xfrm>
          <a:custGeom>
            <a:avLst/>
            <a:gdLst/>
            <a:ahLst/>
            <a:cxnLst/>
            <a:rect r="r" b="b" t="t" l="l"/>
            <a:pathLst>
              <a:path h="2386526" w="2587020">
                <a:moveTo>
                  <a:pt x="0" y="0"/>
                </a:moveTo>
                <a:lnTo>
                  <a:pt x="2587020" y="0"/>
                </a:lnTo>
                <a:lnTo>
                  <a:pt x="2587020"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true" flipV="false" rot="0">
            <a:off x="2524969" y="2333112"/>
            <a:ext cx="1291684" cy="1291684"/>
          </a:xfrm>
          <a:custGeom>
            <a:avLst/>
            <a:gdLst/>
            <a:ahLst/>
            <a:cxnLst/>
            <a:rect r="r" b="b" t="t" l="l"/>
            <a:pathLst>
              <a:path h="1291684" w="1291684">
                <a:moveTo>
                  <a:pt x="1291684" y="0"/>
                </a:moveTo>
                <a:lnTo>
                  <a:pt x="0" y="0"/>
                </a:lnTo>
                <a:lnTo>
                  <a:pt x="0" y="1291684"/>
                </a:lnTo>
                <a:lnTo>
                  <a:pt x="1291684" y="1291684"/>
                </a:lnTo>
                <a:lnTo>
                  <a:pt x="129168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16489048" y="8305226"/>
            <a:ext cx="1291684" cy="1291684"/>
          </a:xfrm>
          <a:custGeom>
            <a:avLst/>
            <a:gdLst/>
            <a:ahLst/>
            <a:cxnLst/>
            <a:rect r="r" b="b" t="t" l="l"/>
            <a:pathLst>
              <a:path h="1291684" w="1291684">
                <a:moveTo>
                  <a:pt x="1291684" y="0"/>
                </a:moveTo>
                <a:lnTo>
                  <a:pt x="0" y="0"/>
                </a:lnTo>
                <a:lnTo>
                  <a:pt x="0" y="1291684"/>
                </a:lnTo>
                <a:lnTo>
                  <a:pt x="1291684" y="1291684"/>
                </a:lnTo>
                <a:lnTo>
                  <a:pt x="129168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530647" y="-880665"/>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0">
            <a:off x="16441423" y="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166997" y="418718"/>
            <a:ext cx="17954007" cy="1115189"/>
          </a:xfrm>
          <a:prstGeom prst="rect">
            <a:avLst/>
          </a:prstGeom>
        </p:spPr>
        <p:txBody>
          <a:bodyPr anchor="t" rtlCol="false" tIns="0" lIns="0" bIns="0" rIns="0">
            <a:spAutoFit/>
          </a:bodyPr>
          <a:lstStyle/>
          <a:p>
            <a:pPr algn="ctr">
              <a:lnSpc>
                <a:spcPts val="4523"/>
              </a:lnSpc>
              <a:spcBef>
                <a:spcPct val="0"/>
              </a:spcBef>
            </a:pPr>
            <a:r>
              <a:rPr lang="en-US" b="true" sz="2899">
                <a:solidFill>
                  <a:srgbClr val="000000"/>
                </a:solidFill>
                <a:latin typeface="Open Sans 1 Bold"/>
                <a:ea typeface="Open Sans 1 Bold"/>
                <a:cs typeface="Open Sans 1 Bold"/>
                <a:sym typeface="Open Sans 1 Bold"/>
              </a:rPr>
              <a:t>Q2. </a:t>
            </a:r>
            <a:r>
              <a:rPr lang="en-US" b="true" sz="2899">
                <a:solidFill>
                  <a:srgbClr val="000000"/>
                </a:solidFill>
                <a:latin typeface="Open Sans 1 Bold"/>
                <a:ea typeface="Open Sans 1 Bold"/>
                <a:cs typeface="Open Sans 1 Bold"/>
                <a:sym typeface="Open Sans 1 Bold"/>
              </a:rPr>
              <a:t>Is there a relationship between sleep hours and mood, and does this relationship vary based on activity levels (steps, active minutes)?</a:t>
            </a:r>
          </a:p>
        </p:txBody>
      </p:sp>
      <p:sp>
        <p:nvSpPr>
          <p:cNvPr name="Freeform 4" id="4"/>
          <p:cNvSpPr/>
          <p:nvPr/>
        </p:nvSpPr>
        <p:spPr>
          <a:xfrm flipH="false" flipV="false" rot="0">
            <a:off x="2104321" y="1714009"/>
            <a:ext cx="14079358" cy="8394817"/>
          </a:xfrm>
          <a:custGeom>
            <a:avLst/>
            <a:gdLst/>
            <a:ahLst/>
            <a:cxnLst/>
            <a:rect r="r" b="b" t="t" l="l"/>
            <a:pathLst>
              <a:path h="8394817" w="14079358">
                <a:moveTo>
                  <a:pt x="0" y="0"/>
                </a:moveTo>
                <a:lnTo>
                  <a:pt x="14079358" y="0"/>
                </a:lnTo>
                <a:lnTo>
                  <a:pt x="14079358" y="8394817"/>
                </a:lnTo>
                <a:lnTo>
                  <a:pt x="0" y="8394817"/>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0580211" y="243756"/>
            <a:ext cx="1061836" cy="1087541"/>
          </a:xfrm>
          <a:custGeom>
            <a:avLst/>
            <a:gdLst/>
            <a:ahLst/>
            <a:cxnLst/>
            <a:rect r="r" b="b" t="t" l="l"/>
            <a:pathLst>
              <a:path h="1087541" w="1061836">
                <a:moveTo>
                  <a:pt x="0" y="0"/>
                </a:moveTo>
                <a:lnTo>
                  <a:pt x="1061836" y="0"/>
                </a:lnTo>
                <a:lnTo>
                  <a:pt x="1061836" y="1087541"/>
                </a:lnTo>
                <a:lnTo>
                  <a:pt x="0" y="10875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759422" y="441577"/>
            <a:ext cx="2769156" cy="587123"/>
          </a:xfrm>
          <a:prstGeom prst="rect">
            <a:avLst/>
          </a:prstGeom>
        </p:spPr>
        <p:txBody>
          <a:bodyPr anchor="t" rtlCol="false" tIns="0" lIns="0" bIns="0" rIns="0">
            <a:spAutoFit/>
          </a:bodyPr>
          <a:lstStyle/>
          <a:p>
            <a:pPr algn="ctr">
              <a:lnSpc>
                <a:spcPts val="4991"/>
              </a:lnSpc>
              <a:spcBef>
                <a:spcPct val="0"/>
              </a:spcBef>
            </a:pPr>
            <a:r>
              <a:rPr lang="en-US" b="true" sz="3199">
                <a:solidFill>
                  <a:srgbClr val="000000"/>
                </a:solidFill>
                <a:latin typeface="Open Sans 1 Bold"/>
                <a:ea typeface="Open Sans 1 Bold"/>
                <a:cs typeface="Open Sans 1 Bold"/>
                <a:sym typeface="Open Sans 1 Bold"/>
              </a:rPr>
              <a:t>Methodology </a:t>
            </a:r>
          </a:p>
        </p:txBody>
      </p:sp>
      <p:grpSp>
        <p:nvGrpSpPr>
          <p:cNvPr name="Group 5" id="5"/>
          <p:cNvGrpSpPr/>
          <p:nvPr/>
        </p:nvGrpSpPr>
        <p:grpSpPr>
          <a:xfrm rot="0">
            <a:off x="1016963" y="2458870"/>
            <a:ext cx="15313522" cy="5371583"/>
            <a:chOff x="0" y="0"/>
            <a:chExt cx="6315885" cy="2215447"/>
          </a:xfrm>
        </p:grpSpPr>
        <p:sp>
          <p:nvSpPr>
            <p:cNvPr name="Freeform 6" id="6"/>
            <p:cNvSpPr/>
            <p:nvPr/>
          </p:nvSpPr>
          <p:spPr>
            <a:xfrm flipH="false" flipV="false" rot="0">
              <a:off x="0" y="0"/>
              <a:ext cx="6315885" cy="2215447"/>
            </a:xfrm>
            <a:custGeom>
              <a:avLst/>
              <a:gdLst/>
              <a:ahLst/>
              <a:cxnLst/>
              <a:rect r="r" b="b" t="t" l="l"/>
              <a:pathLst>
                <a:path h="2215447" w="6315885">
                  <a:moveTo>
                    <a:pt x="6191425" y="2215447"/>
                  </a:moveTo>
                  <a:lnTo>
                    <a:pt x="124460" y="2215447"/>
                  </a:lnTo>
                  <a:cubicBezTo>
                    <a:pt x="55880" y="2215447"/>
                    <a:pt x="0" y="2159567"/>
                    <a:pt x="0" y="2090987"/>
                  </a:cubicBezTo>
                  <a:lnTo>
                    <a:pt x="0" y="124460"/>
                  </a:lnTo>
                  <a:cubicBezTo>
                    <a:pt x="0" y="55880"/>
                    <a:pt x="55880" y="0"/>
                    <a:pt x="124460" y="0"/>
                  </a:cubicBezTo>
                  <a:lnTo>
                    <a:pt x="6191425" y="0"/>
                  </a:lnTo>
                  <a:cubicBezTo>
                    <a:pt x="6260005" y="0"/>
                    <a:pt x="6315885" y="55880"/>
                    <a:pt x="6315885" y="124460"/>
                  </a:cubicBezTo>
                  <a:lnTo>
                    <a:pt x="6315885" y="2090987"/>
                  </a:lnTo>
                  <a:cubicBezTo>
                    <a:pt x="6315885" y="2159567"/>
                    <a:pt x="6260005" y="2215447"/>
                    <a:pt x="6191425" y="2215447"/>
                  </a:cubicBezTo>
                  <a:close/>
                </a:path>
              </a:pathLst>
            </a:custGeom>
            <a:solidFill>
              <a:srgbClr val="D6DCFF"/>
            </a:solidFill>
          </p:spPr>
        </p:sp>
      </p:grpSp>
      <p:sp>
        <p:nvSpPr>
          <p:cNvPr name="TextBox 7" id="7"/>
          <p:cNvSpPr txBox="true"/>
          <p:nvPr/>
        </p:nvSpPr>
        <p:spPr>
          <a:xfrm rot="0">
            <a:off x="1274789" y="2707888"/>
            <a:ext cx="14862721" cy="4205186"/>
          </a:xfrm>
          <a:prstGeom prst="rect">
            <a:avLst/>
          </a:prstGeom>
        </p:spPr>
        <p:txBody>
          <a:bodyPr anchor="t" rtlCol="false" tIns="0" lIns="0" bIns="0" rIns="0">
            <a:spAutoFit/>
          </a:bodyPr>
          <a:lstStyle/>
          <a:p>
            <a:pPr algn="l">
              <a:lnSpc>
                <a:spcPts val="3909"/>
              </a:lnSpc>
            </a:pPr>
          </a:p>
          <a:p>
            <a:pPr algn="l" marL="602900" indent="-301450" lvl="1">
              <a:lnSpc>
                <a:spcPts val="3909"/>
              </a:lnSpc>
              <a:buFont typeface="Arial"/>
              <a:buChar char="•"/>
            </a:pPr>
            <a:r>
              <a:rPr lang="en-US" b="true" sz="2792">
                <a:solidFill>
                  <a:srgbClr val="000000"/>
                </a:solidFill>
                <a:latin typeface="Open Sans 2 Bold"/>
                <a:ea typeface="Open Sans 2 Bold"/>
                <a:cs typeface="Open Sans 2 Bold"/>
                <a:sym typeface="Open Sans 2 Bold"/>
              </a:rPr>
              <a:t>Objective: </a:t>
            </a:r>
            <a:r>
              <a:rPr lang="en-US" sz="2792">
                <a:solidFill>
                  <a:srgbClr val="000000"/>
                </a:solidFill>
                <a:latin typeface="Open Sans 2"/>
                <a:ea typeface="Open Sans 2"/>
                <a:cs typeface="Open Sans 2"/>
                <a:sym typeface="Open Sans 2"/>
              </a:rPr>
              <a:t>Study how sleep hours affect mood and vary with activity levels.</a:t>
            </a:r>
          </a:p>
          <a:p>
            <a:pPr algn="l">
              <a:lnSpc>
                <a:spcPts val="1396"/>
              </a:lnSpc>
            </a:pPr>
          </a:p>
          <a:p>
            <a:pPr algn="l" marL="602900" indent="-301450" lvl="1">
              <a:lnSpc>
                <a:spcPts val="3909"/>
              </a:lnSpc>
              <a:buFont typeface="Arial"/>
              <a:buChar char="•"/>
            </a:pPr>
            <a:r>
              <a:rPr lang="en-US" b="true" sz="2792">
                <a:solidFill>
                  <a:srgbClr val="000000"/>
                </a:solidFill>
                <a:latin typeface="Open Sans 2 Bold"/>
                <a:ea typeface="Open Sans 2 Bold"/>
                <a:cs typeface="Open Sans 2 Bold"/>
                <a:sym typeface="Open Sans 2 Bold"/>
              </a:rPr>
              <a:t>Data:</a:t>
            </a:r>
            <a:r>
              <a:rPr lang="en-US" sz="2792">
                <a:solidFill>
                  <a:srgbClr val="000000"/>
                </a:solidFill>
                <a:latin typeface="Open Sans 2"/>
                <a:ea typeface="Open Sans 2"/>
                <a:cs typeface="Open Sans 2"/>
                <a:sym typeface="Open Sans 2"/>
              </a:rPr>
              <a:t> Collect sleep, mood scores, steps, and active minutes over time.</a:t>
            </a:r>
          </a:p>
          <a:p>
            <a:pPr algn="l">
              <a:lnSpc>
                <a:spcPts val="3909"/>
              </a:lnSpc>
            </a:pPr>
          </a:p>
          <a:p>
            <a:pPr algn="l" marL="602900" indent="-301450" lvl="1">
              <a:lnSpc>
                <a:spcPts val="1396"/>
              </a:lnSpc>
              <a:buFont typeface="Arial"/>
              <a:buChar char="•"/>
            </a:pPr>
            <a:r>
              <a:rPr lang="en-US" b="true" sz="2792">
                <a:solidFill>
                  <a:srgbClr val="000000"/>
                </a:solidFill>
                <a:latin typeface="Open Sans 2 Bold"/>
                <a:ea typeface="Open Sans 2 Bold"/>
                <a:cs typeface="Open Sans 2 Bold"/>
                <a:sym typeface="Open Sans 2 Bold"/>
              </a:rPr>
              <a:t>Preparation: </a:t>
            </a:r>
            <a:r>
              <a:rPr lang="en-US" sz="2792">
                <a:solidFill>
                  <a:srgbClr val="000000"/>
                </a:solidFill>
                <a:latin typeface="Open Sans 2"/>
                <a:ea typeface="Open Sans 2"/>
                <a:cs typeface="Open Sans 2"/>
                <a:sym typeface="Open Sans 2"/>
              </a:rPr>
              <a:t>Group sleep into ranges and normalize activity metrics.</a:t>
            </a:r>
          </a:p>
          <a:p>
            <a:pPr algn="l">
              <a:lnSpc>
                <a:spcPts val="3909"/>
              </a:lnSpc>
            </a:pPr>
          </a:p>
          <a:p>
            <a:pPr algn="l" marL="602900" indent="-301450" lvl="1">
              <a:lnSpc>
                <a:spcPts val="3909"/>
              </a:lnSpc>
              <a:buFont typeface="Arial"/>
              <a:buChar char="•"/>
            </a:pPr>
            <a:r>
              <a:rPr lang="en-US" b="true" sz="2792">
                <a:solidFill>
                  <a:srgbClr val="000000"/>
                </a:solidFill>
                <a:latin typeface="Open Sans 2 Bold"/>
                <a:ea typeface="Open Sans 2 Bold"/>
                <a:cs typeface="Open Sans 2 Bold"/>
                <a:sym typeface="Open Sans 2 Bold"/>
              </a:rPr>
              <a:t>Visualization:</a:t>
            </a:r>
            <a:r>
              <a:rPr lang="en-US" sz="2792">
                <a:solidFill>
                  <a:srgbClr val="000000"/>
                </a:solidFill>
                <a:latin typeface="Open Sans 2"/>
                <a:ea typeface="Open Sans 2"/>
                <a:cs typeface="Open Sans 2"/>
                <a:sym typeface="Open Sans 2"/>
              </a:rPr>
              <a:t> Use bar charts, scatter plots, and heatmaps for trends and correlations.</a:t>
            </a:r>
          </a:p>
          <a:p>
            <a:pPr algn="l">
              <a:lnSpc>
                <a:spcPts val="3909"/>
              </a:lnSpc>
            </a:pPr>
          </a:p>
          <a:p>
            <a:pPr algn="l" marL="602900" indent="-301450" lvl="1">
              <a:lnSpc>
                <a:spcPts val="2569"/>
              </a:lnSpc>
              <a:buFont typeface="Arial"/>
              <a:buChar char="•"/>
            </a:pPr>
            <a:r>
              <a:rPr lang="en-US" b="true" sz="2792">
                <a:solidFill>
                  <a:srgbClr val="000000"/>
                </a:solidFill>
                <a:latin typeface="Open Sans 2 Bold"/>
                <a:ea typeface="Open Sans 2 Bold"/>
                <a:cs typeface="Open Sans 2 Bold"/>
                <a:sym typeface="Open Sans 2 Bold"/>
              </a:rPr>
              <a:t>Insights: </a:t>
            </a:r>
            <a:r>
              <a:rPr lang="en-US" sz="2792">
                <a:solidFill>
                  <a:srgbClr val="000000"/>
                </a:solidFill>
                <a:latin typeface="Open Sans 2"/>
                <a:ea typeface="Open Sans 2"/>
                <a:cs typeface="Open Sans 2"/>
                <a:sym typeface="Open Sans 2"/>
              </a:rPr>
              <a:t>Highlight optimal sleep for moods and activity’s influence on stress.</a:t>
            </a:r>
          </a:p>
        </p:txBody>
      </p:sp>
      <p:sp>
        <p:nvSpPr>
          <p:cNvPr name="Freeform 8" id="8"/>
          <p:cNvSpPr/>
          <p:nvPr/>
        </p:nvSpPr>
        <p:spPr>
          <a:xfrm flipH="false" flipV="false" rot="0">
            <a:off x="15401670" y="8082002"/>
            <a:ext cx="1857630" cy="2057400"/>
          </a:xfrm>
          <a:custGeom>
            <a:avLst/>
            <a:gdLst/>
            <a:ahLst/>
            <a:cxnLst/>
            <a:rect r="r" b="b" t="t" l="l"/>
            <a:pathLst>
              <a:path h="2057400" w="1857630">
                <a:moveTo>
                  <a:pt x="0" y="0"/>
                </a:moveTo>
                <a:lnTo>
                  <a:pt x="1857630" y="0"/>
                </a:lnTo>
                <a:lnTo>
                  <a:pt x="1857630"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670399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2" id="12"/>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3" id="13"/>
          <p:cNvSpPr/>
          <p:nvPr/>
        </p:nvSpPr>
        <p:spPr>
          <a:xfrm flipH="false" flipV="false" rot="0">
            <a:off x="1108727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4" id="14"/>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5" id="15"/>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6" id="16"/>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7" id="17"/>
          <p:cNvSpPr/>
          <p:nvPr/>
        </p:nvSpPr>
        <p:spPr>
          <a:xfrm flipH="false" flipV="false" rot="0">
            <a:off x="3343764"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8" id="18"/>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9" id="19"/>
          <p:cNvSpPr/>
          <p:nvPr/>
        </p:nvSpPr>
        <p:spPr>
          <a:xfrm flipH="false" flipV="false" rot="0">
            <a:off x="17214217" y="-883818"/>
            <a:ext cx="3104522" cy="3342688"/>
          </a:xfrm>
          <a:custGeom>
            <a:avLst/>
            <a:gdLst/>
            <a:ahLst/>
            <a:cxnLst/>
            <a:rect r="r" b="b" t="t" l="l"/>
            <a:pathLst>
              <a:path h="3342688" w="3104522">
                <a:moveTo>
                  <a:pt x="0" y="0"/>
                </a:moveTo>
                <a:lnTo>
                  <a:pt x="3104521" y="0"/>
                </a:lnTo>
                <a:lnTo>
                  <a:pt x="3104521"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028700" y="1956355"/>
            <a:ext cx="5313932" cy="4357588"/>
          </a:xfrm>
          <a:custGeom>
            <a:avLst/>
            <a:gdLst/>
            <a:ahLst/>
            <a:cxnLst/>
            <a:rect r="r" b="b" t="t" l="l"/>
            <a:pathLst>
              <a:path h="4357588" w="5313932">
                <a:moveTo>
                  <a:pt x="0" y="0"/>
                </a:moveTo>
                <a:lnTo>
                  <a:pt x="5313932" y="0"/>
                </a:lnTo>
                <a:lnTo>
                  <a:pt x="5313932" y="4357588"/>
                </a:lnTo>
                <a:lnTo>
                  <a:pt x="0" y="4357588"/>
                </a:lnTo>
                <a:lnTo>
                  <a:pt x="0" y="0"/>
                </a:lnTo>
                <a:close/>
              </a:path>
            </a:pathLst>
          </a:custGeom>
          <a:blipFill>
            <a:blip r:embed="rId3"/>
            <a:stretch>
              <a:fillRect l="0" t="0" r="-102372" b="-91876"/>
            </a:stretch>
          </a:blipFill>
        </p:spPr>
      </p:sp>
      <p:sp>
        <p:nvSpPr>
          <p:cNvPr name="Freeform 4" id="4"/>
          <p:cNvSpPr/>
          <p:nvPr/>
        </p:nvSpPr>
        <p:spPr>
          <a:xfrm flipH="false" flipV="false" rot="0">
            <a:off x="6865628" y="2048041"/>
            <a:ext cx="5297854" cy="4174216"/>
          </a:xfrm>
          <a:custGeom>
            <a:avLst/>
            <a:gdLst/>
            <a:ahLst/>
            <a:cxnLst/>
            <a:rect r="r" b="b" t="t" l="l"/>
            <a:pathLst>
              <a:path h="4174216" w="5297854">
                <a:moveTo>
                  <a:pt x="0" y="0"/>
                </a:moveTo>
                <a:lnTo>
                  <a:pt x="5297853" y="0"/>
                </a:lnTo>
                <a:lnTo>
                  <a:pt x="5297853" y="4174216"/>
                </a:lnTo>
                <a:lnTo>
                  <a:pt x="0" y="4174216"/>
                </a:lnTo>
                <a:lnTo>
                  <a:pt x="0" y="0"/>
                </a:lnTo>
                <a:close/>
              </a:path>
            </a:pathLst>
          </a:custGeom>
          <a:blipFill>
            <a:blip r:embed="rId3"/>
            <a:stretch>
              <a:fillRect l="-98068" t="0" r="-4918" b="-100306"/>
            </a:stretch>
          </a:blipFill>
        </p:spPr>
      </p:sp>
      <p:sp>
        <p:nvSpPr>
          <p:cNvPr name="Freeform 5" id="5"/>
          <p:cNvSpPr/>
          <p:nvPr/>
        </p:nvSpPr>
        <p:spPr>
          <a:xfrm flipH="false" flipV="false" rot="0">
            <a:off x="17063393" y="-971659"/>
            <a:ext cx="3104522" cy="3342688"/>
          </a:xfrm>
          <a:custGeom>
            <a:avLst/>
            <a:gdLst/>
            <a:ahLst/>
            <a:cxnLst/>
            <a:rect r="r" b="b" t="t" l="l"/>
            <a:pathLst>
              <a:path h="3342688" w="3104522">
                <a:moveTo>
                  <a:pt x="0" y="0"/>
                </a:moveTo>
                <a:lnTo>
                  <a:pt x="3104521" y="0"/>
                </a:lnTo>
                <a:lnTo>
                  <a:pt x="3104521" y="3342689"/>
                </a:lnTo>
                <a:lnTo>
                  <a:pt x="0" y="3342689"/>
                </a:lnTo>
                <a:lnTo>
                  <a:pt x="0" y="0"/>
                </a:lnTo>
                <a:close/>
              </a:path>
            </a:pathLst>
          </a:custGeom>
          <a:blipFill>
            <a:blip r:embed="rId4">
              <a:alphaModFix amt="53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2519593" y="2139727"/>
            <a:ext cx="5297854" cy="4174216"/>
          </a:xfrm>
          <a:custGeom>
            <a:avLst/>
            <a:gdLst/>
            <a:ahLst/>
            <a:cxnLst/>
            <a:rect r="r" b="b" t="t" l="l"/>
            <a:pathLst>
              <a:path h="4174216" w="5297854">
                <a:moveTo>
                  <a:pt x="0" y="0"/>
                </a:moveTo>
                <a:lnTo>
                  <a:pt x="5297854" y="0"/>
                </a:lnTo>
                <a:lnTo>
                  <a:pt x="5297854" y="4174216"/>
                </a:lnTo>
                <a:lnTo>
                  <a:pt x="0" y="4174216"/>
                </a:lnTo>
                <a:lnTo>
                  <a:pt x="0" y="0"/>
                </a:lnTo>
                <a:close/>
              </a:path>
            </a:pathLst>
          </a:custGeom>
          <a:blipFill>
            <a:blip r:embed="rId3"/>
            <a:stretch>
              <a:fillRect l="-6922" t="-100306" r="-96064" b="0"/>
            </a:stretch>
          </a:blipFill>
        </p:spPr>
      </p:sp>
      <p:sp>
        <p:nvSpPr>
          <p:cNvPr name="Freeform 7" id="7"/>
          <p:cNvSpPr/>
          <p:nvPr/>
        </p:nvSpPr>
        <p:spPr>
          <a:xfrm flipH="false" flipV="false" rot="0">
            <a:off x="-2329398" y="9009505"/>
            <a:ext cx="4321762" cy="2949602"/>
          </a:xfrm>
          <a:custGeom>
            <a:avLst/>
            <a:gdLst/>
            <a:ahLst/>
            <a:cxnLst/>
            <a:rect r="r" b="b" t="t" l="l"/>
            <a:pathLst>
              <a:path h="2949602" w="4321762">
                <a:moveTo>
                  <a:pt x="0" y="0"/>
                </a:moveTo>
                <a:lnTo>
                  <a:pt x="4321761" y="0"/>
                </a:lnTo>
                <a:lnTo>
                  <a:pt x="4321761" y="2949602"/>
                </a:lnTo>
                <a:lnTo>
                  <a:pt x="0" y="29496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15349" y="6112784"/>
            <a:ext cx="5297854" cy="4174216"/>
          </a:xfrm>
          <a:custGeom>
            <a:avLst/>
            <a:gdLst/>
            <a:ahLst/>
            <a:cxnLst/>
            <a:rect r="r" b="b" t="t" l="l"/>
            <a:pathLst>
              <a:path h="4174216" w="5297854">
                <a:moveTo>
                  <a:pt x="0" y="0"/>
                </a:moveTo>
                <a:lnTo>
                  <a:pt x="5297854" y="0"/>
                </a:lnTo>
                <a:lnTo>
                  <a:pt x="5297854" y="4174216"/>
                </a:lnTo>
                <a:lnTo>
                  <a:pt x="0" y="4174216"/>
                </a:lnTo>
                <a:lnTo>
                  <a:pt x="0" y="0"/>
                </a:lnTo>
                <a:close/>
              </a:path>
            </a:pathLst>
          </a:custGeom>
          <a:blipFill>
            <a:blip r:embed="rId3"/>
            <a:stretch>
              <a:fillRect l="-100953" t="-99573" r="-2034" b="-732"/>
            </a:stretch>
          </a:blipFill>
        </p:spPr>
      </p:sp>
      <p:sp>
        <p:nvSpPr>
          <p:cNvPr name="Freeform 9" id="9"/>
          <p:cNvSpPr/>
          <p:nvPr/>
        </p:nvSpPr>
        <p:spPr>
          <a:xfrm flipH="false" flipV="false" rot="0">
            <a:off x="375237" y="944789"/>
            <a:ext cx="10113144" cy="1103252"/>
          </a:xfrm>
          <a:custGeom>
            <a:avLst/>
            <a:gdLst/>
            <a:ahLst/>
            <a:cxnLst/>
            <a:rect r="r" b="b" t="t" l="l"/>
            <a:pathLst>
              <a:path h="1103252" w="10113144">
                <a:moveTo>
                  <a:pt x="0" y="0"/>
                </a:moveTo>
                <a:lnTo>
                  <a:pt x="10113144" y="0"/>
                </a:lnTo>
                <a:lnTo>
                  <a:pt x="10113144" y="1103252"/>
                </a:lnTo>
                <a:lnTo>
                  <a:pt x="0" y="11032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7146156" y="944789"/>
            <a:ext cx="10113144" cy="1103252"/>
          </a:xfrm>
          <a:custGeom>
            <a:avLst/>
            <a:gdLst/>
            <a:ahLst/>
            <a:cxnLst/>
            <a:rect r="r" b="b" t="t" l="l"/>
            <a:pathLst>
              <a:path h="1103252" w="10113144">
                <a:moveTo>
                  <a:pt x="0" y="0"/>
                </a:moveTo>
                <a:lnTo>
                  <a:pt x="10113144" y="0"/>
                </a:lnTo>
                <a:lnTo>
                  <a:pt x="10113144" y="1103252"/>
                </a:lnTo>
                <a:lnTo>
                  <a:pt x="0" y="11032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028700" y="971550"/>
            <a:ext cx="15739418" cy="1471930"/>
          </a:xfrm>
          <a:prstGeom prst="rect">
            <a:avLst/>
          </a:prstGeom>
        </p:spPr>
        <p:txBody>
          <a:bodyPr anchor="t" rtlCol="false" tIns="0" lIns="0" bIns="0" rIns="0">
            <a:spAutoFit/>
          </a:bodyPr>
          <a:lstStyle/>
          <a:p>
            <a:pPr algn="ctr">
              <a:lnSpc>
                <a:spcPts val="3919"/>
              </a:lnSpc>
            </a:pPr>
            <a:r>
              <a:rPr lang="en-US" sz="2799" b="true">
                <a:solidFill>
                  <a:srgbClr val="000000"/>
                </a:solidFill>
                <a:latin typeface="Open Sans 2 Bold"/>
                <a:ea typeface="Open Sans 2 Bold"/>
                <a:cs typeface="Open Sans 2 Bold"/>
                <a:sym typeface="Open Sans 2 Bold"/>
              </a:rPr>
              <a:t>03.Do specific locations (Park, Office, Home, Gym, Other) tend to be associated with particular mood, and are these associations influenced by weather conditions?</a:t>
            </a:r>
          </a:p>
          <a:p>
            <a:pPr algn="ctr">
              <a:lnSpc>
                <a:spcPts val="3919"/>
              </a:lnSpc>
              <a:spcBef>
                <a:spcPct val="0"/>
              </a:spcBef>
            </a:pPr>
          </a:p>
        </p:txBody>
      </p:sp>
      <p:sp>
        <p:nvSpPr>
          <p:cNvPr name="Freeform 12" id="12"/>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10">
              <a:alphaModFix amt="53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3" id="13"/>
          <p:cNvSpPr/>
          <p:nvPr/>
        </p:nvSpPr>
        <p:spPr>
          <a:xfrm flipH="false" flipV="false" rot="0">
            <a:off x="-524293" y="-1299326"/>
            <a:ext cx="4149544" cy="2598652"/>
          </a:xfrm>
          <a:custGeom>
            <a:avLst/>
            <a:gdLst/>
            <a:ahLst/>
            <a:cxnLst/>
            <a:rect r="r" b="b" t="t" l="l"/>
            <a:pathLst>
              <a:path h="2598652" w="4149544">
                <a:moveTo>
                  <a:pt x="0" y="0"/>
                </a:moveTo>
                <a:lnTo>
                  <a:pt x="4149544" y="0"/>
                </a:lnTo>
                <a:lnTo>
                  <a:pt x="4149544" y="2598652"/>
                </a:lnTo>
                <a:lnTo>
                  <a:pt x="0" y="2598652"/>
                </a:lnTo>
                <a:lnTo>
                  <a:pt x="0" y="0"/>
                </a:lnTo>
                <a:close/>
              </a:path>
            </a:pathLst>
          </a:custGeom>
          <a:blipFill>
            <a:blip r:embed="rId12">
              <a:alphaModFix amt="31999"/>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4" id="14"/>
          <p:cNvSpPr/>
          <p:nvPr/>
        </p:nvSpPr>
        <p:spPr>
          <a:xfrm flipH="false" flipV="false" rot="0">
            <a:off x="12686214" y="-2578193"/>
            <a:ext cx="3830148" cy="3454097"/>
          </a:xfrm>
          <a:custGeom>
            <a:avLst/>
            <a:gdLst/>
            <a:ahLst/>
            <a:cxnLst/>
            <a:rect r="r" b="b" t="t" l="l"/>
            <a:pathLst>
              <a:path h="3454097" w="3830148">
                <a:moveTo>
                  <a:pt x="0" y="0"/>
                </a:moveTo>
                <a:lnTo>
                  <a:pt x="3830148" y="0"/>
                </a:lnTo>
                <a:lnTo>
                  <a:pt x="3830148" y="3454098"/>
                </a:lnTo>
                <a:lnTo>
                  <a:pt x="0" y="345409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5" id="15"/>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6" id="16"/>
          <p:cNvSpPr/>
          <p:nvPr/>
        </p:nvSpPr>
        <p:spPr>
          <a:xfrm flipH="false" flipV="false" rot="0">
            <a:off x="7409323" y="-2700100"/>
            <a:ext cx="4977766" cy="3728800"/>
          </a:xfrm>
          <a:custGeom>
            <a:avLst/>
            <a:gdLst/>
            <a:ahLst/>
            <a:cxnLst/>
            <a:rect r="r" b="b" t="t" l="l"/>
            <a:pathLst>
              <a:path h="3728800" w="4977766">
                <a:moveTo>
                  <a:pt x="0" y="0"/>
                </a:moveTo>
                <a:lnTo>
                  <a:pt x="4977766" y="0"/>
                </a:lnTo>
                <a:lnTo>
                  <a:pt x="4977766" y="3728800"/>
                </a:lnTo>
                <a:lnTo>
                  <a:pt x="0" y="3728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7" id="17"/>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20">
              <a:alphaModFix amt="6100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8" id="18"/>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2">
              <a:alphaModFix amt="53000"/>
              <a:extLst>
                <a:ext uri="{96DAC541-7B7A-43D3-8B79-37D633B846F1}">
                  <asvg:svgBlip xmlns:asvg="http://schemas.microsoft.com/office/drawing/2016/SVG/main" r:embed="rId23"/>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7" id="7"/>
          <p:cNvGrpSpPr/>
          <p:nvPr/>
        </p:nvGrpSpPr>
        <p:grpSpPr>
          <a:xfrm rot="0">
            <a:off x="903569" y="663073"/>
            <a:ext cx="13414558" cy="7049589"/>
            <a:chOff x="0" y="0"/>
            <a:chExt cx="5532679" cy="2907521"/>
          </a:xfrm>
        </p:grpSpPr>
        <p:sp>
          <p:nvSpPr>
            <p:cNvPr name="Freeform 8" id="8"/>
            <p:cNvSpPr/>
            <p:nvPr/>
          </p:nvSpPr>
          <p:spPr>
            <a:xfrm flipH="false" flipV="false" rot="0">
              <a:off x="0" y="0"/>
              <a:ext cx="5532679" cy="2907522"/>
            </a:xfrm>
            <a:custGeom>
              <a:avLst/>
              <a:gdLst/>
              <a:ahLst/>
              <a:cxnLst/>
              <a:rect r="r" b="b" t="t" l="l"/>
              <a:pathLst>
                <a:path h="2907522" w="5532679">
                  <a:moveTo>
                    <a:pt x="5408219" y="2907521"/>
                  </a:moveTo>
                  <a:lnTo>
                    <a:pt x="124460" y="2907521"/>
                  </a:lnTo>
                  <a:cubicBezTo>
                    <a:pt x="55880" y="2907521"/>
                    <a:pt x="0" y="2851641"/>
                    <a:pt x="0" y="2783061"/>
                  </a:cubicBezTo>
                  <a:lnTo>
                    <a:pt x="0" y="124460"/>
                  </a:lnTo>
                  <a:cubicBezTo>
                    <a:pt x="0" y="55880"/>
                    <a:pt x="55880" y="0"/>
                    <a:pt x="124460" y="0"/>
                  </a:cubicBezTo>
                  <a:lnTo>
                    <a:pt x="5408220" y="0"/>
                  </a:lnTo>
                  <a:cubicBezTo>
                    <a:pt x="5476799" y="0"/>
                    <a:pt x="5532679" y="55880"/>
                    <a:pt x="5532679" y="124460"/>
                  </a:cubicBezTo>
                  <a:lnTo>
                    <a:pt x="5532679" y="2783062"/>
                  </a:lnTo>
                  <a:cubicBezTo>
                    <a:pt x="5532679" y="2851641"/>
                    <a:pt x="5476799" y="2907522"/>
                    <a:pt x="5408220" y="2907522"/>
                  </a:cubicBezTo>
                  <a:close/>
                </a:path>
              </a:pathLst>
            </a:custGeom>
            <a:solidFill>
              <a:srgbClr val="D6DCFF"/>
            </a:solidFill>
          </p:spPr>
        </p:sp>
      </p:grpSp>
      <p:sp>
        <p:nvSpPr>
          <p:cNvPr name="Freeform 9" id="9"/>
          <p:cNvSpPr/>
          <p:nvPr/>
        </p:nvSpPr>
        <p:spPr>
          <a:xfrm flipH="false" flipV="false" rot="0">
            <a:off x="903569" y="1026152"/>
            <a:ext cx="4888428" cy="533283"/>
          </a:xfrm>
          <a:custGeom>
            <a:avLst/>
            <a:gdLst/>
            <a:ahLst/>
            <a:cxnLst/>
            <a:rect r="r" b="b" t="t" l="l"/>
            <a:pathLst>
              <a:path h="533283" w="4888428">
                <a:moveTo>
                  <a:pt x="0" y="0"/>
                </a:moveTo>
                <a:lnTo>
                  <a:pt x="4888428" y="0"/>
                </a:lnTo>
                <a:lnTo>
                  <a:pt x="4888428" y="533283"/>
                </a:lnTo>
                <a:lnTo>
                  <a:pt x="0" y="5332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586495" y="1050532"/>
            <a:ext cx="4888428" cy="533283"/>
          </a:xfrm>
          <a:custGeom>
            <a:avLst/>
            <a:gdLst/>
            <a:ahLst/>
            <a:cxnLst/>
            <a:rect r="r" b="b" t="t" l="l"/>
            <a:pathLst>
              <a:path h="533283" w="4888428">
                <a:moveTo>
                  <a:pt x="0" y="0"/>
                </a:moveTo>
                <a:lnTo>
                  <a:pt x="4888428" y="0"/>
                </a:lnTo>
                <a:lnTo>
                  <a:pt x="4888428" y="533283"/>
                </a:lnTo>
                <a:lnTo>
                  <a:pt x="0" y="5332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1528017" y="2847657"/>
            <a:ext cx="171523" cy="171523"/>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13" id="13"/>
          <p:cNvGrpSpPr/>
          <p:nvPr/>
        </p:nvGrpSpPr>
        <p:grpSpPr>
          <a:xfrm rot="0">
            <a:off x="1528017" y="3185664"/>
            <a:ext cx="171523" cy="171523"/>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sp>
        <p:nvSpPr>
          <p:cNvPr name="TextBox 15" id="15"/>
          <p:cNvSpPr txBox="true"/>
          <p:nvPr/>
        </p:nvSpPr>
        <p:spPr>
          <a:xfrm rot="0">
            <a:off x="1673854" y="2059221"/>
            <a:ext cx="966267" cy="481335"/>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Extra Bold"/>
                <a:ea typeface="Open Sans Extra Bold"/>
                <a:cs typeface="Open Sans Extra Bold"/>
                <a:sym typeface="Open Sans Extra Bold"/>
              </a:rPr>
              <a:t> Gym:</a:t>
            </a:r>
          </a:p>
        </p:txBody>
      </p:sp>
      <p:grpSp>
        <p:nvGrpSpPr>
          <p:cNvPr name="Group 16" id="16"/>
          <p:cNvGrpSpPr/>
          <p:nvPr/>
        </p:nvGrpSpPr>
        <p:grpSpPr>
          <a:xfrm rot="0">
            <a:off x="1287766" y="2136864"/>
            <a:ext cx="411774" cy="41177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8" id="18"/>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9" id="19"/>
          <p:cNvGrpSpPr/>
          <p:nvPr/>
        </p:nvGrpSpPr>
        <p:grpSpPr>
          <a:xfrm rot="0">
            <a:off x="1262080" y="3481224"/>
            <a:ext cx="411774" cy="41177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1" id="21"/>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22" id="22"/>
          <p:cNvGrpSpPr/>
          <p:nvPr/>
        </p:nvGrpSpPr>
        <p:grpSpPr>
          <a:xfrm rot="0">
            <a:off x="1236394" y="4825585"/>
            <a:ext cx="411774" cy="41177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4" id="24"/>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25" id="25"/>
          <p:cNvGrpSpPr/>
          <p:nvPr/>
        </p:nvGrpSpPr>
        <p:grpSpPr>
          <a:xfrm rot="0">
            <a:off x="1210708" y="6169946"/>
            <a:ext cx="411774" cy="41177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7" id="27"/>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28" id="28"/>
          <p:cNvGrpSpPr/>
          <p:nvPr/>
        </p:nvGrpSpPr>
        <p:grpSpPr>
          <a:xfrm rot="0">
            <a:off x="1515174" y="4033617"/>
            <a:ext cx="171523" cy="171523"/>
            <a:chOff x="0" y="0"/>
            <a:chExt cx="6350000" cy="6350000"/>
          </a:xfrm>
        </p:grpSpPr>
        <p:sp>
          <p:nvSpPr>
            <p:cNvPr name="Freeform 29" id="2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30" id="30"/>
          <p:cNvGrpSpPr/>
          <p:nvPr/>
        </p:nvGrpSpPr>
        <p:grpSpPr>
          <a:xfrm rot="0">
            <a:off x="1528017" y="4345760"/>
            <a:ext cx="171523" cy="171523"/>
            <a:chOff x="0" y="0"/>
            <a:chExt cx="6350000" cy="6350000"/>
          </a:xfrm>
        </p:grpSpPr>
        <p:sp>
          <p:nvSpPr>
            <p:cNvPr name="Freeform 31" id="3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32" id="32"/>
          <p:cNvGrpSpPr/>
          <p:nvPr/>
        </p:nvGrpSpPr>
        <p:grpSpPr>
          <a:xfrm rot="0">
            <a:off x="1515174" y="5405747"/>
            <a:ext cx="171523" cy="171523"/>
            <a:chOff x="0" y="0"/>
            <a:chExt cx="6350000" cy="6350000"/>
          </a:xfrm>
        </p:grpSpPr>
        <p:sp>
          <p:nvSpPr>
            <p:cNvPr name="Freeform 33" id="3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sp>
        <p:nvSpPr>
          <p:cNvPr name="Freeform 34" id="34"/>
          <p:cNvSpPr/>
          <p:nvPr/>
        </p:nvSpPr>
        <p:spPr>
          <a:xfrm flipH="false" flipV="false" rot="0">
            <a:off x="-1951763" y="9099145"/>
            <a:ext cx="4899948" cy="3344214"/>
          </a:xfrm>
          <a:custGeom>
            <a:avLst/>
            <a:gdLst/>
            <a:ahLst/>
            <a:cxnLst/>
            <a:rect r="r" b="b" t="t" l="l"/>
            <a:pathLst>
              <a:path h="3344214" w="4899948">
                <a:moveTo>
                  <a:pt x="0" y="0"/>
                </a:moveTo>
                <a:lnTo>
                  <a:pt x="4899948" y="0"/>
                </a:lnTo>
                <a:lnTo>
                  <a:pt x="4899948" y="3344214"/>
                </a:lnTo>
                <a:lnTo>
                  <a:pt x="0" y="334421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5" id="35"/>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6" id="36"/>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37" id="37"/>
          <p:cNvSpPr/>
          <p:nvPr/>
        </p:nvSpPr>
        <p:spPr>
          <a:xfrm flipH="false" flipV="false" rot="4747568">
            <a:off x="-3026285" y="3637038"/>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38" id="38"/>
          <p:cNvSpPr/>
          <p:nvPr/>
        </p:nvSpPr>
        <p:spPr>
          <a:xfrm flipH="false" flipV="false" rot="0">
            <a:off x="15241978" y="2540555"/>
            <a:ext cx="3575541" cy="3575541"/>
          </a:xfrm>
          <a:custGeom>
            <a:avLst/>
            <a:gdLst/>
            <a:ahLst/>
            <a:cxnLst/>
            <a:rect r="r" b="b" t="t" l="l"/>
            <a:pathLst>
              <a:path h="3575541" w="3575541">
                <a:moveTo>
                  <a:pt x="0" y="0"/>
                </a:moveTo>
                <a:lnTo>
                  <a:pt x="3575541" y="0"/>
                </a:lnTo>
                <a:lnTo>
                  <a:pt x="3575541" y="3575542"/>
                </a:lnTo>
                <a:lnTo>
                  <a:pt x="0" y="35755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39" id="39"/>
          <p:cNvSpPr/>
          <p:nvPr/>
        </p:nvSpPr>
        <p:spPr>
          <a:xfrm flipH="false" flipV="false" rot="-5282649">
            <a:off x="15785276"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40" id="40"/>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grpSp>
        <p:nvGrpSpPr>
          <p:cNvPr name="Group 41" id="41"/>
          <p:cNvGrpSpPr/>
          <p:nvPr/>
        </p:nvGrpSpPr>
        <p:grpSpPr>
          <a:xfrm rot="0">
            <a:off x="1528017" y="5717890"/>
            <a:ext cx="171523" cy="171523"/>
            <a:chOff x="0" y="0"/>
            <a:chExt cx="6350000" cy="6350000"/>
          </a:xfrm>
        </p:grpSpPr>
        <p:sp>
          <p:nvSpPr>
            <p:cNvPr name="Freeform 42" id="4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43" id="43"/>
          <p:cNvGrpSpPr/>
          <p:nvPr/>
        </p:nvGrpSpPr>
        <p:grpSpPr>
          <a:xfrm rot="0">
            <a:off x="1528017" y="6668676"/>
            <a:ext cx="171523" cy="171523"/>
            <a:chOff x="0" y="0"/>
            <a:chExt cx="6350000" cy="6350000"/>
          </a:xfrm>
        </p:grpSpPr>
        <p:sp>
          <p:nvSpPr>
            <p:cNvPr name="Freeform 44" id="4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A643F"/>
            </a:solidFill>
          </p:spPr>
        </p:sp>
      </p:grpSp>
      <p:grpSp>
        <p:nvGrpSpPr>
          <p:cNvPr name="Group 45" id="45"/>
          <p:cNvGrpSpPr/>
          <p:nvPr/>
        </p:nvGrpSpPr>
        <p:grpSpPr>
          <a:xfrm rot="0">
            <a:off x="903569" y="7807912"/>
            <a:ext cx="13414558" cy="2175096"/>
            <a:chOff x="0" y="0"/>
            <a:chExt cx="5532679" cy="897093"/>
          </a:xfrm>
        </p:grpSpPr>
        <p:sp>
          <p:nvSpPr>
            <p:cNvPr name="Freeform 46" id="46"/>
            <p:cNvSpPr/>
            <p:nvPr/>
          </p:nvSpPr>
          <p:spPr>
            <a:xfrm flipH="false" flipV="false" rot="0">
              <a:off x="0" y="0"/>
              <a:ext cx="5532679" cy="897093"/>
            </a:xfrm>
            <a:custGeom>
              <a:avLst/>
              <a:gdLst/>
              <a:ahLst/>
              <a:cxnLst/>
              <a:rect r="r" b="b" t="t" l="l"/>
              <a:pathLst>
                <a:path h="897093" w="5532679">
                  <a:moveTo>
                    <a:pt x="5408219" y="897093"/>
                  </a:moveTo>
                  <a:lnTo>
                    <a:pt x="124460" y="897093"/>
                  </a:lnTo>
                  <a:cubicBezTo>
                    <a:pt x="55880" y="897093"/>
                    <a:pt x="0" y="841213"/>
                    <a:pt x="0" y="772633"/>
                  </a:cubicBezTo>
                  <a:lnTo>
                    <a:pt x="0" y="124460"/>
                  </a:lnTo>
                  <a:cubicBezTo>
                    <a:pt x="0" y="55880"/>
                    <a:pt x="55880" y="0"/>
                    <a:pt x="124460" y="0"/>
                  </a:cubicBezTo>
                  <a:lnTo>
                    <a:pt x="5408220" y="0"/>
                  </a:lnTo>
                  <a:cubicBezTo>
                    <a:pt x="5476799" y="0"/>
                    <a:pt x="5532679" y="55880"/>
                    <a:pt x="5532679" y="124460"/>
                  </a:cubicBezTo>
                  <a:lnTo>
                    <a:pt x="5532679" y="772633"/>
                  </a:lnTo>
                  <a:cubicBezTo>
                    <a:pt x="5532679" y="841213"/>
                    <a:pt x="5476799" y="897093"/>
                    <a:pt x="5408220" y="897093"/>
                  </a:cubicBezTo>
                  <a:close/>
                </a:path>
              </a:pathLst>
            </a:custGeom>
            <a:solidFill>
              <a:srgbClr val="8AB7E2"/>
            </a:solidFill>
          </p:spPr>
        </p:sp>
      </p:grpSp>
      <p:grpSp>
        <p:nvGrpSpPr>
          <p:cNvPr name="Group 47" id="47"/>
          <p:cNvGrpSpPr/>
          <p:nvPr/>
        </p:nvGrpSpPr>
        <p:grpSpPr>
          <a:xfrm rot="0">
            <a:off x="1407892" y="8479873"/>
            <a:ext cx="171523" cy="171523"/>
            <a:chOff x="0" y="0"/>
            <a:chExt cx="6350000" cy="6350000"/>
          </a:xfrm>
        </p:grpSpPr>
        <p:sp>
          <p:nvSpPr>
            <p:cNvPr name="Freeform 48" id="4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923"/>
            </a:solidFill>
          </p:spPr>
        </p:sp>
      </p:grpSp>
      <p:grpSp>
        <p:nvGrpSpPr>
          <p:cNvPr name="Group 49" id="49"/>
          <p:cNvGrpSpPr/>
          <p:nvPr/>
        </p:nvGrpSpPr>
        <p:grpSpPr>
          <a:xfrm rot="0">
            <a:off x="1416595" y="8927621"/>
            <a:ext cx="171523" cy="171523"/>
            <a:chOff x="0" y="0"/>
            <a:chExt cx="6350000" cy="6350000"/>
          </a:xfrm>
        </p:grpSpPr>
        <p:sp>
          <p:nvSpPr>
            <p:cNvPr name="Freeform 50" id="5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923"/>
            </a:solidFill>
          </p:spPr>
        </p:sp>
      </p:grpSp>
      <p:grpSp>
        <p:nvGrpSpPr>
          <p:cNvPr name="Group 51" id="51"/>
          <p:cNvGrpSpPr/>
          <p:nvPr/>
        </p:nvGrpSpPr>
        <p:grpSpPr>
          <a:xfrm rot="0">
            <a:off x="1425298" y="9375370"/>
            <a:ext cx="171523" cy="171523"/>
            <a:chOff x="0" y="0"/>
            <a:chExt cx="6350000" cy="6350000"/>
          </a:xfrm>
        </p:grpSpPr>
        <p:sp>
          <p:nvSpPr>
            <p:cNvPr name="Freeform 52" id="5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923"/>
            </a:solidFill>
          </p:spPr>
        </p:sp>
      </p:grpSp>
      <p:sp>
        <p:nvSpPr>
          <p:cNvPr name="Freeform 53" id="53"/>
          <p:cNvSpPr/>
          <p:nvPr/>
        </p:nvSpPr>
        <p:spPr>
          <a:xfrm flipH="false" flipV="false" rot="0">
            <a:off x="14765803" y="251065"/>
            <a:ext cx="1917577" cy="2430109"/>
          </a:xfrm>
          <a:custGeom>
            <a:avLst/>
            <a:gdLst/>
            <a:ahLst/>
            <a:cxnLst/>
            <a:rect r="r" b="b" t="t" l="l"/>
            <a:pathLst>
              <a:path h="2430109" w="1917577">
                <a:moveTo>
                  <a:pt x="0" y="0"/>
                </a:moveTo>
                <a:lnTo>
                  <a:pt x="1917576" y="0"/>
                </a:lnTo>
                <a:lnTo>
                  <a:pt x="1917576" y="2430109"/>
                </a:lnTo>
                <a:lnTo>
                  <a:pt x="0" y="243010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54" id="54"/>
          <p:cNvSpPr/>
          <p:nvPr/>
        </p:nvSpPr>
        <p:spPr>
          <a:xfrm flipH="false" flipV="false" rot="-2893366">
            <a:off x="14768878" y="6026535"/>
            <a:ext cx="2462513" cy="1110369"/>
          </a:xfrm>
          <a:custGeom>
            <a:avLst/>
            <a:gdLst/>
            <a:ahLst/>
            <a:cxnLst/>
            <a:rect r="r" b="b" t="t" l="l"/>
            <a:pathLst>
              <a:path h="1110369" w="2462513">
                <a:moveTo>
                  <a:pt x="0" y="0"/>
                </a:moveTo>
                <a:lnTo>
                  <a:pt x="2462512" y="0"/>
                </a:lnTo>
                <a:lnTo>
                  <a:pt x="2462512" y="1110369"/>
                </a:lnTo>
                <a:lnTo>
                  <a:pt x="0" y="1110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TextBox 55" id="55"/>
          <p:cNvSpPr txBox="true"/>
          <p:nvPr/>
        </p:nvSpPr>
        <p:spPr>
          <a:xfrm rot="0">
            <a:off x="1244302" y="1034271"/>
            <a:ext cx="6856572" cy="480082"/>
          </a:xfrm>
          <a:prstGeom prst="rect">
            <a:avLst/>
          </a:prstGeom>
        </p:spPr>
        <p:txBody>
          <a:bodyPr anchor="t" rtlCol="false" tIns="0" lIns="0" bIns="0" rIns="0">
            <a:spAutoFit/>
          </a:bodyPr>
          <a:lstStyle/>
          <a:p>
            <a:pPr algn="ctr">
              <a:lnSpc>
                <a:spcPts val="4094"/>
              </a:lnSpc>
              <a:spcBef>
                <a:spcPct val="0"/>
              </a:spcBef>
            </a:pPr>
            <a:r>
              <a:rPr lang="en-US" b="true" sz="2624" u="sng">
                <a:solidFill>
                  <a:srgbClr val="000000"/>
                </a:solidFill>
                <a:latin typeface="Open Sans 1 Bold"/>
                <a:ea typeface="Open Sans 1 Bold"/>
                <a:cs typeface="Open Sans 1 Bold"/>
                <a:sym typeface="Open Sans 1 Bold"/>
              </a:rPr>
              <a:t>Key Observations from the Visualizations</a:t>
            </a:r>
          </a:p>
        </p:txBody>
      </p:sp>
      <p:sp>
        <p:nvSpPr>
          <p:cNvPr name="TextBox 56" id="56"/>
          <p:cNvSpPr txBox="true"/>
          <p:nvPr/>
        </p:nvSpPr>
        <p:spPr>
          <a:xfrm rot="0">
            <a:off x="1186101" y="1580015"/>
            <a:ext cx="3770352" cy="418881"/>
          </a:xfrm>
          <a:prstGeom prst="rect">
            <a:avLst/>
          </a:prstGeom>
        </p:spPr>
        <p:txBody>
          <a:bodyPr anchor="t" rtlCol="false" tIns="0" lIns="0" bIns="0" rIns="0">
            <a:spAutoFit/>
          </a:bodyPr>
          <a:lstStyle/>
          <a:p>
            <a:pPr algn="ctr">
              <a:lnSpc>
                <a:spcPts val="3582"/>
              </a:lnSpc>
              <a:spcBef>
                <a:spcPct val="0"/>
              </a:spcBef>
            </a:pPr>
            <a:r>
              <a:rPr lang="en-US" b="true" sz="2296">
                <a:solidFill>
                  <a:srgbClr val="000000"/>
                </a:solidFill>
                <a:latin typeface="Open Sans 1 Bold"/>
                <a:ea typeface="Open Sans 1 Bold"/>
                <a:cs typeface="Open Sans 1 Bold"/>
                <a:sym typeface="Open Sans 1 Bold"/>
              </a:rPr>
              <a:t>Location-Specific Insights:</a:t>
            </a:r>
          </a:p>
        </p:txBody>
      </p:sp>
      <p:sp>
        <p:nvSpPr>
          <p:cNvPr name="TextBox 57" id="57"/>
          <p:cNvSpPr txBox="true"/>
          <p:nvPr/>
        </p:nvSpPr>
        <p:spPr>
          <a:xfrm rot="0">
            <a:off x="1871806" y="2662124"/>
            <a:ext cx="8924283"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Happiest during clear weather.</a:t>
            </a:r>
          </a:p>
          <a:p>
            <a:pPr algn="l" marL="0" indent="0" lvl="0">
              <a:lnSpc>
                <a:spcPts val="2772"/>
              </a:lnSpc>
              <a:spcBef>
                <a:spcPct val="0"/>
              </a:spcBef>
            </a:pPr>
          </a:p>
        </p:txBody>
      </p:sp>
      <p:sp>
        <p:nvSpPr>
          <p:cNvPr name="TextBox 58" id="58"/>
          <p:cNvSpPr txBox="true"/>
          <p:nvPr/>
        </p:nvSpPr>
        <p:spPr>
          <a:xfrm rot="0">
            <a:off x="1871806" y="3000131"/>
            <a:ext cx="8924283"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Stress and tiredness increase during foggy and snowy weather.</a:t>
            </a:r>
          </a:p>
          <a:p>
            <a:pPr algn="l" marL="0" indent="0" lvl="0">
              <a:lnSpc>
                <a:spcPts val="2772"/>
              </a:lnSpc>
              <a:spcBef>
                <a:spcPct val="0"/>
              </a:spcBef>
            </a:pPr>
          </a:p>
        </p:txBody>
      </p:sp>
      <p:sp>
        <p:nvSpPr>
          <p:cNvPr name="TextBox 59" id="59"/>
          <p:cNvSpPr txBox="true"/>
          <p:nvPr/>
        </p:nvSpPr>
        <p:spPr>
          <a:xfrm rot="0">
            <a:off x="1699540" y="3411664"/>
            <a:ext cx="1274331" cy="480082"/>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1 Bold"/>
                <a:ea typeface="Open Sans 1 Bold"/>
                <a:cs typeface="Open Sans 1 Bold"/>
                <a:sym typeface="Open Sans 1 Bold"/>
              </a:rPr>
              <a:t> Home:</a:t>
            </a:r>
          </a:p>
        </p:txBody>
      </p:sp>
      <p:sp>
        <p:nvSpPr>
          <p:cNvPr name="TextBox 60" id="60"/>
          <p:cNvSpPr txBox="true"/>
          <p:nvPr/>
        </p:nvSpPr>
        <p:spPr>
          <a:xfrm rot="0">
            <a:off x="1673854" y="4760357"/>
            <a:ext cx="1274331" cy="480082"/>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1 Bold"/>
                <a:ea typeface="Open Sans 1 Bold"/>
                <a:cs typeface="Open Sans 1 Bold"/>
                <a:sym typeface="Open Sans 1 Bold"/>
              </a:rPr>
              <a:t> Office:</a:t>
            </a:r>
          </a:p>
        </p:txBody>
      </p:sp>
      <p:sp>
        <p:nvSpPr>
          <p:cNvPr name="TextBox 61" id="61"/>
          <p:cNvSpPr txBox="true"/>
          <p:nvPr/>
        </p:nvSpPr>
        <p:spPr>
          <a:xfrm rot="0">
            <a:off x="1673854" y="6092303"/>
            <a:ext cx="2779054" cy="480082"/>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1 Bold"/>
                <a:ea typeface="Open Sans 1 Bold"/>
                <a:cs typeface="Open Sans 1 Bold"/>
                <a:sym typeface="Open Sans 1 Bold"/>
              </a:rPr>
              <a:t> Other Location:</a:t>
            </a:r>
          </a:p>
        </p:txBody>
      </p:sp>
      <p:sp>
        <p:nvSpPr>
          <p:cNvPr name="TextBox 62" id="62"/>
          <p:cNvSpPr txBox="true"/>
          <p:nvPr/>
        </p:nvSpPr>
        <p:spPr>
          <a:xfrm rot="0">
            <a:off x="1871806" y="3873948"/>
            <a:ext cx="8924283"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Happiness peaks during rainy weather.</a:t>
            </a:r>
          </a:p>
          <a:p>
            <a:pPr algn="l" marL="0" indent="0" lvl="0">
              <a:lnSpc>
                <a:spcPts val="2772"/>
              </a:lnSpc>
              <a:spcBef>
                <a:spcPct val="0"/>
              </a:spcBef>
            </a:pPr>
          </a:p>
        </p:txBody>
      </p:sp>
      <p:sp>
        <p:nvSpPr>
          <p:cNvPr name="TextBox 63" id="63"/>
          <p:cNvSpPr txBox="true"/>
          <p:nvPr/>
        </p:nvSpPr>
        <p:spPr>
          <a:xfrm rot="0">
            <a:off x="1871806" y="4211955"/>
            <a:ext cx="8924283"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Tiredness is significantly high during snowy weather.</a:t>
            </a:r>
          </a:p>
          <a:p>
            <a:pPr algn="l" marL="0" indent="0" lvl="0">
              <a:lnSpc>
                <a:spcPts val="2772"/>
              </a:lnSpc>
              <a:spcBef>
                <a:spcPct val="0"/>
              </a:spcBef>
            </a:pPr>
          </a:p>
        </p:txBody>
      </p:sp>
      <p:sp>
        <p:nvSpPr>
          <p:cNvPr name="TextBox 64" id="64"/>
          <p:cNvSpPr txBox="true"/>
          <p:nvPr/>
        </p:nvSpPr>
        <p:spPr>
          <a:xfrm rot="0">
            <a:off x="1871806" y="5246078"/>
            <a:ext cx="8924283"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Stress levels are higher during fog and rain.</a:t>
            </a:r>
          </a:p>
          <a:p>
            <a:pPr algn="l" marL="0" indent="0" lvl="0">
              <a:lnSpc>
                <a:spcPts val="2772"/>
              </a:lnSpc>
              <a:spcBef>
                <a:spcPct val="0"/>
              </a:spcBef>
            </a:pPr>
          </a:p>
        </p:txBody>
      </p:sp>
      <p:sp>
        <p:nvSpPr>
          <p:cNvPr name="TextBox 65" id="65"/>
          <p:cNvSpPr txBox="true"/>
          <p:nvPr/>
        </p:nvSpPr>
        <p:spPr>
          <a:xfrm rot="0">
            <a:off x="1871806" y="5584085"/>
            <a:ext cx="8924283"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Happiness is slightly higher during clear conditions.</a:t>
            </a:r>
          </a:p>
          <a:p>
            <a:pPr algn="l" marL="0" indent="0" lvl="0">
              <a:lnSpc>
                <a:spcPts val="2772"/>
              </a:lnSpc>
              <a:spcBef>
                <a:spcPct val="0"/>
              </a:spcBef>
            </a:pPr>
          </a:p>
        </p:txBody>
      </p:sp>
      <p:sp>
        <p:nvSpPr>
          <p:cNvPr name="TextBox 66" id="66"/>
          <p:cNvSpPr txBox="true"/>
          <p:nvPr/>
        </p:nvSpPr>
        <p:spPr>
          <a:xfrm rot="0">
            <a:off x="1884649" y="6509007"/>
            <a:ext cx="8924283" cy="10206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A balanced distribution with no extreme trends, but tiredness increases during snow.</a:t>
            </a:r>
          </a:p>
          <a:p>
            <a:pPr algn="l" marL="0" indent="0" lvl="0">
              <a:lnSpc>
                <a:spcPts val="2772"/>
              </a:lnSpc>
              <a:spcBef>
                <a:spcPct val="0"/>
              </a:spcBef>
            </a:pPr>
          </a:p>
        </p:txBody>
      </p:sp>
      <p:sp>
        <p:nvSpPr>
          <p:cNvPr name="Freeform 67" id="67"/>
          <p:cNvSpPr/>
          <p:nvPr/>
        </p:nvSpPr>
        <p:spPr>
          <a:xfrm flipH="false" flipV="false" rot="0">
            <a:off x="1028700" y="7969837"/>
            <a:ext cx="3643888" cy="397515"/>
          </a:xfrm>
          <a:custGeom>
            <a:avLst/>
            <a:gdLst/>
            <a:ahLst/>
            <a:cxnLst/>
            <a:rect r="r" b="b" t="t" l="l"/>
            <a:pathLst>
              <a:path h="397515" w="3643888">
                <a:moveTo>
                  <a:pt x="0" y="0"/>
                </a:moveTo>
                <a:lnTo>
                  <a:pt x="3643888" y="0"/>
                </a:lnTo>
                <a:lnTo>
                  <a:pt x="3643888" y="397515"/>
                </a:lnTo>
                <a:lnTo>
                  <a:pt x="0" y="39751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68" id="68"/>
          <p:cNvSpPr txBox="true"/>
          <p:nvPr/>
        </p:nvSpPr>
        <p:spPr>
          <a:xfrm rot="0">
            <a:off x="1236394" y="7912687"/>
            <a:ext cx="2641267" cy="418881"/>
          </a:xfrm>
          <a:prstGeom prst="rect">
            <a:avLst/>
          </a:prstGeom>
        </p:spPr>
        <p:txBody>
          <a:bodyPr anchor="t" rtlCol="false" tIns="0" lIns="0" bIns="0" rIns="0">
            <a:spAutoFit/>
          </a:bodyPr>
          <a:lstStyle/>
          <a:p>
            <a:pPr algn="ctr">
              <a:lnSpc>
                <a:spcPts val="3582"/>
              </a:lnSpc>
              <a:spcBef>
                <a:spcPct val="0"/>
              </a:spcBef>
            </a:pPr>
            <a:r>
              <a:rPr lang="en-US" b="true" sz="2296">
                <a:solidFill>
                  <a:srgbClr val="000000"/>
                </a:solidFill>
                <a:latin typeface="Open Sans 1 Bold"/>
                <a:ea typeface="Open Sans 1 Bold"/>
                <a:cs typeface="Open Sans 1 Bold"/>
                <a:sym typeface="Open Sans 1 Bold"/>
              </a:rPr>
              <a:t>Overall Trends:</a:t>
            </a:r>
          </a:p>
        </p:txBody>
      </p:sp>
      <p:sp>
        <p:nvSpPr>
          <p:cNvPr name="TextBox 69" id="69"/>
          <p:cNvSpPr txBox="true"/>
          <p:nvPr/>
        </p:nvSpPr>
        <p:spPr>
          <a:xfrm rot="0">
            <a:off x="1871806" y="8404082"/>
            <a:ext cx="12102842"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Clear and sunny weather tends to improve mood across all locations.</a:t>
            </a:r>
          </a:p>
          <a:p>
            <a:pPr algn="l" marL="0" indent="0" lvl="0">
              <a:lnSpc>
                <a:spcPts val="2772"/>
              </a:lnSpc>
              <a:spcBef>
                <a:spcPct val="0"/>
              </a:spcBef>
            </a:pPr>
          </a:p>
        </p:txBody>
      </p:sp>
      <p:sp>
        <p:nvSpPr>
          <p:cNvPr name="TextBox 70" id="70"/>
          <p:cNvSpPr txBox="true"/>
          <p:nvPr/>
        </p:nvSpPr>
        <p:spPr>
          <a:xfrm rot="0">
            <a:off x="1884649" y="8851348"/>
            <a:ext cx="12102842"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Snowy weather shows a consistent increase in tiredness.</a:t>
            </a:r>
          </a:p>
          <a:p>
            <a:pPr algn="l" marL="0" indent="0" lvl="0">
              <a:lnSpc>
                <a:spcPts val="2772"/>
              </a:lnSpc>
              <a:spcBef>
                <a:spcPct val="0"/>
              </a:spcBef>
            </a:pPr>
          </a:p>
        </p:txBody>
      </p:sp>
      <p:sp>
        <p:nvSpPr>
          <p:cNvPr name="TextBox 71" id="71"/>
          <p:cNvSpPr txBox="true"/>
          <p:nvPr/>
        </p:nvSpPr>
        <p:spPr>
          <a:xfrm rot="0">
            <a:off x="1897492" y="9298614"/>
            <a:ext cx="12102842" cy="677768"/>
          </a:xfrm>
          <a:prstGeom prst="rect">
            <a:avLst/>
          </a:prstGeom>
        </p:spPr>
        <p:txBody>
          <a:bodyPr anchor="t" rtlCol="false" tIns="0" lIns="0" bIns="0" rIns="0">
            <a:spAutoFit/>
          </a:bodyPr>
          <a:lstStyle/>
          <a:p>
            <a:pPr algn="l">
              <a:lnSpc>
                <a:spcPts val="2772"/>
              </a:lnSpc>
            </a:pPr>
            <a:r>
              <a:rPr lang="en-US" sz="2132" b="true">
                <a:solidFill>
                  <a:srgbClr val="000000"/>
                </a:solidFill>
                <a:latin typeface="Open Sans 1 Bold"/>
                <a:ea typeface="Open Sans 1 Bold"/>
                <a:cs typeface="Open Sans 1 Bold"/>
                <a:sym typeface="Open Sans 1 Bold"/>
              </a:rPr>
              <a:t>Fog and rain introduce a mix of neutral, stressed, and tired moods.</a:t>
            </a:r>
          </a:p>
          <a:p>
            <a:pPr algn="l" marL="0" indent="0" lvl="0">
              <a:lnSpc>
                <a:spcPts val="2772"/>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811706"/>
            <a:ext cx="14888517" cy="6728431"/>
            <a:chOff x="0" y="0"/>
            <a:chExt cx="6140596" cy="2775063"/>
          </a:xfrm>
        </p:grpSpPr>
        <p:sp>
          <p:nvSpPr>
            <p:cNvPr name="Freeform 4" id="4"/>
            <p:cNvSpPr/>
            <p:nvPr/>
          </p:nvSpPr>
          <p:spPr>
            <a:xfrm flipH="false" flipV="false" rot="0">
              <a:off x="0" y="0"/>
              <a:ext cx="6140597" cy="2775064"/>
            </a:xfrm>
            <a:custGeom>
              <a:avLst/>
              <a:gdLst/>
              <a:ahLst/>
              <a:cxnLst/>
              <a:rect r="r" b="b" t="t" l="l"/>
              <a:pathLst>
                <a:path h="2775064" w="6140597">
                  <a:moveTo>
                    <a:pt x="6016136" y="2775063"/>
                  </a:moveTo>
                  <a:lnTo>
                    <a:pt x="124460" y="2775063"/>
                  </a:lnTo>
                  <a:cubicBezTo>
                    <a:pt x="55880" y="2775063"/>
                    <a:pt x="0" y="2719183"/>
                    <a:pt x="0" y="2650603"/>
                  </a:cubicBezTo>
                  <a:lnTo>
                    <a:pt x="0" y="124460"/>
                  </a:lnTo>
                  <a:cubicBezTo>
                    <a:pt x="0" y="55880"/>
                    <a:pt x="55880" y="0"/>
                    <a:pt x="124460" y="0"/>
                  </a:cubicBezTo>
                  <a:lnTo>
                    <a:pt x="6016136" y="0"/>
                  </a:lnTo>
                  <a:cubicBezTo>
                    <a:pt x="6084716" y="0"/>
                    <a:pt x="6140597" y="55880"/>
                    <a:pt x="6140597" y="124460"/>
                  </a:cubicBezTo>
                  <a:lnTo>
                    <a:pt x="6140597" y="2650604"/>
                  </a:lnTo>
                  <a:cubicBezTo>
                    <a:pt x="6140597" y="2719183"/>
                    <a:pt x="6084716" y="2775064"/>
                    <a:pt x="6016136" y="2775064"/>
                  </a:cubicBezTo>
                  <a:close/>
                </a:path>
              </a:pathLst>
            </a:custGeom>
            <a:solidFill>
              <a:srgbClr val="D6DCFF"/>
            </a:solidFill>
          </p:spPr>
        </p:sp>
      </p:grpSp>
      <p:sp>
        <p:nvSpPr>
          <p:cNvPr name="Freeform 5" id="5"/>
          <p:cNvSpPr/>
          <p:nvPr/>
        </p:nvSpPr>
        <p:spPr>
          <a:xfrm flipH="false" flipV="false" rot="0">
            <a:off x="1148398" y="2092198"/>
            <a:ext cx="4888428" cy="533283"/>
          </a:xfrm>
          <a:custGeom>
            <a:avLst/>
            <a:gdLst/>
            <a:ahLst/>
            <a:cxnLst/>
            <a:rect r="r" b="b" t="t" l="l"/>
            <a:pathLst>
              <a:path h="533283" w="4888428">
                <a:moveTo>
                  <a:pt x="0" y="0"/>
                </a:moveTo>
                <a:lnTo>
                  <a:pt x="4888428" y="0"/>
                </a:lnTo>
                <a:lnTo>
                  <a:pt x="4888428" y="533283"/>
                </a:lnTo>
                <a:lnTo>
                  <a:pt x="0" y="533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831324" y="2116578"/>
            <a:ext cx="4888428" cy="533283"/>
          </a:xfrm>
          <a:custGeom>
            <a:avLst/>
            <a:gdLst/>
            <a:ahLst/>
            <a:cxnLst/>
            <a:rect r="r" b="b" t="t" l="l"/>
            <a:pathLst>
              <a:path h="533283" w="4888428">
                <a:moveTo>
                  <a:pt x="0" y="0"/>
                </a:moveTo>
                <a:lnTo>
                  <a:pt x="4888428" y="0"/>
                </a:lnTo>
                <a:lnTo>
                  <a:pt x="4888428" y="533283"/>
                </a:lnTo>
                <a:lnTo>
                  <a:pt x="0" y="533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462589" y="2131635"/>
            <a:ext cx="6380798" cy="450215"/>
          </a:xfrm>
          <a:prstGeom prst="rect">
            <a:avLst/>
          </a:prstGeom>
        </p:spPr>
        <p:txBody>
          <a:bodyPr anchor="t" rtlCol="false" tIns="0" lIns="0" bIns="0" rIns="0">
            <a:spAutoFit/>
          </a:bodyPr>
          <a:lstStyle/>
          <a:p>
            <a:pPr algn="ctr">
              <a:lnSpc>
                <a:spcPts val="3639"/>
              </a:lnSpc>
              <a:spcBef>
                <a:spcPct val="0"/>
              </a:spcBef>
            </a:pPr>
            <a:r>
              <a:rPr lang="en-US" b="true" sz="2799">
                <a:solidFill>
                  <a:srgbClr val="000000"/>
                </a:solidFill>
                <a:latin typeface="Open Sans 1 Bold"/>
                <a:ea typeface="Open Sans 1 Bold"/>
                <a:cs typeface="Open Sans 1 Bold"/>
                <a:sym typeface="Open Sans 1 Bold"/>
              </a:rPr>
              <a:t>Implications and Recommendations</a:t>
            </a:r>
          </a:p>
        </p:txBody>
      </p:sp>
      <p:sp>
        <p:nvSpPr>
          <p:cNvPr name="TextBox 8" id="8"/>
          <p:cNvSpPr txBox="true"/>
          <p:nvPr/>
        </p:nvSpPr>
        <p:spPr>
          <a:xfrm rot="0">
            <a:off x="2045374" y="3029300"/>
            <a:ext cx="966267" cy="480082"/>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1 Bold"/>
                <a:ea typeface="Open Sans 1 Bold"/>
                <a:cs typeface="Open Sans 1 Bold"/>
                <a:sym typeface="Open Sans 1 Bold"/>
              </a:rPr>
              <a:t> Gym:</a:t>
            </a:r>
          </a:p>
        </p:txBody>
      </p:sp>
      <p:grpSp>
        <p:nvGrpSpPr>
          <p:cNvPr name="Group 9" id="9"/>
          <p:cNvGrpSpPr/>
          <p:nvPr/>
        </p:nvGrpSpPr>
        <p:grpSpPr>
          <a:xfrm rot="0">
            <a:off x="1659286" y="3106943"/>
            <a:ext cx="411774" cy="41177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1" id="11"/>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2" id="12"/>
          <p:cNvSpPr txBox="true"/>
          <p:nvPr/>
        </p:nvSpPr>
        <p:spPr>
          <a:xfrm rot="0">
            <a:off x="1659286" y="3628187"/>
            <a:ext cx="14120932" cy="677768"/>
          </a:xfrm>
          <a:prstGeom prst="rect">
            <a:avLst/>
          </a:prstGeom>
        </p:spPr>
        <p:txBody>
          <a:bodyPr anchor="t" rtlCol="false" tIns="0" lIns="0" bIns="0" rIns="0">
            <a:spAutoFit/>
          </a:bodyPr>
          <a:lstStyle/>
          <a:p>
            <a:pPr algn="l"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Provide bright and motivational activities (e.g., music or group classes) during foggy and snowy days.</a:t>
            </a:r>
          </a:p>
          <a:p>
            <a:pPr algn="l"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Capitalize on clear weather for outdoor sessions.</a:t>
            </a:r>
          </a:p>
        </p:txBody>
      </p:sp>
      <p:sp>
        <p:nvSpPr>
          <p:cNvPr name="TextBox 13" id="13"/>
          <p:cNvSpPr txBox="true"/>
          <p:nvPr/>
        </p:nvSpPr>
        <p:spPr>
          <a:xfrm rot="0">
            <a:off x="2071060" y="4381743"/>
            <a:ext cx="1274331" cy="480082"/>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1 Bold"/>
                <a:ea typeface="Open Sans 1 Bold"/>
                <a:cs typeface="Open Sans 1 Bold"/>
                <a:sym typeface="Open Sans 1 Bold"/>
              </a:rPr>
              <a:t> Home:</a:t>
            </a:r>
          </a:p>
        </p:txBody>
      </p:sp>
      <p:grpSp>
        <p:nvGrpSpPr>
          <p:cNvPr name="Group 14" id="14"/>
          <p:cNvGrpSpPr/>
          <p:nvPr/>
        </p:nvGrpSpPr>
        <p:grpSpPr>
          <a:xfrm rot="0">
            <a:off x="1633600" y="4451304"/>
            <a:ext cx="411774" cy="41177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6" id="16"/>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7" id="17"/>
          <p:cNvSpPr txBox="true"/>
          <p:nvPr/>
        </p:nvSpPr>
        <p:spPr>
          <a:xfrm rot="0">
            <a:off x="2045374" y="5730437"/>
            <a:ext cx="1274331" cy="481335"/>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Extra Bold"/>
                <a:ea typeface="Open Sans Extra Bold"/>
                <a:cs typeface="Open Sans Extra Bold"/>
                <a:sym typeface="Open Sans Extra Bold"/>
              </a:rPr>
              <a:t> Office:</a:t>
            </a:r>
          </a:p>
        </p:txBody>
      </p:sp>
      <p:sp>
        <p:nvSpPr>
          <p:cNvPr name="TextBox 18" id="18"/>
          <p:cNvSpPr txBox="true"/>
          <p:nvPr/>
        </p:nvSpPr>
        <p:spPr>
          <a:xfrm rot="0">
            <a:off x="2045374" y="7062382"/>
            <a:ext cx="2779054" cy="480082"/>
          </a:xfrm>
          <a:prstGeom prst="rect">
            <a:avLst/>
          </a:prstGeom>
        </p:spPr>
        <p:txBody>
          <a:bodyPr anchor="t" rtlCol="false" tIns="0" lIns="0" bIns="0" rIns="0">
            <a:spAutoFit/>
          </a:bodyPr>
          <a:lstStyle/>
          <a:p>
            <a:pPr algn="ctr">
              <a:lnSpc>
                <a:spcPts val="4094"/>
              </a:lnSpc>
              <a:spcBef>
                <a:spcPct val="0"/>
              </a:spcBef>
            </a:pPr>
            <a:r>
              <a:rPr lang="en-US" b="true" sz="2624">
                <a:solidFill>
                  <a:srgbClr val="000000"/>
                </a:solidFill>
                <a:latin typeface="Open Sans 1 Bold"/>
                <a:ea typeface="Open Sans 1 Bold"/>
                <a:cs typeface="Open Sans 1 Bold"/>
                <a:sym typeface="Open Sans 1 Bold"/>
              </a:rPr>
              <a:t> Other Location:</a:t>
            </a:r>
          </a:p>
        </p:txBody>
      </p:sp>
      <p:grpSp>
        <p:nvGrpSpPr>
          <p:cNvPr name="Group 19" id="19"/>
          <p:cNvGrpSpPr/>
          <p:nvPr/>
        </p:nvGrpSpPr>
        <p:grpSpPr>
          <a:xfrm rot="0">
            <a:off x="1607914" y="5795665"/>
            <a:ext cx="411774" cy="41177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1" id="21"/>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22" id="22"/>
          <p:cNvGrpSpPr/>
          <p:nvPr/>
        </p:nvGrpSpPr>
        <p:grpSpPr>
          <a:xfrm rot="0">
            <a:off x="1582228" y="7140025"/>
            <a:ext cx="411774" cy="41177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4" id="24"/>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5" id="25"/>
          <p:cNvSpPr txBox="true"/>
          <p:nvPr/>
        </p:nvSpPr>
        <p:spPr>
          <a:xfrm rot="0">
            <a:off x="1659286" y="4986903"/>
            <a:ext cx="11244024" cy="677768"/>
          </a:xfrm>
          <a:prstGeom prst="rect">
            <a:avLst/>
          </a:prstGeom>
        </p:spPr>
        <p:txBody>
          <a:bodyPr anchor="t" rtlCol="false" tIns="0" lIns="0" bIns="0" rIns="0">
            <a:spAutoFit/>
          </a:bodyPr>
          <a:lstStyle/>
          <a:p>
            <a:pPr algn="l"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Encourage relaxing indoor activities during snowy weather to reduce tiredness.</a:t>
            </a:r>
          </a:p>
          <a:p>
            <a:pPr algn="l"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Use rainy days to promote creative or mood-enhancing activities.</a:t>
            </a:r>
          </a:p>
        </p:txBody>
      </p:sp>
      <p:sp>
        <p:nvSpPr>
          <p:cNvPr name="TextBox 26" id="26"/>
          <p:cNvSpPr txBox="true"/>
          <p:nvPr/>
        </p:nvSpPr>
        <p:spPr>
          <a:xfrm rot="0">
            <a:off x="1659286" y="6326072"/>
            <a:ext cx="10579418" cy="677768"/>
          </a:xfrm>
          <a:prstGeom prst="rect">
            <a:avLst/>
          </a:prstGeom>
        </p:spPr>
        <p:txBody>
          <a:bodyPr anchor="t" rtlCol="false" tIns="0" lIns="0" bIns="0" rIns="0">
            <a:spAutoFit/>
          </a:bodyPr>
          <a:lstStyle/>
          <a:p>
            <a:pPr algn="l"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Implement stress-relief programs or breaks during foggy and rainy days.</a:t>
            </a:r>
          </a:p>
          <a:p>
            <a:pPr algn="l"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Optimize workspace lighting and ambiance for clear weather productivity.</a:t>
            </a:r>
          </a:p>
        </p:txBody>
      </p:sp>
      <p:sp>
        <p:nvSpPr>
          <p:cNvPr name="TextBox 27" id="27"/>
          <p:cNvSpPr txBox="true"/>
          <p:nvPr/>
        </p:nvSpPr>
        <p:spPr>
          <a:xfrm rot="0">
            <a:off x="1487280" y="7694674"/>
            <a:ext cx="8547616" cy="334868"/>
          </a:xfrm>
          <a:prstGeom prst="rect">
            <a:avLst/>
          </a:prstGeom>
        </p:spPr>
        <p:txBody>
          <a:bodyPr anchor="t" rtlCol="false" tIns="0" lIns="0" bIns="0" rIns="0">
            <a:spAutoFit/>
          </a:bodyPr>
          <a:lstStyle/>
          <a:p>
            <a:pPr algn="ctr" marL="460396" indent="-230198" lvl="1">
              <a:lnSpc>
                <a:spcPts val="2772"/>
              </a:lnSpc>
              <a:buFont typeface="Arial"/>
              <a:buChar char="•"/>
            </a:pPr>
            <a:r>
              <a:rPr lang="en-US" b="true" sz="2132">
                <a:solidFill>
                  <a:srgbClr val="000000"/>
                </a:solidFill>
                <a:latin typeface="Open Sans 1 Bold"/>
                <a:ea typeface="Open Sans 1 Bold"/>
                <a:cs typeface="Open Sans 1 Bold"/>
                <a:sym typeface="Open Sans 1 Bold"/>
              </a:rPr>
              <a:t> Consider flexible strategies based on specific activity types.</a:t>
            </a:r>
          </a:p>
        </p:txBody>
      </p:sp>
      <p:sp>
        <p:nvSpPr>
          <p:cNvPr name="Freeform 28" id="28"/>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5">
              <a:alphaModFix amt="49000"/>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7">
              <a:alphaModFix amt="49000"/>
              <a:extLst>
                <a:ext uri="{96DAC541-7B7A-43D3-8B79-37D633B846F1}">
                  <asvg:svgBlip xmlns:asvg="http://schemas.microsoft.com/office/drawing/2016/SVG/main" r:embed="rId8"/>
                </a:ext>
              </a:extLst>
            </a:blip>
            <a:stretch>
              <a:fillRect l="0" t="0" r="0" b="0"/>
            </a:stretch>
          </a:blipFill>
        </p:spPr>
      </p:sp>
      <p:sp>
        <p:nvSpPr>
          <p:cNvPr name="Freeform 30" id="30"/>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alphaModFix amt="49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31" id="31"/>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alphaModFix amt="49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32" id="32"/>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alphaModFix amt="49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33" id="33"/>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alphaModFix amt="49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34" id="34"/>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alphaModFix amt="49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35" id="35"/>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alphaModFix amt="49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36" id="36"/>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alphaModFix amt="49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37" id="37"/>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alphaModFix amt="49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38" id="38"/>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alphaModFix amt="49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39" id="39"/>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alphaModFix amt="49000"/>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40" id="40"/>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alphaModFix amt="49000"/>
              <a:extLst>
                <a:ext uri="{96DAC541-7B7A-43D3-8B79-37D633B846F1}">
                  <asvg:svgBlip xmlns:asvg="http://schemas.microsoft.com/office/drawing/2016/SVG/main" r:embed="rId30"/>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811706"/>
            <a:ext cx="14888517" cy="6728431"/>
            <a:chOff x="0" y="0"/>
            <a:chExt cx="6140596" cy="2775063"/>
          </a:xfrm>
        </p:grpSpPr>
        <p:sp>
          <p:nvSpPr>
            <p:cNvPr name="Freeform 4" id="4"/>
            <p:cNvSpPr/>
            <p:nvPr/>
          </p:nvSpPr>
          <p:spPr>
            <a:xfrm flipH="false" flipV="false" rot="0">
              <a:off x="0" y="0"/>
              <a:ext cx="6140597" cy="2775064"/>
            </a:xfrm>
            <a:custGeom>
              <a:avLst/>
              <a:gdLst/>
              <a:ahLst/>
              <a:cxnLst/>
              <a:rect r="r" b="b" t="t" l="l"/>
              <a:pathLst>
                <a:path h="2775064" w="6140597">
                  <a:moveTo>
                    <a:pt x="6016136" y="2775063"/>
                  </a:moveTo>
                  <a:lnTo>
                    <a:pt x="124460" y="2775063"/>
                  </a:lnTo>
                  <a:cubicBezTo>
                    <a:pt x="55880" y="2775063"/>
                    <a:pt x="0" y="2719183"/>
                    <a:pt x="0" y="2650603"/>
                  </a:cubicBezTo>
                  <a:lnTo>
                    <a:pt x="0" y="124460"/>
                  </a:lnTo>
                  <a:cubicBezTo>
                    <a:pt x="0" y="55880"/>
                    <a:pt x="55880" y="0"/>
                    <a:pt x="124460" y="0"/>
                  </a:cubicBezTo>
                  <a:lnTo>
                    <a:pt x="6016136" y="0"/>
                  </a:lnTo>
                  <a:cubicBezTo>
                    <a:pt x="6084716" y="0"/>
                    <a:pt x="6140597" y="55880"/>
                    <a:pt x="6140597" y="124460"/>
                  </a:cubicBezTo>
                  <a:lnTo>
                    <a:pt x="6140597" y="2650604"/>
                  </a:lnTo>
                  <a:cubicBezTo>
                    <a:pt x="6140597" y="2719183"/>
                    <a:pt x="6084716" y="2775064"/>
                    <a:pt x="6016136" y="2775064"/>
                  </a:cubicBezTo>
                  <a:close/>
                </a:path>
              </a:pathLst>
            </a:custGeom>
            <a:solidFill>
              <a:srgbClr val="D6DCFF"/>
            </a:solidFill>
          </p:spPr>
        </p:sp>
      </p:grpSp>
      <p:sp>
        <p:nvSpPr>
          <p:cNvPr name="Freeform 5" id="5"/>
          <p:cNvSpPr/>
          <p:nvPr/>
        </p:nvSpPr>
        <p:spPr>
          <a:xfrm flipH="false" flipV="false" rot="0">
            <a:off x="1016963" y="2095443"/>
            <a:ext cx="4785403" cy="522044"/>
          </a:xfrm>
          <a:custGeom>
            <a:avLst/>
            <a:gdLst/>
            <a:ahLst/>
            <a:cxnLst/>
            <a:rect r="r" b="b" t="t" l="l"/>
            <a:pathLst>
              <a:path h="522044" w="4785403">
                <a:moveTo>
                  <a:pt x="0" y="0"/>
                </a:moveTo>
                <a:lnTo>
                  <a:pt x="4785403" y="0"/>
                </a:lnTo>
                <a:lnTo>
                  <a:pt x="4785403" y="522044"/>
                </a:lnTo>
                <a:lnTo>
                  <a:pt x="0" y="522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643345" y="2119310"/>
            <a:ext cx="4785403" cy="522044"/>
          </a:xfrm>
          <a:custGeom>
            <a:avLst/>
            <a:gdLst/>
            <a:ahLst/>
            <a:cxnLst/>
            <a:rect r="r" b="b" t="t" l="l"/>
            <a:pathLst>
              <a:path h="522044" w="4785403">
                <a:moveTo>
                  <a:pt x="0" y="0"/>
                </a:moveTo>
                <a:lnTo>
                  <a:pt x="4785403" y="0"/>
                </a:lnTo>
                <a:lnTo>
                  <a:pt x="4785403" y="522044"/>
                </a:lnTo>
                <a:lnTo>
                  <a:pt x="0" y="522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65611" y="2098206"/>
            <a:ext cx="6412111" cy="511810"/>
          </a:xfrm>
          <a:prstGeom prst="rect">
            <a:avLst/>
          </a:prstGeom>
        </p:spPr>
        <p:txBody>
          <a:bodyPr anchor="t" rtlCol="false" tIns="0" lIns="0" bIns="0" rIns="0">
            <a:spAutoFit/>
          </a:bodyPr>
          <a:lstStyle/>
          <a:p>
            <a:pPr algn="ctr">
              <a:lnSpc>
                <a:spcPts val="4160"/>
              </a:lnSpc>
              <a:spcBef>
                <a:spcPct val="0"/>
              </a:spcBef>
            </a:pPr>
            <a:r>
              <a:rPr lang="en-US" b="true" sz="3200">
                <a:solidFill>
                  <a:srgbClr val="000000"/>
                </a:solidFill>
                <a:latin typeface="Open Sans 1 Bold"/>
                <a:ea typeface="Open Sans 1 Bold"/>
                <a:cs typeface="Open Sans 1 Bold"/>
                <a:sym typeface="Open Sans 1 Bold"/>
              </a:rPr>
              <a:t>Next Steps and Deeper Analysis</a:t>
            </a:r>
          </a:p>
        </p:txBody>
      </p:sp>
      <p:sp>
        <p:nvSpPr>
          <p:cNvPr name="TextBox 8" id="8"/>
          <p:cNvSpPr txBox="true"/>
          <p:nvPr/>
        </p:nvSpPr>
        <p:spPr>
          <a:xfrm rot="0">
            <a:off x="1669889" y="3133743"/>
            <a:ext cx="5522714" cy="379095"/>
          </a:xfrm>
          <a:prstGeom prst="rect">
            <a:avLst/>
          </a:prstGeom>
        </p:spPr>
        <p:txBody>
          <a:bodyPr anchor="t" rtlCol="false" tIns="0" lIns="0" bIns="0" rIns="0">
            <a:spAutoFit/>
          </a:bodyPr>
          <a:lstStyle/>
          <a:p>
            <a:pPr algn="ctr">
              <a:lnSpc>
                <a:spcPts val="3120"/>
              </a:lnSpc>
              <a:spcBef>
                <a:spcPct val="0"/>
              </a:spcBef>
            </a:pPr>
            <a:r>
              <a:rPr lang="en-US" b="true" sz="2400">
                <a:solidFill>
                  <a:srgbClr val="000000"/>
                </a:solidFill>
                <a:latin typeface="Open Sans 1 Bold"/>
                <a:ea typeface="Open Sans 1 Bold"/>
                <a:cs typeface="Open Sans 1 Bold"/>
                <a:sym typeface="Open Sans 1 Bold"/>
              </a:rPr>
              <a:t>Potential Areas for Further Analysis:</a:t>
            </a:r>
          </a:p>
        </p:txBody>
      </p:sp>
      <p:sp>
        <p:nvSpPr>
          <p:cNvPr name="TextBox 9" id="9"/>
          <p:cNvSpPr txBox="true"/>
          <p:nvPr/>
        </p:nvSpPr>
        <p:spPr>
          <a:xfrm rot="0">
            <a:off x="1775818" y="3680013"/>
            <a:ext cx="10661333" cy="2049368"/>
          </a:xfrm>
          <a:prstGeom prst="rect">
            <a:avLst/>
          </a:prstGeom>
        </p:spPr>
        <p:txBody>
          <a:bodyPr anchor="t" rtlCol="false" tIns="0" lIns="0" bIns="0" rIns="0">
            <a:spAutoFit/>
          </a:bodyPr>
          <a:lstStyle/>
          <a:p>
            <a:pPr algn="l">
              <a:lnSpc>
                <a:spcPts val="2772"/>
              </a:lnSpc>
              <a:spcBef>
                <a:spcPct val="0"/>
              </a:spcBef>
            </a:pPr>
            <a:r>
              <a:rPr lang="en-US" b="true" sz="2132">
                <a:solidFill>
                  <a:srgbClr val="000000"/>
                </a:solidFill>
                <a:latin typeface="Open Sans 1 Bold"/>
                <a:ea typeface="Open Sans 1 Bold"/>
                <a:cs typeface="Open Sans 1 Bold"/>
                <a:sym typeface="Open Sans 1 Bold"/>
              </a:rPr>
              <a:t> 1. Time of Day:</a:t>
            </a:r>
          </a:p>
          <a:p>
            <a:pPr algn="l">
              <a:lnSpc>
                <a:spcPts val="2772"/>
              </a:lnSpc>
              <a:spcBef>
                <a:spcPct val="0"/>
              </a:spcBef>
            </a:pPr>
            <a:r>
              <a:rPr lang="en-US" b="true" sz="2132">
                <a:solidFill>
                  <a:srgbClr val="000000"/>
                </a:solidFill>
                <a:latin typeface="Open Sans 1 Bold"/>
                <a:ea typeface="Open Sans 1 Bold"/>
                <a:cs typeface="Open Sans 1 Bold"/>
                <a:sym typeface="Open Sans 1 Bold"/>
              </a:rPr>
              <a:t> • How does mood vary across morning, afternoon, and evening?</a:t>
            </a:r>
          </a:p>
          <a:p>
            <a:pPr algn="l">
              <a:lnSpc>
                <a:spcPts val="2772"/>
              </a:lnSpc>
              <a:spcBef>
                <a:spcPct val="0"/>
              </a:spcBef>
            </a:pPr>
            <a:r>
              <a:rPr lang="en-US" b="true" sz="2132">
                <a:solidFill>
                  <a:srgbClr val="000000"/>
                </a:solidFill>
                <a:latin typeface="Open Sans 1 Bold"/>
                <a:ea typeface="Open Sans 1 Bold"/>
                <a:cs typeface="Open Sans 1 Bold"/>
                <a:sym typeface="Open Sans 1 Bold"/>
              </a:rPr>
              <a:t> 2. Activity Type:</a:t>
            </a:r>
          </a:p>
          <a:p>
            <a:pPr algn="l">
              <a:lnSpc>
                <a:spcPts val="2772"/>
              </a:lnSpc>
              <a:spcBef>
                <a:spcPct val="0"/>
              </a:spcBef>
            </a:pPr>
            <a:r>
              <a:rPr lang="en-US" b="true" sz="2132">
                <a:solidFill>
                  <a:srgbClr val="000000"/>
                </a:solidFill>
                <a:latin typeface="Open Sans 1 Bold"/>
                <a:ea typeface="Open Sans 1 Bold"/>
                <a:cs typeface="Open Sans 1 Bold"/>
                <a:sym typeface="Open Sans 1 Bold"/>
              </a:rPr>
              <a:t> • Analyze the role of specific activities (e.g., work vs. leisure) on mood.</a:t>
            </a:r>
          </a:p>
          <a:p>
            <a:pPr algn="l">
              <a:lnSpc>
                <a:spcPts val="2772"/>
              </a:lnSpc>
              <a:spcBef>
                <a:spcPct val="0"/>
              </a:spcBef>
            </a:pPr>
            <a:r>
              <a:rPr lang="en-US" b="true" sz="2132">
                <a:solidFill>
                  <a:srgbClr val="000000"/>
                </a:solidFill>
                <a:latin typeface="Open Sans 1 Bold"/>
                <a:ea typeface="Open Sans 1 Bold"/>
                <a:cs typeface="Open Sans 1 Bold"/>
                <a:sym typeface="Open Sans 1 Bold"/>
              </a:rPr>
              <a:t> 3. Individual Trends:</a:t>
            </a:r>
          </a:p>
          <a:p>
            <a:pPr algn="l">
              <a:lnSpc>
                <a:spcPts val="2772"/>
              </a:lnSpc>
              <a:spcBef>
                <a:spcPct val="0"/>
              </a:spcBef>
            </a:pPr>
            <a:r>
              <a:rPr lang="en-US" b="true" sz="2132">
                <a:solidFill>
                  <a:srgbClr val="000000"/>
                </a:solidFill>
                <a:latin typeface="Open Sans 1 Bold"/>
                <a:ea typeface="Open Sans 1 Bold"/>
                <a:cs typeface="Open Sans 1 Bold"/>
                <a:sym typeface="Open Sans 1 Bold"/>
              </a:rPr>
              <a:t> • Study mood patterns for individual users for personalized recommendations.</a:t>
            </a:r>
          </a:p>
        </p:txBody>
      </p:sp>
      <p:sp>
        <p:nvSpPr>
          <p:cNvPr name="TextBox 10" id="10"/>
          <p:cNvSpPr txBox="true"/>
          <p:nvPr/>
        </p:nvSpPr>
        <p:spPr>
          <a:xfrm rot="0">
            <a:off x="1730529" y="6796180"/>
            <a:ext cx="2317790" cy="379095"/>
          </a:xfrm>
          <a:prstGeom prst="rect">
            <a:avLst/>
          </a:prstGeom>
        </p:spPr>
        <p:txBody>
          <a:bodyPr anchor="t" rtlCol="false" tIns="0" lIns="0" bIns="0" rIns="0">
            <a:spAutoFit/>
          </a:bodyPr>
          <a:lstStyle/>
          <a:p>
            <a:pPr algn="ctr">
              <a:lnSpc>
                <a:spcPts val="3120"/>
              </a:lnSpc>
              <a:spcBef>
                <a:spcPct val="0"/>
              </a:spcBef>
            </a:pPr>
            <a:r>
              <a:rPr lang="en-US" b="true" sz="2400">
                <a:solidFill>
                  <a:srgbClr val="000000"/>
                </a:solidFill>
                <a:latin typeface="Open Sans 1 Bold"/>
                <a:ea typeface="Open Sans 1 Bold"/>
                <a:cs typeface="Open Sans 1 Bold"/>
                <a:sym typeface="Open Sans 1 Bold"/>
              </a:rPr>
              <a:t>Future Actions:</a:t>
            </a:r>
          </a:p>
        </p:txBody>
      </p:sp>
      <p:sp>
        <p:nvSpPr>
          <p:cNvPr name="TextBox 11" id="11"/>
          <p:cNvSpPr txBox="true"/>
          <p:nvPr/>
        </p:nvSpPr>
        <p:spPr>
          <a:xfrm rot="0">
            <a:off x="1775818" y="7482451"/>
            <a:ext cx="12971384" cy="677768"/>
          </a:xfrm>
          <a:prstGeom prst="rect">
            <a:avLst/>
          </a:prstGeom>
        </p:spPr>
        <p:txBody>
          <a:bodyPr anchor="t" rtlCol="false" tIns="0" lIns="0" bIns="0" rIns="0">
            <a:spAutoFit/>
          </a:bodyPr>
          <a:lstStyle/>
          <a:p>
            <a:pPr algn="l">
              <a:lnSpc>
                <a:spcPts val="2772"/>
              </a:lnSpc>
              <a:spcBef>
                <a:spcPct val="0"/>
              </a:spcBef>
            </a:pPr>
            <a:r>
              <a:rPr lang="en-US" b="true" sz="2132">
                <a:solidFill>
                  <a:srgbClr val="000000"/>
                </a:solidFill>
                <a:latin typeface="Open Sans 1 Bold"/>
                <a:ea typeface="Open Sans 1 Bold"/>
                <a:cs typeface="Open Sans 1 Bold"/>
                <a:sym typeface="Open Sans 1 Bold"/>
              </a:rPr>
              <a:t> • Design weather and location-specific well-being strategies.</a:t>
            </a:r>
          </a:p>
          <a:p>
            <a:pPr algn="l">
              <a:lnSpc>
                <a:spcPts val="2772"/>
              </a:lnSpc>
              <a:spcBef>
                <a:spcPct val="0"/>
              </a:spcBef>
            </a:pPr>
            <a:r>
              <a:rPr lang="en-US" b="true" sz="2132">
                <a:solidFill>
                  <a:srgbClr val="000000"/>
                </a:solidFill>
                <a:latin typeface="Open Sans 1 Bold"/>
                <a:ea typeface="Open Sans 1 Bold"/>
                <a:cs typeface="Open Sans 1 Bold"/>
                <a:sym typeface="Open Sans 1 Bold"/>
              </a:rPr>
              <a:t> • Consider integrating external datasets like temperature or event schedules for a holistic view.</a:t>
            </a:r>
          </a:p>
        </p:txBody>
      </p:sp>
      <p:sp>
        <p:nvSpPr>
          <p:cNvPr name="Freeform 12" id="1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5" id="1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6" id="1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7" id="1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8" id="1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9" id="1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20" id="2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21" id="2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22" id="2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23" id="2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alphaModFix amt="50000"/>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24" id="2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alphaModFix amt="50000"/>
              <a:extLst>
                <a:ext uri="{96DAC541-7B7A-43D3-8B79-37D633B846F1}">
                  <asvg:svgBlip xmlns:asvg="http://schemas.microsoft.com/office/drawing/2016/SVG/main" r:embed="rId30"/>
                </a:ext>
              </a:extLst>
            </a:blip>
            <a:stretch>
              <a:fillRect l="0" t="0" r="0" b="0"/>
            </a:stretch>
          </a:blipFill>
          <a:ln cap="sq">
            <a:noFill/>
            <a:prstDash val="solid"/>
            <a:miter/>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0" y="2275460"/>
            <a:ext cx="18288000" cy="5395183"/>
          </a:xfrm>
          <a:prstGeom prst="rect">
            <a:avLst/>
          </a:prstGeom>
        </p:spPr>
        <p:txBody>
          <a:bodyPr anchor="t" rtlCol="false" tIns="0" lIns="0" bIns="0" rIns="0">
            <a:spAutoFit/>
          </a:bodyPr>
          <a:lstStyle/>
          <a:p>
            <a:pPr algn="l" marL="525165" indent="-262582" lvl="1">
              <a:lnSpc>
                <a:spcPts val="3162"/>
              </a:lnSpc>
              <a:buFont typeface="Arial"/>
              <a:buChar char="•"/>
            </a:pPr>
            <a:r>
              <a:rPr lang="en-US" b="true" sz="2432">
                <a:solidFill>
                  <a:srgbClr val="000000"/>
                </a:solidFill>
                <a:latin typeface="Open Sans 1 Bold"/>
                <a:ea typeface="Open Sans 1 Bold"/>
                <a:cs typeface="Open Sans 1 Bold"/>
                <a:sym typeface="Open Sans 1 Bold"/>
              </a:rPr>
              <a:t>Objective: Study if specific locations (Park, Office, Home, Gym, Other) are associated with particular moods, and whether weather conditions influence these associations.</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Data: Collect data on workout locations (Park, Office, Home, Gym, Other), mood scores, and weather conditions (e.g., temperature, rain, humidity, sunlight).</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Preparation: Categorize locations and weather conditions, normalize mood scores based on individual differences, and group weather data (sunny, rainy, etc.).</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Visualization: Use bar charts to show mood distribution across locations, scatter plots for mood vs. weather conditions at each location, and heatmaps to identify correlations between location, weather, and mood.</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Insights: Identify locations where mood tends to be most positive, determine if weather conditions enhance or hinder mood at specific locations, and highlight trends for optimal workout locations under various weather conditions.</a:t>
            </a:r>
          </a:p>
        </p:txBody>
      </p:sp>
      <p:sp>
        <p:nvSpPr>
          <p:cNvPr name="Freeform 4" id="4"/>
          <p:cNvSpPr/>
          <p:nvPr/>
        </p:nvSpPr>
        <p:spPr>
          <a:xfrm flipH="false" flipV="false" rot="0">
            <a:off x="10580211" y="243756"/>
            <a:ext cx="1061836" cy="1087541"/>
          </a:xfrm>
          <a:custGeom>
            <a:avLst/>
            <a:gdLst/>
            <a:ahLst/>
            <a:cxnLst/>
            <a:rect r="r" b="b" t="t" l="l"/>
            <a:pathLst>
              <a:path h="1087541" w="1061836">
                <a:moveTo>
                  <a:pt x="0" y="0"/>
                </a:moveTo>
                <a:lnTo>
                  <a:pt x="1061836" y="0"/>
                </a:lnTo>
                <a:lnTo>
                  <a:pt x="1061836" y="1087541"/>
                </a:lnTo>
                <a:lnTo>
                  <a:pt x="0" y="10875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707789" y="441577"/>
            <a:ext cx="2872422" cy="587123"/>
          </a:xfrm>
          <a:prstGeom prst="rect">
            <a:avLst/>
          </a:prstGeom>
        </p:spPr>
        <p:txBody>
          <a:bodyPr anchor="t" rtlCol="false" tIns="0" lIns="0" bIns="0" rIns="0">
            <a:spAutoFit/>
          </a:bodyPr>
          <a:lstStyle/>
          <a:p>
            <a:pPr algn="ctr">
              <a:lnSpc>
                <a:spcPts val="4991"/>
              </a:lnSpc>
              <a:spcBef>
                <a:spcPct val="0"/>
              </a:spcBef>
            </a:pPr>
            <a:r>
              <a:rPr lang="en-US" sz="3199">
                <a:solidFill>
                  <a:srgbClr val="000000"/>
                </a:solidFill>
                <a:latin typeface="Open Sans Extra Bold"/>
                <a:ea typeface="Open Sans Extra Bold"/>
                <a:cs typeface="Open Sans Extra Bold"/>
                <a:sym typeface="Open Sans Extra Bold"/>
              </a:rPr>
              <a:t>Methodology </a:t>
            </a:r>
          </a:p>
        </p:txBody>
      </p:sp>
      <p:sp>
        <p:nvSpPr>
          <p:cNvPr name="Freeform 6" id="6"/>
          <p:cNvSpPr/>
          <p:nvPr/>
        </p:nvSpPr>
        <p:spPr>
          <a:xfrm flipH="false" flipV="false" rot="0">
            <a:off x="15401670" y="8082002"/>
            <a:ext cx="1857630" cy="2057400"/>
          </a:xfrm>
          <a:custGeom>
            <a:avLst/>
            <a:gdLst/>
            <a:ahLst/>
            <a:cxnLst/>
            <a:rect r="r" b="b" t="t" l="l"/>
            <a:pathLst>
              <a:path h="2057400" w="1857630">
                <a:moveTo>
                  <a:pt x="0" y="0"/>
                </a:moveTo>
                <a:lnTo>
                  <a:pt x="1857630" y="0"/>
                </a:lnTo>
                <a:lnTo>
                  <a:pt x="1857630"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422747" y="1964837"/>
            <a:ext cx="12966597" cy="7438058"/>
          </a:xfrm>
          <a:custGeom>
            <a:avLst/>
            <a:gdLst/>
            <a:ahLst/>
            <a:cxnLst/>
            <a:rect r="r" b="b" t="t" l="l"/>
            <a:pathLst>
              <a:path h="7438058" w="12966597">
                <a:moveTo>
                  <a:pt x="0" y="0"/>
                </a:moveTo>
                <a:lnTo>
                  <a:pt x="12966597" y="0"/>
                </a:lnTo>
                <a:lnTo>
                  <a:pt x="12966597" y="7438058"/>
                </a:lnTo>
                <a:lnTo>
                  <a:pt x="0" y="7438058"/>
                </a:lnTo>
                <a:lnTo>
                  <a:pt x="0" y="0"/>
                </a:lnTo>
                <a:close/>
              </a:path>
            </a:pathLst>
          </a:custGeom>
          <a:blipFill>
            <a:blip r:embed="rId3"/>
            <a:stretch>
              <a:fillRect l="-858" t="0" r="0" b="0"/>
            </a:stretch>
          </a:blipFill>
        </p:spPr>
      </p:sp>
      <p:sp>
        <p:nvSpPr>
          <p:cNvPr name="Freeform 4" id="4"/>
          <p:cNvSpPr/>
          <p:nvPr/>
        </p:nvSpPr>
        <p:spPr>
          <a:xfrm flipH="false" flipV="false" rot="0">
            <a:off x="0" y="473201"/>
            <a:ext cx="10520387" cy="1147679"/>
          </a:xfrm>
          <a:custGeom>
            <a:avLst/>
            <a:gdLst/>
            <a:ahLst/>
            <a:cxnLst/>
            <a:rect r="r" b="b" t="t" l="l"/>
            <a:pathLst>
              <a:path h="1147679" w="10520387">
                <a:moveTo>
                  <a:pt x="0" y="0"/>
                </a:moveTo>
                <a:lnTo>
                  <a:pt x="10520387" y="0"/>
                </a:lnTo>
                <a:lnTo>
                  <a:pt x="10520387" y="1147679"/>
                </a:lnTo>
                <a:lnTo>
                  <a:pt x="0" y="11476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043575" y="473201"/>
            <a:ext cx="10520387" cy="1147679"/>
          </a:xfrm>
          <a:custGeom>
            <a:avLst/>
            <a:gdLst/>
            <a:ahLst/>
            <a:cxnLst/>
            <a:rect r="r" b="b" t="t" l="l"/>
            <a:pathLst>
              <a:path h="1147679" w="10520387">
                <a:moveTo>
                  <a:pt x="0" y="0"/>
                </a:moveTo>
                <a:lnTo>
                  <a:pt x="10520387" y="0"/>
                </a:lnTo>
                <a:lnTo>
                  <a:pt x="10520387" y="1147679"/>
                </a:lnTo>
                <a:lnTo>
                  <a:pt x="0" y="11476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0" y="368426"/>
            <a:ext cx="18288000" cy="1215773"/>
          </a:xfrm>
          <a:prstGeom prst="rect">
            <a:avLst/>
          </a:prstGeom>
        </p:spPr>
        <p:txBody>
          <a:bodyPr anchor="t" rtlCol="false" tIns="0" lIns="0" bIns="0" rIns="0">
            <a:spAutoFit/>
          </a:bodyPr>
          <a:lstStyle/>
          <a:p>
            <a:pPr algn="ctr">
              <a:lnSpc>
                <a:spcPts val="4991"/>
              </a:lnSpc>
              <a:spcBef>
                <a:spcPct val="0"/>
              </a:spcBef>
            </a:pPr>
            <a:r>
              <a:rPr lang="en-US" sz="3199">
                <a:solidFill>
                  <a:srgbClr val="000000"/>
                </a:solidFill>
                <a:latin typeface="Open Sans Extra Bold"/>
                <a:ea typeface="Open Sans Extra Bold"/>
                <a:cs typeface="Open Sans Extra Bold"/>
                <a:sym typeface="Open Sans Extra Bold"/>
              </a:rPr>
              <a:t>Q4. </a:t>
            </a:r>
            <a:r>
              <a:rPr lang="en-US" b="true" sz="3199">
                <a:solidFill>
                  <a:srgbClr val="000000"/>
                </a:solidFill>
                <a:latin typeface="Open Sans Extra Bold"/>
                <a:ea typeface="Open Sans Extra Bold"/>
                <a:cs typeface="Open Sans Extra Bold"/>
                <a:sym typeface="Open Sans Extra Bold"/>
              </a:rPr>
              <a:t>For each workout type, what is the optimal range of steps/active minutes to maximize calorie burn without excessively elevating heart rate?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811706"/>
            <a:ext cx="14888517" cy="6928598"/>
            <a:chOff x="0" y="0"/>
            <a:chExt cx="6140596" cy="2857620"/>
          </a:xfrm>
        </p:grpSpPr>
        <p:sp>
          <p:nvSpPr>
            <p:cNvPr name="Freeform 4" id="4"/>
            <p:cNvSpPr/>
            <p:nvPr/>
          </p:nvSpPr>
          <p:spPr>
            <a:xfrm flipH="false" flipV="false" rot="0">
              <a:off x="0" y="0"/>
              <a:ext cx="6140597" cy="2857620"/>
            </a:xfrm>
            <a:custGeom>
              <a:avLst/>
              <a:gdLst/>
              <a:ahLst/>
              <a:cxnLst/>
              <a:rect r="r" b="b" t="t" l="l"/>
              <a:pathLst>
                <a:path h="2857620" w="6140597">
                  <a:moveTo>
                    <a:pt x="6016136" y="2857620"/>
                  </a:moveTo>
                  <a:lnTo>
                    <a:pt x="124460" y="2857620"/>
                  </a:lnTo>
                  <a:cubicBezTo>
                    <a:pt x="55880" y="2857620"/>
                    <a:pt x="0" y="2801740"/>
                    <a:pt x="0" y="2733160"/>
                  </a:cubicBezTo>
                  <a:lnTo>
                    <a:pt x="0" y="124460"/>
                  </a:lnTo>
                  <a:cubicBezTo>
                    <a:pt x="0" y="55880"/>
                    <a:pt x="55880" y="0"/>
                    <a:pt x="124460" y="0"/>
                  </a:cubicBezTo>
                  <a:lnTo>
                    <a:pt x="6016136" y="0"/>
                  </a:lnTo>
                  <a:cubicBezTo>
                    <a:pt x="6084716" y="0"/>
                    <a:pt x="6140597" y="55880"/>
                    <a:pt x="6140597" y="124460"/>
                  </a:cubicBezTo>
                  <a:lnTo>
                    <a:pt x="6140597" y="2733160"/>
                  </a:lnTo>
                  <a:cubicBezTo>
                    <a:pt x="6140597" y="2801740"/>
                    <a:pt x="6084716" y="2857620"/>
                    <a:pt x="6016136" y="2857620"/>
                  </a:cubicBezTo>
                  <a:close/>
                </a:path>
              </a:pathLst>
            </a:custGeom>
            <a:solidFill>
              <a:srgbClr val="D6DCFF"/>
            </a:solidFill>
          </p:spPr>
        </p:sp>
      </p:grpSp>
      <p:sp>
        <p:nvSpPr>
          <p:cNvPr name="Freeform 5" id="5"/>
          <p:cNvSpPr/>
          <p:nvPr/>
        </p:nvSpPr>
        <p:spPr>
          <a:xfrm flipH="false" flipV="false" rot="0">
            <a:off x="1028700" y="1867128"/>
            <a:ext cx="4888428" cy="533283"/>
          </a:xfrm>
          <a:custGeom>
            <a:avLst/>
            <a:gdLst/>
            <a:ahLst/>
            <a:cxnLst/>
            <a:rect r="r" b="b" t="t" l="l"/>
            <a:pathLst>
              <a:path h="533283" w="4888428">
                <a:moveTo>
                  <a:pt x="0" y="0"/>
                </a:moveTo>
                <a:lnTo>
                  <a:pt x="4888428" y="0"/>
                </a:lnTo>
                <a:lnTo>
                  <a:pt x="4888428" y="533283"/>
                </a:lnTo>
                <a:lnTo>
                  <a:pt x="0" y="533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833647" y="1867128"/>
            <a:ext cx="4888428" cy="533283"/>
          </a:xfrm>
          <a:custGeom>
            <a:avLst/>
            <a:gdLst/>
            <a:ahLst/>
            <a:cxnLst/>
            <a:rect r="r" b="b" t="t" l="l"/>
            <a:pathLst>
              <a:path h="533283" w="4888428">
                <a:moveTo>
                  <a:pt x="0" y="0"/>
                </a:moveTo>
                <a:lnTo>
                  <a:pt x="4888428" y="0"/>
                </a:lnTo>
                <a:lnTo>
                  <a:pt x="4888428" y="533283"/>
                </a:lnTo>
                <a:lnTo>
                  <a:pt x="0" y="533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38648" y="1838553"/>
            <a:ext cx="6061695" cy="511810"/>
          </a:xfrm>
          <a:prstGeom prst="rect">
            <a:avLst/>
          </a:prstGeom>
        </p:spPr>
        <p:txBody>
          <a:bodyPr anchor="t" rtlCol="false" tIns="0" lIns="0" bIns="0" rIns="0">
            <a:spAutoFit/>
          </a:bodyPr>
          <a:lstStyle/>
          <a:p>
            <a:pPr algn="ctr">
              <a:lnSpc>
                <a:spcPts val="4160"/>
              </a:lnSpc>
              <a:spcBef>
                <a:spcPct val="0"/>
              </a:spcBef>
            </a:pPr>
            <a:r>
              <a:rPr lang="en-US" b="true" sz="3200">
                <a:solidFill>
                  <a:srgbClr val="000000"/>
                </a:solidFill>
                <a:latin typeface="Be Vietnam Bold"/>
                <a:ea typeface="Be Vietnam Bold"/>
                <a:cs typeface="Be Vietnam Bold"/>
                <a:sym typeface="Be Vietnam Bold"/>
              </a:rPr>
              <a:t>Key Observations from the Plot</a:t>
            </a:r>
          </a:p>
        </p:txBody>
      </p:sp>
      <p:sp>
        <p:nvSpPr>
          <p:cNvPr name="TextBox 8" id="8"/>
          <p:cNvSpPr txBox="true"/>
          <p:nvPr/>
        </p:nvSpPr>
        <p:spPr>
          <a:xfrm rot="0">
            <a:off x="1460359" y="2548827"/>
            <a:ext cx="5902273" cy="450215"/>
          </a:xfrm>
          <a:prstGeom prst="rect">
            <a:avLst/>
          </a:prstGeom>
        </p:spPr>
        <p:txBody>
          <a:bodyPr anchor="t" rtlCol="false" tIns="0" lIns="0" bIns="0" rIns="0">
            <a:spAutoFit/>
          </a:bodyPr>
          <a:lstStyle/>
          <a:p>
            <a:pPr algn="ctr">
              <a:lnSpc>
                <a:spcPts val="3639"/>
              </a:lnSpc>
              <a:spcBef>
                <a:spcPct val="0"/>
              </a:spcBef>
            </a:pPr>
            <a:r>
              <a:rPr lang="en-US" b="true" sz="2799">
                <a:solidFill>
                  <a:srgbClr val="000000"/>
                </a:solidFill>
                <a:latin typeface="Be Vietnam Bold"/>
                <a:ea typeface="Be Vietnam Bold"/>
                <a:cs typeface="Be Vietnam Bold"/>
                <a:sym typeface="Be Vietnam Bold"/>
              </a:rPr>
              <a:t>Workout Type-Specific Insights:</a:t>
            </a:r>
          </a:p>
        </p:txBody>
      </p:sp>
      <p:sp>
        <p:nvSpPr>
          <p:cNvPr name="TextBox 9" id="9"/>
          <p:cNvSpPr txBox="true"/>
          <p:nvPr/>
        </p:nvSpPr>
        <p:spPr>
          <a:xfrm rot="0">
            <a:off x="1638648" y="3404669"/>
            <a:ext cx="12397011" cy="5135468"/>
          </a:xfrm>
          <a:prstGeom prst="rect">
            <a:avLst/>
          </a:prstGeom>
        </p:spPr>
        <p:txBody>
          <a:bodyPr anchor="t" rtlCol="false" tIns="0" lIns="0" bIns="0" rIns="0">
            <a:spAutoFit/>
          </a:bodyPr>
          <a:lstStyle/>
          <a:p>
            <a:pPr algn="l">
              <a:lnSpc>
                <a:spcPts val="2772"/>
              </a:lnSpc>
            </a:pPr>
            <a:r>
              <a:rPr lang="en-US" sz="2132">
                <a:solidFill>
                  <a:srgbClr val="000000"/>
                </a:solidFill>
                <a:latin typeface="Be Vietnam"/>
                <a:ea typeface="Be Vietnam"/>
                <a:cs typeface="Be Vietnam"/>
                <a:sym typeface="Be Vietnam"/>
              </a:rPr>
              <a:t>1. Cardio:</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Ideal for maximizing calorie burn with consistent movement.</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Ensure heart rate monitoring to avoid overexertion during prolonged sessions.</a:t>
            </a:r>
          </a:p>
          <a:p>
            <a:pPr algn="l">
              <a:lnSpc>
                <a:spcPts val="2772"/>
              </a:lnSpc>
            </a:pPr>
            <a:r>
              <a:rPr lang="en-US" sz="2132">
                <a:solidFill>
                  <a:srgbClr val="000000"/>
                </a:solidFill>
                <a:latin typeface="Be Vietnam"/>
                <a:ea typeface="Be Vietnam"/>
                <a:cs typeface="Be Vietnam"/>
                <a:sym typeface="Be Vietnam"/>
              </a:rPr>
              <a:t> 2. Strength Training:</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Focus on combining strength exercises with short, active intervals to optimize calorie burn.</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Encourage recovery periods to balance heart rate.</a:t>
            </a:r>
          </a:p>
          <a:p>
            <a:pPr algn="l">
              <a:lnSpc>
                <a:spcPts val="2772"/>
              </a:lnSpc>
            </a:pPr>
            <a:r>
              <a:rPr lang="en-US" sz="2132">
                <a:solidFill>
                  <a:srgbClr val="000000"/>
                </a:solidFill>
                <a:latin typeface="Be Vietnam"/>
                <a:ea typeface="Be Vietnam"/>
                <a:cs typeface="Be Vietnam"/>
                <a:sym typeface="Be Vietnam"/>
              </a:rPr>
              <a:t>3. Yoga:</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Effective for flexibility and relaxation rather than calorie-intensive workouts.</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Combine with other workouts to enhance calorie burn if needed.</a:t>
            </a:r>
          </a:p>
          <a:p>
            <a:pPr algn="l">
              <a:lnSpc>
                <a:spcPts val="2772"/>
              </a:lnSpc>
            </a:pPr>
            <a:r>
              <a:rPr lang="en-US" sz="2132">
                <a:solidFill>
                  <a:srgbClr val="000000"/>
                </a:solidFill>
                <a:latin typeface="Be Vietnam"/>
                <a:ea typeface="Be Vietnam"/>
                <a:cs typeface="Be Vietnam"/>
                <a:sym typeface="Be Vietnam"/>
              </a:rPr>
              <a:t> 4. HIIT:</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Best for short-duration, high-intensity calorie burn.</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Monitor for overexertion, particularly in individuals with lower fitness levels.</a:t>
            </a:r>
          </a:p>
          <a:p>
            <a:pPr algn="l">
              <a:lnSpc>
                <a:spcPts val="2772"/>
              </a:lnSpc>
            </a:pPr>
            <a:r>
              <a:rPr lang="en-US" sz="2132">
                <a:solidFill>
                  <a:srgbClr val="000000"/>
                </a:solidFill>
                <a:latin typeface="Be Vietnam"/>
                <a:ea typeface="Be Vietnam"/>
                <a:cs typeface="Be Vietnam"/>
                <a:sym typeface="Be Vietnam"/>
              </a:rPr>
              <a:t>5. Cycling:</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Offers consistent calorie burn with minimal impact on joints.</a:t>
            </a:r>
          </a:p>
          <a:p>
            <a:pPr algn="l" marL="460396" indent="-230198" lvl="1">
              <a:lnSpc>
                <a:spcPts val="2772"/>
              </a:lnSpc>
              <a:buFont typeface="Arial"/>
              <a:buChar char="•"/>
            </a:pPr>
            <a:r>
              <a:rPr lang="en-US" sz="2132">
                <a:solidFill>
                  <a:srgbClr val="000000"/>
                </a:solidFill>
                <a:latin typeface="Be Vietnam"/>
                <a:ea typeface="Be Vietnam"/>
                <a:cs typeface="Be Vietnam"/>
                <a:sym typeface="Be Vietnam"/>
              </a:rPr>
              <a:t> • Optimize resistance levels for better results without heart rate spikes.</a:t>
            </a:r>
          </a:p>
        </p:txBody>
      </p:sp>
      <p:sp>
        <p:nvSpPr>
          <p:cNvPr name="Freeform 10" id="10"/>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3" id="13"/>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4" id="14"/>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5" id="15"/>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6" id="16"/>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7" id="17"/>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8" id="18"/>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9" id="19"/>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20" id="20"/>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21" id="21"/>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alphaModFix amt="50000"/>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22" id="22"/>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alphaModFix amt="50000"/>
              <a:extLst>
                <a:ext uri="{96DAC541-7B7A-43D3-8B79-37D633B846F1}">
                  <asvg:svgBlip xmlns:asvg="http://schemas.microsoft.com/office/drawing/2016/SVG/main" r:embed="rId30"/>
                </a:ext>
              </a:extLst>
            </a:blip>
            <a:stretch>
              <a:fillRect l="0" t="0" r="0" b="0"/>
            </a:stretch>
          </a:blipFill>
          <a:ln cap="sq">
            <a:noFill/>
            <a:prstDash val="solid"/>
            <a:miter/>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717469"/>
            <a:ext cx="15798367" cy="7180796"/>
            <a:chOff x="0" y="0"/>
            <a:chExt cx="6515854" cy="2961636"/>
          </a:xfrm>
        </p:grpSpPr>
        <p:sp>
          <p:nvSpPr>
            <p:cNvPr name="Freeform 4" id="4"/>
            <p:cNvSpPr/>
            <p:nvPr/>
          </p:nvSpPr>
          <p:spPr>
            <a:xfrm flipH="false" flipV="false" rot="0">
              <a:off x="0" y="0"/>
              <a:ext cx="6515854" cy="2961636"/>
            </a:xfrm>
            <a:custGeom>
              <a:avLst/>
              <a:gdLst/>
              <a:ahLst/>
              <a:cxnLst/>
              <a:rect r="r" b="b" t="t" l="l"/>
              <a:pathLst>
                <a:path h="2961636" w="6515854">
                  <a:moveTo>
                    <a:pt x="6391394" y="2961636"/>
                  </a:moveTo>
                  <a:lnTo>
                    <a:pt x="124460" y="2961636"/>
                  </a:lnTo>
                  <a:cubicBezTo>
                    <a:pt x="55880" y="2961636"/>
                    <a:pt x="0" y="2905756"/>
                    <a:pt x="0" y="2837176"/>
                  </a:cubicBezTo>
                  <a:lnTo>
                    <a:pt x="0" y="124460"/>
                  </a:lnTo>
                  <a:cubicBezTo>
                    <a:pt x="0" y="55880"/>
                    <a:pt x="55880" y="0"/>
                    <a:pt x="124460" y="0"/>
                  </a:cubicBezTo>
                  <a:lnTo>
                    <a:pt x="6391394" y="0"/>
                  </a:lnTo>
                  <a:cubicBezTo>
                    <a:pt x="6459974" y="0"/>
                    <a:pt x="6515854" y="55880"/>
                    <a:pt x="6515854" y="124460"/>
                  </a:cubicBezTo>
                  <a:lnTo>
                    <a:pt x="6515854" y="2837176"/>
                  </a:lnTo>
                  <a:cubicBezTo>
                    <a:pt x="6515854" y="2905756"/>
                    <a:pt x="6459974" y="2961636"/>
                    <a:pt x="6391394" y="2961636"/>
                  </a:cubicBezTo>
                  <a:close/>
                </a:path>
              </a:pathLst>
            </a:custGeom>
            <a:solidFill>
              <a:srgbClr val="D6DCFF"/>
            </a:solidFill>
          </p:spPr>
        </p:sp>
      </p:grpSp>
      <p:sp>
        <p:nvSpPr>
          <p:cNvPr name="Freeform 5" id="5"/>
          <p:cNvSpPr/>
          <p:nvPr/>
        </p:nvSpPr>
        <p:spPr>
          <a:xfrm flipH="false" flipV="false" rot="0">
            <a:off x="1250801" y="1717469"/>
            <a:ext cx="6388463" cy="696923"/>
          </a:xfrm>
          <a:custGeom>
            <a:avLst/>
            <a:gdLst/>
            <a:ahLst/>
            <a:cxnLst/>
            <a:rect r="r" b="b" t="t" l="l"/>
            <a:pathLst>
              <a:path h="696923" w="6388463">
                <a:moveTo>
                  <a:pt x="0" y="0"/>
                </a:moveTo>
                <a:lnTo>
                  <a:pt x="6388463" y="0"/>
                </a:lnTo>
                <a:lnTo>
                  <a:pt x="6388463" y="696923"/>
                </a:lnTo>
                <a:lnTo>
                  <a:pt x="0" y="696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916459" y="1717469"/>
            <a:ext cx="6388463" cy="696923"/>
          </a:xfrm>
          <a:custGeom>
            <a:avLst/>
            <a:gdLst/>
            <a:ahLst/>
            <a:cxnLst/>
            <a:rect r="r" b="b" t="t" l="l"/>
            <a:pathLst>
              <a:path h="696923" w="6388463">
                <a:moveTo>
                  <a:pt x="0" y="0"/>
                </a:moveTo>
                <a:lnTo>
                  <a:pt x="6388463" y="0"/>
                </a:lnTo>
                <a:lnTo>
                  <a:pt x="6388463" y="696923"/>
                </a:lnTo>
                <a:lnTo>
                  <a:pt x="0" y="696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34960" y="1669844"/>
            <a:ext cx="9547860" cy="768164"/>
          </a:xfrm>
          <a:prstGeom prst="rect">
            <a:avLst/>
          </a:prstGeom>
        </p:spPr>
        <p:txBody>
          <a:bodyPr anchor="t" rtlCol="false" tIns="0" lIns="0" bIns="0" rIns="0">
            <a:spAutoFit/>
          </a:bodyPr>
          <a:lstStyle/>
          <a:p>
            <a:pPr algn="ctr">
              <a:lnSpc>
                <a:spcPts val="6194"/>
              </a:lnSpc>
              <a:spcBef>
                <a:spcPct val="0"/>
              </a:spcBef>
            </a:pPr>
            <a:r>
              <a:rPr lang="en-US" b="true" sz="4764" u="sng">
                <a:solidFill>
                  <a:srgbClr val="000000"/>
                </a:solidFill>
                <a:latin typeface="Open Sans 2 Bold"/>
                <a:ea typeface="Open Sans 2 Bold"/>
                <a:cs typeface="Open Sans 2 Bold"/>
                <a:sym typeface="Open Sans 2 Bold"/>
              </a:rPr>
              <a:t>Next Steps and Deeper Analysis</a:t>
            </a:r>
          </a:p>
        </p:txBody>
      </p:sp>
      <p:sp>
        <p:nvSpPr>
          <p:cNvPr name="TextBox 8" id="8"/>
          <p:cNvSpPr txBox="true"/>
          <p:nvPr/>
        </p:nvSpPr>
        <p:spPr>
          <a:xfrm rot="0">
            <a:off x="1554808" y="2608438"/>
            <a:ext cx="7252346" cy="503214"/>
          </a:xfrm>
          <a:prstGeom prst="rect">
            <a:avLst/>
          </a:prstGeom>
        </p:spPr>
        <p:txBody>
          <a:bodyPr anchor="t" rtlCol="false" tIns="0" lIns="0" bIns="0" rIns="0">
            <a:spAutoFit/>
          </a:bodyPr>
          <a:lstStyle/>
          <a:p>
            <a:pPr algn="ctr">
              <a:lnSpc>
                <a:spcPts val="4064"/>
              </a:lnSpc>
              <a:spcBef>
                <a:spcPct val="0"/>
              </a:spcBef>
            </a:pPr>
            <a:r>
              <a:rPr lang="en-US" b="true" sz="3126">
                <a:solidFill>
                  <a:srgbClr val="000000"/>
                </a:solidFill>
                <a:latin typeface="Open Sans 2 Bold"/>
                <a:ea typeface="Open Sans 2 Bold"/>
                <a:cs typeface="Open Sans 2 Bold"/>
                <a:sym typeface="Open Sans 2 Bold"/>
              </a:rPr>
              <a:t>Potential Areas for Further Analysis:</a:t>
            </a:r>
          </a:p>
        </p:txBody>
      </p:sp>
      <p:sp>
        <p:nvSpPr>
          <p:cNvPr name="TextBox 9" id="9"/>
          <p:cNvSpPr txBox="true"/>
          <p:nvPr/>
        </p:nvSpPr>
        <p:spPr>
          <a:xfrm rot="0">
            <a:off x="1554808" y="3079293"/>
            <a:ext cx="14812462" cy="2736215"/>
          </a:xfrm>
          <a:prstGeom prst="rect">
            <a:avLst/>
          </a:prstGeom>
        </p:spPr>
        <p:txBody>
          <a:bodyPr anchor="t" rtlCol="false" tIns="0" lIns="0" bIns="0" rIns="0">
            <a:spAutoFit/>
          </a:bodyPr>
          <a:lstStyle/>
          <a:p>
            <a:pPr algn="l">
              <a:lnSpc>
                <a:spcPts val="3639"/>
              </a:lnSpc>
            </a:pPr>
            <a:r>
              <a:rPr lang="en-US" b="true" sz="2799">
                <a:solidFill>
                  <a:srgbClr val="000000"/>
                </a:solidFill>
                <a:latin typeface="Open Sans 2 Bold"/>
                <a:ea typeface="Open Sans 2 Bold"/>
                <a:cs typeface="Open Sans 2 Bold"/>
                <a:sym typeface="Open Sans 2 Bold"/>
              </a:rPr>
              <a:t>1. Heart Rate Data:</a:t>
            </a:r>
          </a:p>
          <a:p>
            <a:pPr algn="l" marL="604519" indent="-302260" lvl="1">
              <a:lnSpc>
                <a:spcPts val="3639"/>
              </a:lnSpc>
              <a:buFont typeface="Arial"/>
              <a:buChar char="•"/>
            </a:pPr>
            <a:r>
              <a:rPr lang="en-US" b="true" sz="2799">
                <a:solidFill>
                  <a:srgbClr val="000000"/>
                </a:solidFill>
                <a:latin typeface="Open Sans 2 Bold"/>
                <a:ea typeface="Open Sans 2 Bold"/>
                <a:cs typeface="Open Sans 2 Bold"/>
                <a:sym typeface="Open Sans 2 Bold"/>
              </a:rPr>
              <a:t> Analyze heart rate trends for each workout type to refine optimal zones.</a:t>
            </a:r>
          </a:p>
          <a:p>
            <a:pPr algn="l">
              <a:lnSpc>
                <a:spcPts val="3639"/>
              </a:lnSpc>
            </a:pPr>
            <a:r>
              <a:rPr lang="en-US" b="true" sz="2799">
                <a:solidFill>
                  <a:srgbClr val="000000"/>
                </a:solidFill>
                <a:latin typeface="Open Sans 2 Bold"/>
                <a:ea typeface="Open Sans 2 Bold"/>
                <a:cs typeface="Open Sans 2 Bold"/>
                <a:sym typeface="Open Sans 2 Bold"/>
              </a:rPr>
              <a:t>2. Calorie Burn Efficiency:</a:t>
            </a:r>
          </a:p>
          <a:p>
            <a:pPr algn="l" marL="604519" indent="-302260" lvl="1">
              <a:lnSpc>
                <a:spcPts val="3639"/>
              </a:lnSpc>
              <a:buFont typeface="Arial"/>
              <a:buChar char="•"/>
            </a:pPr>
            <a:r>
              <a:rPr lang="en-US" b="true" sz="2799">
                <a:solidFill>
                  <a:srgbClr val="000000"/>
                </a:solidFill>
                <a:latin typeface="Open Sans 2 Bold"/>
                <a:ea typeface="Open Sans 2 Bold"/>
                <a:cs typeface="Open Sans 2 Bold"/>
                <a:sym typeface="Open Sans 2 Bold"/>
              </a:rPr>
              <a:t> Compare calories burned per step/minute across workout types.</a:t>
            </a:r>
          </a:p>
          <a:p>
            <a:pPr algn="l">
              <a:lnSpc>
                <a:spcPts val="3639"/>
              </a:lnSpc>
            </a:pPr>
            <a:r>
              <a:rPr lang="en-US" b="true" sz="2799">
                <a:solidFill>
                  <a:srgbClr val="000000"/>
                </a:solidFill>
                <a:latin typeface="Open Sans 2 Bold"/>
                <a:ea typeface="Open Sans 2 Bold"/>
                <a:cs typeface="Open Sans 2 Bold"/>
                <a:sym typeface="Open Sans 2 Bold"/>
              </a:rPr>
              <a:t>3. Personalized Workout Plans:</a:t>
            </a:r>
          </a:p>
          <a:p>
            <a:pPr algn="l" marL="604519" indent="-302260" lvl="1">
              <a:lnSpc>
                <a:spcPts val="3639"/>
              </a:lnSpc>
              <a:buFont typeface="Arial"/>
              <a:buChar char="•"/>
            </a:pPr>
            <a:r>
              <a:rPr lang="en-US" b="true" sz="2799">
                <a:solidFill>
                  <a:srgbClr val="000000"/>
                </a:solidFill>
                <a:latin typeface="Open Sans 2 Bold"/>
                <a:ea typeface="Open Sans 2 Bold"/>
                <a:cs typeface="Open Sans 2 Bold"/>
                <a:sym typeface="Open Sans 2 Bold"/>
              </a:rPr>
              <a:t> • Develop tailored recommendations based on fitness levels and goals.</a:t>
            </a:r>
          </a:p>
        </p:txBody>
      </p:sp>
      <p:sp>
        <p:nvSpPr>
          <p:cNvPr name="TextBox 10" id="10"/>
          <p:cNvSpPr txBox="true"/>
          <p:nvPr/>
        </p:nvSpPr>
        <p:spPr>
          <a:xfrm rot="0">
            <a:off x="1699288" y="6883410"/>
            <a:ext cx="14926981" cy="2014855"/>
          </a:xfrm>
          <a:prstGeom prst="rect">
            <a:avLst/>
          </a:prstGeom>
        </p:spPr>
        <p:txBody>
          <a:bodyPr anchor="t" rtlCol="false" tIns="0" lIns="0" bIns="0" rIns="0">
            <a:spAutoFit/>
          </a:bodyPr>
          <a:lstStyle/>
          <a:p>
            <a:pPr algn="l">
              <a:lnSpc>
                <a:spcPts val="3639"/>
              </a:lnSpc>
              <a:spcBef>
                <a:spcPct val="0"/>
              </a:spcBef>
            </a:pPr>
            <a:r>
              <a:rPr lang="en-US" b="true" sz="2799">
                <a:solidFill>
                  <a:srgbClr val="000000"/>
                </a:solidFill>
                <a:latin typeface="Open Sans 2 Bold"/>
                <a:ea typeface="Open Sans 2 Bold"/>
                <a:cs typeface="Open Sans 2 Bold"/>
                <a:sym typeface="Open Sans 2 Bold"/>
              </a:rPr>
              <a:t>Actionable Plans:</a:t>
            </a:r>
          </a:p>
          <a:p>
            <a:pPr algn="l">
              <a:lnSpc>
                <a:spcPts val="3120"/>
              </a:lnSpc>
              <a:spcBef>
                <a:spcPct val="0"/>
              </a:spcBef>
            </a:pPr>
            <a:r>
              <a:rPr lang="en-US" b="true" sz="2400">
                <a:solidFill>
                  <a:srgbClr val="000000"/>
                </a:solidFill>
                <a:latin typeface="Open Sans 2 Bold"/>
                <a:ea typeface="Open Sans 2 Bold"/>
                <a:cs typeface="Open Sans 2 Bold"/>
                <a:sym typeface="Open Sans 2 Bold"/>
              </a:rPr>
              <a:t> 1. Promote workout diversity by combining step-intensive workouts (e.g., Cardio) with low-impact options (e.g., Yoga).</a:t>
            </a:r>
          </a:p>
          <a:p>
            <a:pPr algn="l">
              <a:lnSpc>
                <a:spcPts val="3120"/>
              </a:lnSpc>
              <a:spcBef>
                <a:spcPct val="0"/>
              </a:spcBef>
            </a:pPr>
            <a:r>
              <a:rPr lang="en-US" b="true" sz="2400">
                <a:solidFill>
                  <a:srgbClr val="000000"/>
                </a:solidFill>
                <a:latin typeface="Open Sans 2 Bold"/>
                <a:ea typeface="Open Sans 2 Bold"/>
                <a:cs typeface="Open Sans 2 Bold"/>
                <a:sym typeface="Open Sans 2 Bold"/>
              </a:rPr>
              <a:t> 2. Design fitness programs targeting specific calorie burn goals while maintaining safe heart rate levels.</a:t>
            </a:r>
          </a:p>
        </p:txBody>
      </p:sp>
      <p:sp>
        <p:nvSpPr>
          <p:cNvPr name="Freeform 11" id="11"/>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4" id="14"/>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5" id="15"/>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6" id="16"/>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7" id="17"/>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8" id="18"/>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9" id="19"/>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20" id="20"/>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21" id="21"/>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22" id="22"/>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alphaModFix amt="50000"/>
              <a:extLst>
                <a:ext uri="{96DAC541-7B7A-43D3-8B79-37D633B846F1}">
                  <asvg:svgBlip xmlns:asvg="http://schemas.microsoft.com/office/drawing/2016/SVG/main" r:embed="rId28"/>
                </a:ext>
              </a:extLst>
            </a:blip>
            <a:stretch>
              <a:fillRect l="0" t="0" r="0" b="0"/>
            </a:stretch>
          </a:blipFill>
          <a:ln cap="sq">
            <a:noFill/>
            <a:prstDash val="solid"/>
            <a:miter/>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3">
              <a:alphaModFix amt="43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8903131" y="1174801"/>
            <a:ext cx="1061836" cy="1087541"/>
          </a:xfrm>
          <a:custGeom>
            <a:avLst/>
            <a:gdLst/>
            <a:ahLst/>
            <a:cxnLst/>
            <a:rect r="r" b="b" t="t" l="l"/>
            <a:pathLst>
              <a:path h="1087541" w="1061836">
                <a:moveTo>
                  <a:pt x="0" y="0"/>
                </a:moveTo>
                <a:lnTo>
                  <a:pt x="1061836" y="0"/>
                </a:lnTo>
                <a:lnTo>
                  <a:pt x="1061836" y="1087541"/>
                </a:lnTo>
                <a:lnTo>
                  <a:pt x="0" y="1087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6030709" y="1372622"/>
            <a:ext cx="2872422" cy="587123"/>
          </a:xfrm>
          <a:prstGeom prst="rect">
            <a:avLst/>
          </a:prstGeom>
        </p:spPr>
        <p:txBody>
          <a:bodyPr anchor="t" rtlCol="false" tIns="0" lIns="0" bIns="0" rIns="0">
            <a:spAutoFit/>
          </a:bodyPr>
          <a:lstStyle/>
          <a:p>
            <a:pPr algn="ctr">
              <a:lnSpc>
                <a:spcPts val="4991"/>
              </a:lnSpc>
              <a:spcBef>
                <a:spcPct val="0"/>
              </a:spcBef>
            </a:pPr>
            <a:r>
              <a:rPr lang="en-US" sz="3199">
                <a:solidFill>
                  <a:srgbClr val="000000"/>
                </a:solidFill>
                <a:latin typeface="Open Sans Extra Bold"/>
                <a:ea typeface="Open Sans Extra Bold"/>
                <a:cs typeface="Open Sans Extra Bold"/>
                <a:sym typeface="Open Sans Extra Bold"/>
              </a:rPr>
              <a:t>Methodology </a:t>
            </a:r>
          </a:p>
        </p:txBody>
      </p:sp>
      <p:sp>
        <p:nvSpPr>
          <p:cNvPr name="TextBox 6" id="6"/>
          <p:cNvSpPr txBox="true"/>
          <p:nvPr/>
        </p:nvSpPr>
        <p:spPr>
          <a:xfrm rot="0">
            <a:off x="0" y="2595451"/>
            <a:ext cx="18288000" cy="5067523"/>
          </a:xfrm>
          <a:prstGeom prst="rect">
            <a:avLst/>
          </a:prstGeom>
        </p:spPr>
        <p:txBody>
          <a:bodyPr anchor="t" rtlCol="false" tIns="0" lIns="0" bIns="0" rIns="0">
            <a:spAutoFit/>
          </a:bodyPr>
          <a:lstStyle/>
          <a:p>
            <a:pPr algn="l" marL="481986" indent="-240993" lvl="1">
              <a:lnSpc>
                <a:spcPts val="2902"/>
              </a:lnSpc>
              <a:buFont typeface="Arial"/>
              <a:buChar char="•"/>
            </a:pPr>
            <a:r>
              <a:rPr lang="en-US" b="true" sz="2232">
                <a:solidFill>
                  <a:srgbClr val="000000"/>
                </a:solidFill>
                <a:latin typeface="Open Sans 2 Bold"/>
                <a:ea typeface="Open Sans 2 Bold"/>
                <a:cs typeface="Open Sans 2 Bold"/>
                <a:sym typeface="Open Sans 2 Bold"/>
              </a:rPr>
              <a:t>Objective: Study the optimal range of steps/active minutes to maximize calorie burn without excessively elevating heart rate for each workout type.</a:t>
            </a:r>
          </a:p>
          <a:p>
            <a:pPr algn="l">
              <a:lnSpc>
                <a:spcPts val="2902"/>
              </a:lnSpc>
            </a:pPr>
          </a:p>
          <a:p>
            <a:pPr algn="l" marL="481986" indent="-240993" lvl="1">
              <a:lnSpc>
                <a:spcPts val="2902"/>
              </a:lnSpc>
              <a:buFont typeface="Arial"/>
              <a:buChar char="•"/>
            </a:pPr>
            <a:r>
              <a:rPr lang="en-US" b="true" sz="2232">
                <a:solidFill>
                  <a:srgbClr val="000000"/>
                </a:solidFill>
                <a:latin typeface="Open Sans 2 Bold"/>
                <a:ea typeface="Open Sans 2 Bold"/>
                <a:cs typeface="Open Sans 2 Bold"/>
                <a:sym typeface="Open Sans 2 Bold"/>
              </a:rPr>
              <a:t>Data: Collect data on workout duration (steps/active minutes), calorie burn, and heart rate levels for various workout types (e.g., walking, running, cycling, strength training).</a:t>
            </a:r>
          </a:p>
          <a:p>
            <a:pPr algn="l">
              <a:lnSpc>
                <a:spcPts val="2902"/>
              </a:lnSpc>
            </a:pPr>
          </a:p>
          <a:p>
            <a:pPr algn="l" marL="481986" indent="-240993" lvl="1">
              <a:lnSpc>
                <a:spcPts val="2902"/>
              </a:lnSpc>
              <a:buFont typeface="Arial"/>
              <a:buChar char="•"/>
            </a:pPr>
            <a:r>
              <a:rPr lang="en-US" b="true" sz="2232">
                <a:solidFill>
                  <a:srgbClr val="000000"/>
                </a:solidFill>
                <a:latin typeface="Open Sans 2 Bold"/>
                <a:ea typeface="Open Sans 2 Bold"/>
                <a:cs typeface="Open Sans 2 Bold"/>
                <a:sym typeface="Open Sans 2 Bold"/>
              </a:rPr>
              <a:t>Preparation: Group workout types by intensity (low, moderate, high) and normalize data to account for factors like age, weight, and fitness level.</a:t>
            </a:r>
          </a:p>
          <a:p>
            <a:pPr algn="l">
              <a:lnSpc>
                <a:spcPts val="2902"/>
              </a:lnSpc>
            </a:pPr>
          </a:p>
          <a:p>
            <a:pPr algn="l" marL="481986" indent="-240993" lvl="1">
              <a:lnSpc>
                <a:spcPts val="2902"/>
              </a:lnSpc>
              <a:buFont typeface="Arial"/>
              <a:buChar char="•"/>
            </a:pPr>
            <a:r>
              <a:rPr lang="en-US" b="true" sz="2232">
                <a:solidFill>
                  <a:srgbClr val="000000"/>
                </a:solidFill>
                <a:latin typeface="Open Sans 2 Bold"/>
                <a:ea typeface="Open Sans 2 Bold"/>
                <a:cs typeface="Open Sans 2 Bold"/>
                <a:sym typeface="Open Sans 2 Bold"/>
              </a:rPr>
              <a:t>Visualization: Use line charts for calorie burn vs. active minutes/steps, scatter plots to show heart rate vs. activity level, and shaded regions to indicate the optimal range for each workout type.</a:t>
            </a:r>
          </a:p>
          <a:p>
            <a:pPr algn="l">
              <a:lnSpc>
                <a:spcPts val="2902"/>
              </a:lnSpc>
            </a:pPr>
          </a:p>
          <a:p>
            <a:pPr algn="l" marL="481986" indent="-240993" lvl="1">
              <a:lnSpc>
                <a:spcPts val="2902"/>
              </a:lnSpc>
              <a:buFont typeface="Arial"/>
              <a:buChar char="•"/>
            </a:pPr>
            <a:r>
              <a:rPr lang="en-US" b="true" sz="2232">
                <a:solidFill>
                  <a:srgbClr val="000000"/>
                </a:solidFill>
                <a:latin typeface="Open Sans 2 Bold"/>
                <a:ea typeface="Open Sans 2 Bold"/>
                <a:cs typeface="Open Sans 2 Bold"/>
                <a:sym typeface="Open Sans 2 Bold"/>
              </a:rPr>
              <a:t>Insights: Highlight the optimal duration (steps/active minutes) for each workout type where calorie burn is maximized while keeping heart rate within a safe zone (50-85% of max heart rate).</a:t>
            </a:r>
          </a:p>
        </p:txBody>
      </p:sp>
      <p:sp>
        <p:nvSpPr>
          <p:cNvPr name="Freeform 7" id="7"/>
          <p:cNvSpPr/>
          <p:nvPr/>
        </p:nvSpPr>
        <p:spPr>
          <a:xfrm flipH="false" flipV="false" rot="0">
            <a:off x="15401670" y="8082002"/>
            <a:ext cx="1857630" cy="2057400"/>
          </a:xfrm>
          <a:custGeom>
            <a:avLst/>
            <a:gdLst/>
            <a:ahLst/>
            <a:cxnLst/>
            <a:rect r="r" b="b" t="t" l="l"/>
            <a:pathLst>
              <a:path h="2057400" w="1857630">
                <a:moveTo>
                  <a:pt x="0" y="0"/>
                </a:moveTo>
                <a:lnTo>
                  <a:pt x="1857630" y="0"/>
                </a:lnTo>
                <a:lnTo>
                  <a:pt x="1857630" y="2057400"/>
                </a:lnTo>
                <a:lnTo>
                  <a:pt x="0" y="20574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9">
              <a:alphaModFix amt="43000"/>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11">
              <a:alphaModFix amt="43000"/>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13">
              <a:alphaModFix amt="43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5">
              <a:alphaModFix amt="43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2" id="12"/>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7">
              <a:alphaModFix amt="43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3" id="13"/>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9">
              <a:alphaModFix amt="43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4" id="14"/>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21">
              <a:alphaModFix amt="43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5" id="15"/>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3">
              <a:alphaModFix amt="43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6" id="16"/>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5">
              <a:alphaModFix amt="43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7" id="17"/>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7">
              <a:alphaModFix amt="43000"/>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8" id="18"/>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9">
              <a:alphaModFix amt="43000"/>
              <a:extLst>
                <a:ext uri="{96DAC541-7B7A-43D3-8B79-37D633B846F1}">
                  <asvg:svgBlip xmlns:asvg="http://schemas.microsoft.com/office/drawing/2016/SVG/main" r:embed="rId30"/>
                </a:ext>
              </a:extLst>
            </a:blip>
            <a:stretch>
              <a:fillRect l="0" t="0" r="0" b="0"/>
            </a:stretch>
          </a:blipFill>
          <a:ln cap="sq">
            <a:noFill/>
            <a:prstDash val="solid"/>
            <a:miter/>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610172"/>
            <a:ext cx="15350307" cy="7483565"/>
            <a:chOff x="0" y="0"/>
            <a:chExt cx="6331056" cy="3086510"/>
          </a:xfrm>
        </p:grpSpPr>
        <p:sp>
          <p:nvSpPr>
            <p:cNvPr name="Freeform 4" id="4"/>
            <p:cNvSpPr/>
            <p:nvPr/>
          </p:nvSpPr>
          <p:spPr>
            <a:xfrm flipH="false" flipV="false" rot="0">
              <a:off x="0" y="0"/>
              <a:ext cx="6331057" cy="3086510"/>
            </a:xfrm>
            <a:custGeom>
              <a:avLst/>
              <a:gdLst/>
              <a:ahLst/>
              <a:cxnLst/>
              <a:rect r="r" b="b" t="t" l="l"/>
              <a:pathLst>
                <a:path h="3086510" w="6331057">
                  <a:moveTo>
                    <a:pt x="6206596" y="3086510"/>
                  </a:moveTo>
                  <a:lnTo>
                    <a:pt x="124460" y="3086510"/>
                  </a:lnTo>
                  <a:cubicBezTo>
                    <a:pt x="55880" y="3086510"/>
                    <a:pt x="0" y="3030630"/>
                    <a:pt x="0" y="2962050"/>
                  </a:cubicBezTo>
                  <a:lnTo>
                    <a:pt x="0" y="124460"/>
                  </a:lnTo>
                  <a:cubicBezTo>
                    <a:pt x="0" y="55880"/>
                    <a:pt x="55880" y="0"/>
                    <a:pt x="124460" y="0"/>
                  </a:cubicBezTo>
                  <a:lnTo>
                    <a:pt x="6206596" y="0"/>
                  </a:lnTo>
                  <a:cubicBezTo>
                    <a:pt x="6275176" y="0"/>
                    <a:pt x="6331057" y="55880"/>
                    <a:pt x="6331057" y="124460"/>
                  </a:cubicBezTo>
                  <a:lnTo>
                    <a:pt x="6331057" y="2962050"/>
                  </a:lnTo>
                  <a:cubicBezTo>
                    <a:pt x="6331057" y="3030630"/>
                    <a:pt x="6275176" y="3086510"/>
                    <a:pt x="6206596" y="3086510"/>
                  </a:cubicBezTo>
                  <a:close/>
                </a:path>
              </a:pathLst>
            </a:custGeom>
            <a:solidFill>
              <a:srgbClr val="D6DCFF"/>
            </a:solidFill>
          </p:spPr>
        </p:sp>
      </p:grpSp>
      <p:sp>
        <p:nvSpPr>
          <p:cNvPr name="Freeform 5" id="5"/>
          <p:cNvSpPr/>
          <p:nvPr/>
        </p:nvSpPr>
        <p:spPr>
          <a:xfrm flipH="false" flipV="false" rot="0">
            <a:off x="1280812" y="1746558"/>
            <a:ext cx="6328937" cy="690429"/>
          </a:xfrm>
          <a:custGeom>
            <a:avLst/>
            <a:gdLst/>
            <a:ahLst/>
            <a:cxnLst/>
            <a:rect r="r" b="b" t="t" l="l"/>
            <a:pathLst>
              <a:path h="690429" w="6328937">
                <a:moveTo>
                  <a:pt x="0" y="0"/>
                </a:moveTo>
                <a:lnTo>
                  <a:pt x="6328937" y="0"/>
                </a:lnTo>
                <a:lnTo>
                  <a:pt x="6328937" y="690430"/>
                </a:lnTo>
                <a:lnTo>
                  <a:pt x="0" y="6904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912314" y="1746558"/>
            <a:ext cx="6328937" cy="690429"/>
          </a:xfrm>
          <a:custGeom>
            <a:avLst/>
            <a:gdLst/>
            <a:ahLst/>
            <a:cxnLst/>
            <a:rect r="r" b="b" t="t" l="l"/>
            <a:pathLst>
              <a:path h="690429" w="6328937">
                <a:moveTo>
                  <a:pt x="0" y="0"/>
                </a:moveTo>
                <a:lnTo>
                  <a:pt x="6328937" y="0"/>
                </a:lnTo>
                <a:lnTo>
                  <a:pt x="6328937" y="690430"/>
                </a:lnTo>
                <a:lnTo>
                  <a:pt x="0" y="6904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769933" y="1562547"/>
            <a:ext cx="9219206" cy="767144"/>
          </a:xfrm>
          <a:prstGeom prst="rect">
            <a:avLst/>
          </a:prstGeom>
        </p:spPr>
        <p:txBody>
          <a:bodyPr anchor="t" rtlCol="false" tIns="0" lIns="0" bIns="0" rIns="0">
            <a:spAutoFit/>
          </a:bodyPr>
          <a:lstStyle/>
          <a:p>
            <a:pPr algn="ctr">
              <a:lnSpc>
                <a:spcPts val="6194"/>
              </a:lnSpc>
              <a:spcBef>
                <a:spcPct val="0"/>
              </a:spcBef>
            </a:pPr>
            <a:r>
              <a:rPr lang="en-US" b="true" sz="4764">
                <a:solidFill>
                  <a:srgbClr val="000000"/>
                </a:solidFill>
                <a:latin typeface="Be Vietnam Bold"/>
                <a:ea typeface="Be Vietnam Bold"/>
                <a:cs typeface="Be Vietnam Bold"/>
                <a:sym typeface="Be Vietnam Bold"/>
              </a:rPr>
              <a:t>Next Steps and Deeper Analysis</a:t>
            </a:r>
          </a:p>
        </p:txBody>
      </p:sp>
      <p:sp>
        <p:nvSpPr>
          <p:cNvPr name="TextBox 8" id="8"/>
          <p:cNvSpPr txBox="true"/>
          <p:nvPr/>
        </p:nvSpPr>
        <p:spPr>
          <a:xfrm rot="0">
            <a:off x="1554808" y="2608438"/>
            <a:ext cx="7252346" cy="499430"/>
          </a:xfrm>
          <a:prstGeom prst="rect">
            <a:avLst/>
          </a:prstGeom>
        </p:spPr>
        <p:txBody>
          <a:bodyPr anchor="t" rtlCol="false" tIns="0" lIns="0" bIns="0" rIns="0">
            <a:spAutoFit/>
          </a:bodyPr>
          <a:lstStyle/>
          <a:p>
            <a:pPr algn="ctr">
              <a:lnSpc>
                <a:spcPts val="4064"/>
              </a:lnSpc>
              <a:spcBef>
                <a:spcPct val="0"/>
              </a:spcBef>
            </a:pPr>
            <a:r>
              <a:rPr lang="en-US" b="true" sz="3126">
                <a:solidFill>
                  <a:srgbClr val="000000"/>
                </a:solidFill>
                <a:latin typeface="Be Vietnam Bold"/>
                <a:ea typeface="Be Vietnam Bold"/>
                <a:cs typeface="Be Vietnam Bold"/>
                <a:sym typeface="Be Vietnam Bold"/>
              </a:rPr>
              <a:t>Potential Areas for Further Analysis:</a:t>
            </a:r>
          </a:p>
        </p:txBody>
      </p:sp>
      <p:sp>
        <p:nvSpPr>
          <p:cNvPr name="TextBox 9" id="9"/>
          <p:cNvSpPr txBox="true"/>
          <p:nvPr/>
        </p:nvSpPr>
        <p:spPr>
          <a:xfrm rot="0">
            <a:off x="1554808" y="3069768"/>
            <a:ext cx="14812462" cy="3061168"/>
          </a:xfrm>
          <a:prstGeom prst="rect">
            <a:avLst/>
          </a:prstGeom>
        </p:spPr>
        <p:txBody>
          <a:bodyPr anchor="t" rtlCol="false" tIns="0" lIns="0" bIns="0" rIns="0">
            <a:spAutoFit/>
          </a:bodyPr>
          <a:lstStyle/>
          <a:p>
            <a:pPr algn="l">
              <a:lnSpc>
                <a:spcPts val="4127"/>
              </a:lnSpc>
            </a:pPr>
            <a:r>
              <a:rPr lang="en-US" sz="3175">
                <a:solidFill>
                  <a:srgbClr val="000000"/>
                </a:solidFill>
                <a:latin typeface="Be Vietnam"/>
                <a:ea typeface="Be Vietnam"/>
                <a:cs typeface="Be Vietnam"/>
                <a:sym typeface="Be Vietnam"/>
              </a:rPr>
              <a:t>1. Heart Rate Data:</a:t>
            </a:r>
          </a:p>
          <a:p>
            <a:pPr algn="l" marL="685513" indent="-342757" lvl="1">
              <a:lnSpc>
                <a:spcPts val="4127"/>
              </a:lnSpc>
              <a:buFont typeface="Arial"/>
              <a:buChar char="•"/>
            </a:pPr>
            <a:r>
              <a:rPr lang="en-US" sz="3175">
                <a:solidFill>
                  <a:srgbClr val="000000"/>
                </a:solidFill>
                <a:latin typeface="Be Vietnam"/>
                <a:ea typeface="Be Vietnam"/>
                <a:cs typeface="Be Vietnam"/>
                <a:sym typeface="Be Vietnam"/>
              </a:rPr>
              <a:t> Analyze heart rate trends for each workout type to refine optimal zones.</a:t>
            </a:r>
          </a:p>
          <a:p>
            <a:pPr algn="l">
              <a:lnSpc>
                <a:spcPts val="4127"/>
              </a:lnSpc>
            </a:pPr>
            <a:r>
              <a:rPr lang="en-US" sz="3175">
                <a:solidFill>
                  <a:srgbClr val="000000"/>
                </a:solidFill>
                <a:latin typeface="Be Vietnam"/>
                <a:ea typeface="Be Vietnam"/>
                <a:cs typeface="Be Vietnam"/>
                <a:sym typeface="Be Vietnam"/>
              </a:rPr>
              <a:t>2. Calorie Burn Efficiency:</a:t>
            </a:r>
          </a:p>
          <a:p>
            <a:pPr algn="l" marL="685513" indent="-342757" lvl="1">
              <a:lnSpc>
                <a:spcPts val="4127"/>
              </a:lnSpc>
              <a:buFont typeface="Arial"/>
              <a:buChar char="•"/>
            </a:pPr>
            <a:r>
              <a:rPr lang="en-US" sz="3175">
                <a:solidFill>
                  <a:srgbClr val="000000"/>
                </a:solidFill>
                <a:latin typeface="Be Vietnam"/>
                <a:ea typeface="Be Vietnam"/>
                <a:cs typeface="Be Vietnam"/>
                <a:sym typeface="Be Vietnam"/>
              </a:rPr>
              <a:t> Compare calories burned per step/minute across workout types.</a:t>
            </a:r>
          </a:p>
          <a:p>
            <a:pPr algn="l">
              <a:lnSpc>
                <a:spcPts val="4127"/>
              </a:lnSpc>
            </a:pPr>
            <a:r>
              <a:rPr lang="en-US" sz="3175">
                <a:solidFill>
                  <a:srgbClr val="000000"/>
                </a:solidFill>
                <a:latin typeface="Be Vietnam"/>
                <a:ea typeface="Be Vietnam"/>
                <a:cs typeface="Be Vietnam"/>
                <a:sym typeface="Be Vietnam"/>
              </a:rPr>
              <a:t>3. Personalized Workout Plans:</a:t>
            </a:r>
          </a:p>
          <a:p>
            <a:pPr algn="l" marL="685513" indent="-342757" lvl="1">
              <a:lnSpc>
                <a:spcPts val="4127"/>
              </a:lnSpc>
              <a:buFont typeface="Arial"/>
              <a:buChar char="•"/>
            </a:pPr>
            <a:r>
              <a:rPr lang="en-US" sz="3175">
                <a:solidFill>
                  <a:srgbClr val="000000"/>
                </a:solidFill>
                <a:latin typeface="Be Vietnam"/>
                <a:ea typeface="Be Vietnam"/>
                <a:cs typeface="Be Vietnam"/>
                <a:sym typeface="Be Vietnam"/>
              </a:rPr>
              <a:t> • Develop tailored recommendations based on fitness levels and goals.</a:t>
            </a:r>
          </a:p>
        </p:txBody>
      </p:sp>
      <p:sp>
        <p:nvSpPr>
          <p:cNvPr name="TextBox 10" id="10"/>
          <p:cNvSpPr txBox="true"/>
          <p:nvPr/>
        </p:nvSpPr>
        <p:spPr>
          <a:xfrm rot="0">
            <a:off x="1699288" y="6883410"/>
            <a:ext cx="14926981" cy="2014855"/>
          </a:xfrm>
          <a:prstGeom prst="rect">
            <a:avLst/>
          </a:prstGeom>
        </p:spPr>
        <p:txBody>
          <a:bodyPr anchor="t" rtlCol="false" tIns="0" lIns="0" bIns="0" rIns="0">
            <a:spAutoFit/>
          </a:bodyPr>
          <a:lstStyle/>
          <a:p>
            <a:pPr algn="l">
              <a:lnSpc>
                <a:spcPts val="3639"/>
              </a:lnSpc>
              <a:spcBef>
                <a:spcPct val="0"/>
              </a:spcBef>
            </a:pPr>
            <a:r>
              <a:rPr lang="en-US" b="true" sz="2799">
                <a:solidFill>
                  <a:srgbClr val="000000"/>
                </a:solidFill>
                <a:latin typeface="Be Vietnam Bold"/>
                <a:ea typeface="Be Vietnam Bold"/>
                <a:cs typeface="Be Vietnam Bold"/>
                <a:sym typeface="Be Vietnam Bold"/>
              </a:rPr>
              <a:t>Actionable Plans:</a:t>
            </a:r>
          </a:p>
          <a:p>
            <a:pPr algn="l">
              <a:lnSpc>
                <a:spcPts val="3120"/>
              </a:lnSpc>
              <a:spcBef>
                <a:spcPct val="0"/>
              </a:spcBef>
            </a:pPr>
            <a:r>
              <a:rPr lang="en-US" sz="2400">
                <a:solidFill>
                  <a:srgbClr val="000000"/>
                </a:solidFill>
                <a:latin typeface="Be Vietnam"/>
                <a:ea typeface="Be Vietnam"/>
                <a:cs typeface="Be Vietnam"/>
                <a:sym typeface="Be Vietnam"/>
              </a:rPr>
              <a:t> 1. Promote workout diversity by combining step-intensive workouts (e.g., Cardio) with low-impact options (e.g., Yoga).</a:t>
            </a:r>
          </a:p>
          <a:p>
            <a:pPr algn="l">
              <a:lnSpc>
                <a:spcPts val="3120"/>
              </a:lnSpc>
              <a:spcBef>
                <a:spcPct val="0"/>
              </a:spcBef>
            </a:pPr>
            <a:r>
              <a:rPr lang="en-US" sz="2400">
                <a:solidFill>
                  <a:srgbClr val="000000"/>
                </a:solidFill>
                <a:latin typeface="Be Vietnam"/>
                <a:ea typeface="Be Vietnam"/>
                <a:cs typeface="Be Vietnam"/>
                <a:sym typeface="Be Vietnam"/>
              </a:rPr>
              <a:t> 2. Design fitness programs targeting specific calorie burn goals while maintaining safe heart rate levels.</a:t>
            </a:r>
          </a:p>
        </p:txBody>
      </p:sp>
      <p:sp>
        <p:nvSpPr>
          <p:cNvPr name="Freeform 11" id="11"/>
          <p:cNvSpPr/>
          <p:nvPr/>
        </p:nvSpPr>
        <p:spPr>
          <a:xfrm flipH="false" flipV="false" rot="0">
            <a:off x="-2565960" y="8614893"/>
            <a:ext cx="4899948" cy="3344214"/>
          </a:xfrm>
          <a:custGeom>
            <a:avLst/>
            <a:gdLst/>
            <a:ahLst/>
            <a:cxnLst/>
            <a:rect r="r" b="b" t="t" l="l"/>
            <a:pathLst>
              <a:path h="3344214" w="4899948">
                <a:moveTo>
                  <a:pt x="0" y="0"/>
                </a:moveTo>
                <a:lnTo>
                  <a:pt x="4899948" y="0"/>
                </a:lnTo>
                <a:lnTo>
                  <a:pt x="4899948" y="3344214"/>
                </a:lnTo>
                <a:lnTo>
                  <a:pt x="0" y="3344214"/>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4164164" y="8477715"/>
            <a:ext cx="4602314" cy="3618569"/>
          </a:xfrm>
          <a:custGeom>
            <a:avLst/>
            <a:gdLst/>
            <a:ahLst/>
            <a:cxnLst/>
            <a:rect r="r" b="b" t="t" l="l"/>
            <a:pathLst>
              <a:path h="3618569" w="4602314">
                <a:moveTo>
                  <a:pt x="0" y="0"/>
                </a:moveTo>
                <a:lnTo>
                  <a:pt x="4602313" y="0"/>
                </a:lnTo>
                <a:lnTo>
                  <a:pt x="4602313" y="3618570"/>
                </a:lnTo>
                <a:lnTo>
                  <a:pt x="0" y="3618570"/>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4" id="14"/>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5" id="15"/>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6" id="16"/>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7" id="17"/>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8" id="18"/>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9" id="19"/>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20" id="20"/>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21" id="21"/>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22" id="22"/>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alphaModFix amt="50000"/>
              <a:extLst>
                <a:ext uri="{96DAC541-7B7A-43D3-8B79-37D633B846F1}">
                  <asvg:svgBlip xmlns:asvg="http://schemas.microsoft.com/office/drawing/2016/SVG/main" r:embed="rId28"/>
                </a:ext>
              </a:extLst>
            </a:blip>
            <a:stretch>
              <a:fillRect l="0" t="0" r="0" b="0"/>
            </a:stretch>
          </a:blipFill>
          <a:ln cap="sq">
            <a:noFill/>
            <a:prstDash val="solid"/>
            <a:miter/>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115426" y="1505265"/>
            <a:ext cx="14057148" cy="8381575"/>
          </a:xfrm>
          <a:custGeom>
            <a:avLst/>
            <a:gdLst/>
            <a:ahLst/>
            <a:cxnLst/>
            <a:rect r="r" b="b" t="t" l="l"/>
            <a:pathLst>
              <a:path h="8381575" w="14057148">
                <a:moveTo>
                  <a:pt x="0" y="0"/>
                </a:moveTo>
                <a:lnTo>
                  <a:pt x="14057148" y="0"/>
                </a:lnTo>
                <a:lnTo>
                  <a:pt x="14057148" y="8381574"/>
                </a:lnTo>
                <a:lnTo>
                  <a:pt x="0" y="8381574"/>
                </a:lnTo>
                <a:lnTo>
                  <a:pt x="0" y="0"/>
                </a:lnTo>
                <a:close/>
              </a:path>
            </a:pathLst>
          </a:custGeom>
          <a:blipFill>
            <a:blip r:embed="rId3"/>
            <a:stretch>
              <a:fillRect l="0" t="0" r="0" b="0"/>
            </a:stretch>
          </a:blipFill>
        </p:spPr>
      </p:sp>
      <p:sp>
        <p:nvSpPr>
          <p:cNvPr name="Freeform 4" id="4"/>
          <p:cNvSpPr/>
          <p:nvPr/>
        </p:nvSpPr>
        <p:spPr>
          <a:xfrm flipH="false" flipV="false" rot="0">
            <a:off x="0" y="211874"/>
            <a:ext cx="10824278" cy="1180830"/>
          </a:xfrm>
          <a:custGeom>
            <a:avLst/>
            <a:gdLst/>
            <a:ahLst/>
            <a:cxnLst/>
            <a:rect r="r" b="b" t="t" l="l"/>
            <a:pathLst>
              <a:path h="1180830" w="10824278">
                <a:moveTo>
                  <a:pt x="0" y="0"/>
                </a:moveTo>
                <a:lnTo>
                  <a:pt x="10824278" y="0"/>
                </a:lnTo>
                <a:lnTo>
                  <a:pt x="10824278" y="1180830"/>
                </a:lnTo>
                <a:lnTo>
                  <a:pt x="0" y="11808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247035" y="211874"/>
            <a:ext cx="10824278" cy="1180830"/>
          </a:xfrm>
          <a:custGeom>
            <a:avLst/>
            <a:gdLst/>
            <a:ahLst/>
            <a:cxnLst/>
            <a:rect r="r" b="b" t="t" l="l"/>
            <a:pathLst>
              <a:path h="1180830" w="10824278">
                <a:moveTo>
                  <a:pt x="0" y="0"/>
                </a:moveTo>
                <a:lnTo>
                  <a:pt x="10824277" y="0"/>
                </a:lnTo>
                <a:lnTo>
                  <a:pt x="10824277" y="1180830"/>
                </a:lnTo>
                <a:lnTo>
                  <a:pt x="0" y="11808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575567" y="147889"/>
            <a:ext cx="17136866" cy="1167237"/>
          </a:xfrm>
          <a:prstGeom prst="rect">
            <a:avLst/>
          </a:prstGeom>
        </p:spPr>
        <p:txBody>
          <a:bodyPr anchor="t" rtlCol="false" tIns="0" lIns="0" bIns="0" rIns="0">
            <a:spAutoFit/>
          </a:bodyPr>
          <a:lstStyle/>
          <a:p>
            <a:pPr algn="ctr">
              <a:lnSpc>
                <a:spcPts val="4773"/>
              </a:lnSpc>
              <a:spcBef>
                <a:spcPct val="0"/>
              </a:spcBef>
            </a:pPr>
            <a:r>
              <a:rPr lang="en-US" sz="3060">
                <a:solidFill>
                  <a:srgbClr val="000000"/>
                </a:solidFill>
                <a:latin typeface="Open Sans Extra Bold"/>
                <a:ea typeface="Open Sans Extra Bold"/>
                <a:cs typeface="Open Sans Extra Bold"/>
                <a:sym typeface="Open Sans Extra Bold"/>
              </a:rPr>
              <a:t>Q5. </a:t>
            </a:r>
            <a:r>
              <a:rPr lang="en-US" b="true" sz="3060">
                <a:solidFill>
                  <a:srgbClr val="000000"/>
                </a:solidFill>
                <a:latin typeface="Open Sans Extra Bold"/>
                <a:ea typeface="Open Sans Extra Bold"/>
                <a:cs typeface="Open Sans Extra Bold"/>
                <a:sym typeface="Open Sans Extra Bold"/>
              </a:rPr>
              <a:t>Does weather influence the choice of workout type or location, and how do these choices subsequently affect mood and physical activity metrics?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811706"/>
            <a:ext cx="15961675" cy="6728431"/>
            <a:chOff x="0" y="0"/>
            <a:chExt cx="6583208" cy="2775063"/>
          </a:xfrm>
        </p:grpSpPr>
        <p:sp>
          <p:nvSpPr>
            <p:cNvPr name="Freeform 4" id="4"/>
            <p:cNvSpPr/>
            <p:nvPr/>
          </p:nvSpPr>
          <p:spPr>
            <a:xfrm flipH="false" flipV="false" rot="0">
              <a:off x="0" y="0"/>
              <a:ext cx="6583208" cy="2775064"/>
            </a:xfrm>
            <a:custGeom>
              <a:avLst/>
              <a:gdLst/>
              <a:ahLst/>
              <a:cxnLst/>
              <a:rect r="r" b="b" t="t" l="l"/>
              <a:pathLst>
                <a:path h="2775064" w="6583208">
                  <a:moveTo>
                    <a:pt x="6458748" y="2775063"/>
                  </a:moveTo>
                  <a:lnTo>
                    <a:pt x="124460" y="2775063"/>
                  </a:lnTo>
                  <a:cubicBezTo>
                    <a:pt x="55880" y="2775063"/>
                    <a:pt x="0" y="2719183"/>
                    <a:pt x="0" y="2650603"/>
                  </a:cubicBezTo>
                  <a:lnTo>
                    <a:pt x="0" y="124460"/>
                  </a:lnTo>
                  <a:cubicBezTo>
                    <a:pt x="0" y="55880"/>
                    <a:pt x="55880" y="0"/>
                    <a:pt x="124460" y="0"/>
                  </a:cubicBezTo>
                  <a:lnTo>
                    <a:pt x="6458748" y="0"/>
                  </a:lnTo>
                  <a:cubicBezTo>
                    <a:pt x="6527328" y="0"/>
                    <a:pt x="6583208" y="55880"/>
                    <a:pt x="6583208" y="124460"/>
                  </a:cubicBezTo>
                  <a:lnTo>
                    <a:pt x="6583208" y="2650604"/>
                  </a:lnTo>
                  <a:cubicBezTo>
                    <a:pt x="6583208" y="2719183"/>
                    <a:pt x="6527328" y="2775064"/>
                    <a:pt x="6458748" y="2775064"/>
                  </a:cubicBezTo>
                  <a:close/>
                </a:path>
              </a:pathLst>
            </a:custGeom>
            <a:solidFill>
              <a:srgbClr val="D6DCFF"/>
            </a:solidFill>
          </p:spPr>
        </p:sp>
      </p:grpSp>
      <p:sp>
        <p:nvSpPr>
          <p:cNvPr name="TextBox 5" id="5"/>
          <p:cNvSpPr txBox="true"/>
          <p:nvPr/>
        </p:nvSpPr>
        <p:spPr>
          <a:xfrm rot="0">
            <a:off x="1876709" y="2611499"/>
            <a:ext cx="7387233" cy="626745"/>
          </a:xfrm>
          <a:prstGeom prst="rect">
            <a:avLst/>
          </a:prstGeom>
        </p:spPr>
        <p:txBody>
          <a:bodyPr anchor="t" rtlCol="false" tIns="0" lIns="0" bIns="0" rIns="0">
            <a:spAutoFit/>
          </a:bodyPr>
          <a:lstStyle/>
          <a:p>
            <a:pPr algn="ctr">
              <a:lnSpc>
                <a:spcPts val="5069"/>
              </a:lnSpc>
              <a:spcBef>
                <a:spcPct val="0"/>
              </a:spcBef>
            </a:pPr>
            <a:r>
              <a:rPr lang="en-US" b="true" sz="3899">
                <a:solidFill>
                  <a:srgbClr val="000000"/>
                </a:solidFill>
                <a:latin typeface="Be Vietnam Bold"/>
                <a:ea typeface="Be Vietnam Bold"/>
                <a:cs typeface="Be Vietnam Bold"/>
                <a:sym typeface="Be Vietnam Bold"/>
              </a:rPr>
              <a:t>Key Observations from the Plot</a:t>
            </a:r>
          </a:p>
        </p:txBody>
      </p:sp>
      <p:sp>
        <p:nvSpPr>
          <p:cNvPr name="TextBox 6" id="6"/>
          <p:cNvSpPr txBox="true"/>
          <p:nvPr/>
        </p:nvSpPr>
        <p:spPr>
          <a:xfrm rot="0">
            <a:off x="1876709" y="3502347"/>
            <a:ext cx="14639653" cy="3968115"/>
          </a:xfrm>
          <a:prstGeom prst="rect">
            <a:avLst/>
          </a:prstGeom>
        </p:spPr>
        <p:txBody>
          <a:bodyPr anchor="t" rtlCol="false" tIns="0" lIns="0" bIns="0" rIns="0">
            <a:spAutoFit/>
          </a:bodyPr>
          <a:lstStyle/>
          <a:p>
            <a:pPr algn="l">
              <a:lnSpc>
                <a:spcPts val="3639"/>
              </a:lnSpc>
              <a:spcBef>
                <a:spcPct val="0"/>
              </a:spcBef>
            </a:pPr>
            <a:r>
              <a:rPr lang="en-US" b="true" sz="2799">
                <a:solidFill>
                  <a:srgbClr val="000000"/>
                </a:solidFill>
                <a:latin typeface="Open Sans 1 Bold"/>
                <a:ea typeface="Open Sans 1 Bold"/>
                <a:cs typeface="Open Sans 1 Bold"/>
                <a:sym typeface="Open Sans 1 Bold"/>
              </a:rPr>
              <a:t>Sunny Weather:</a:t>
            </a:r>
          </a:p>
          <a:p>
            <a:pPr algn="l">
              <a:lnSpc>
                <a:spcPts val="2990"/>
              </a:lnSpc>
              <a:spcBef>
                <a:spcPct val="0"/>
              </a:spcBef>
            </a:pPr>
            <a:r>
              <a:rPr lang="en-US" sz="2300">
                <a:solidFill>
                  <a:srgbClr val="000000"/>
                </a:solidFill>
                <a:latin typeface="Open Sans 1"/>
                <a:ea typeface="Open Sans 1"/>
                <a:cs typeface="Open Sans 1"/>
                <a:sym typeface="Open Sans 1"/>
              </a:rPr>
              <a:t>Yoga is the most frequent workout choice, possibly due to favorable outdoor conditions.</a:t>
            </a:r>
          </a:p>
          <a:p>
            <a:pPr algn="l">
              <a:lnSpc>
                <a:spcPts val="2990"/>
              </a:lnSpc>
              <a:spcBef>
                <a:spcPct val="0"/>
              </a:spcBef>
            </a:pPr>
            <a:r>
              <a:rPr lang="en-US" sz="2300">
                <a:solidFill>
                  <a:srgbClr val="000000"/>
                </a:solidFill>
                <a:latin typeface="Open Sans 1"/>
                <a:ea typeface="Open Sans 1"/>
                <a:cs typeface="Open Sans 1"/>
                <a:sym typeface="Open Sans 1"/>
              </a:rPr>
              <a:t>Diverse options like yoga and running are more prominent compared to other weather conditions.</a:t>
            </a:r>
          </a:p>
          <a:p>
            <a:pPr algn="l">
              <a:lnSpc>
                <a:spcPts val="3640"/>
              </a:lnSpc>
              <a:spcBef>
                <a:spcPct val="0"/>
              </a:spcBef>
            </a:pPr>
            <a:r>
              <a:rPr lang="en-US" b="true" sz="2800">
                <a:solidFill>
                  <a:srgbClr val="000000"/>
                </a:solidFill>
                <a:latin typeface="Open Sans 1 Bold"/>
                <a:ea typeface="Open Sans 1 Bold"/>
                <a:cs typeface="Open Sans 1 Bold"/>
                <a:sym typeface="Open Sans 1 Bold"/>
              </a:rPr>
              <a:t>Cloudy Weather:</a:t>
            </a:r>
          </a:p>
          <a:p>
            <a:pPr algn="l">
              <a:lnSpc>
                <a:spcPts val="2990"/>
              </a:lnSpc>
              <a:spcBef>
                <a:spcPct val="0"/>
              </a:spcBef>
            </a:pPr>
            <a:r>
              <a:rPr lang="en-US" sz="2300">
                <a:solidFill>
                  <a:srgbClr val="000000"/>
                </a:solidFill>
                <a:latin typeface="Open Sans 1"/>
                <a:ea typeface="Open Sans 1"/>
                <a:cs typeface="Open Sans 1"/>
                <a:sym typeface="Open Sans 1"/>
              </a:rPr>
              <a:t>Running is preferred, indicating moderate outdoor activity levels.</a:t>
            </a:r>
          </a:p>
          <a:p>
            <a:pPr algn="l">
              <a:lnSpc>
                <a:spcPts val="2990"/>
              </a:lnSpc>
              <a:spcBef>
                <a:spcPct val="0"/>
              </a:spcBef>
            </a:pPr>
            <a:r>
              <a:rPr lang="en-US" sz="2300">
                <a:solidFill>
                  <a:srgbClr val="000000"/>
                </a:solidFill>
                <a:latin typeface="Open Sans 1"/>
                <a:ea typeface="Open Sans 1"/>
                <a:cs typeface="Open Sans 1"/>
                <a:sym typeface="Open Sans 1"/>
              </a:rPr>
              <a:t>Limited diversity in workout types compared to sunny weather.</a:t>
            </a:r>
          </a:p>
          <a:p>
            <a:pPr algn="l">
              <a:lnSpc>
                <a:spcPts val="3639"/>
              </a:lnSpc>
              <a:spcBef>
                <a:spcPct val="0"/>
              </a:spcBef>
            </a:pPr>
            <a:r>
              <a:rPr lang="en-US" b="true" sz="2799">
                <a:solidFill>
                  <a:srgbClr val="000000"/>
                </a:solidFill>
                <a:latin typeface="Open Sans 1 Bold"/>
                <a:ea typeface="Open Sans 1 Bold"/>
                <a:cs typeface="Open Sans 1 Bold"/>
                <a:sym typeface="Open Sans 1 Bold"/>
              </a:rPr>
              <a:t>Rainy Weather:</a:t>
            </a:r>
          </a:p>
          <a:p>
            <a:pPr algn="l">
              <a:lnSpc>
                <a:spcPts val="2990"/>
              </a:lnSpc>
              <a:spcBef>
                <a:spcPct val="0"/>
              </a:spcBef>
            </a:pPr>
            <a:r>
              <a:rPr lang="en-US" sz="2300">
                <a:solidFill>
                  <a:srgbClr val="000000"/>
                </a:solidFill>
                <a:latin typeface="Open Sans 1"/>
                <a:ea typeface="Open Sans 1"/>
                <a:cs typeface="Open Sans 1"/>
                <a:sym typeface="Open Sans 1"/>
              </a:rPr>
              <a:t>Indoor gym workouts are the dominant choice, reflecting the impact of weather on outdoor activity limitations.</a:t>
            </a:r>
          </a:p>
          <a:p>
            <a:pPr algn="l">
              <a:lnSpc>
                <a:spcPts val="2990"/>
              </a:lnSpc>
              <a:spcBef>
                <a:spcPct val="0"/>
              </a:spcBef>
            </a:pPr>
            <a:r>
              <a:rPr lang="en-US" sz="2300">
                <a:solidFill>
                  <a:srgbClr val="000000"/>
                </a:solidFill>
                <a:latin typeface="Open Sans 1"/>
                <a:ea typeface="Open Sans 1"/>
                <a:cs typeface="Open Sans 1"/>
                <a:sym typeface="Open Sans 1"/>
              </a:rPr>
              <a:t>Lack of outdoor activities could affect overall engagement with physical activity.</a:t>
            </a:r>
          </a:p>
        </p:txBody>
      </p:sp>
      <p:sp>
        <p:nvSpPr>
          <p:cNvPr name="Freeform 7" id="7"/>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1" id="11"/>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2" id="12"/>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3" id="13"/>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4" id="14"/>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5" id="15"/>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6" id="16"/>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7" id="17"/>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8" id="18"/>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811706"/>
            <a:ext cx="14888517" cy="6728431"/>
            <a:chOff x="0" y="0"/>
            <a:chExt cx="6140596" cy="2775063"/>
          </a:xfrm>
        </p:grpSpPr>
        <p:sp>
          <p:nvSpPr>
            <p:cNvPr name="Freeform 4" id="4"/>
            <p:cNvSpPr/>
            <p:nvPr/>
          </p:nvSpPr>
          <p:spPr>
            <a:xfrm flipH="false" flipV="false" rot="0">
              <a:off x="0" y="0"/>
              <a:ext cx="6140597" cy="2775064"/>
            </a:xfrm>
            <a:custGeom>
              <a:avLst/>
              <a:gdLst/>
              <a:ahLst/>
              <a:cxnLst/>
              <a:rect r="r" b="b" t="t" l="l"/>
              <a:pathLst>
                <a:path h="2775064" w="6140597">
                  <a:moveTo>
                    <a:pt x="6016136" y="2775063"/>
                  </a:moveTo>
                  <a:lnTo>
                    <a:pt x="124460" y="2775063"/>
                  </a:lnTo>
                  <a:cubicBezTo>
                    <a:pt x="55880" y="2775063"/>
                    <a:pt x="0" y="2719183"/>
                    <a:pt x="0" y="2650603"/>
                  </a:cubicBezTo>
                  <a:lnTo>
                    <a:pt x="0" y="124460"/>
                  </a:lnTo>
                  <a:cubicBezTo>
                    <a:pt x="0" y="55880"/>
                    <a:pt x="55880" y="0"/>
                    <a:pt x="124460" y="0"/>
                  </a:cubicBezTo>
                  <a:lnTo>
                    <a:pt x="6016136" y="0"/>
                  </a:lnTo>
                  <a:cubicBezTo>
                    <a:pt x="6084716" y="0"/>
                    <a:pt x="6140597" y="55880"/>
                    <a:pt x="6140597" y="124460"/>
                  </a:cubicBezTo>
                  <a:lnTo>
                    <a:pt x="6140597" y="2650604"/>
                  </a:lnTo>
                  <a:cubicBezTo>
                    <a:pt x="6140597" y="2719183"/>
                    <a:pt x="6084716" y="2775064"/>
                    <a:pt x="6016136" y="2775064"/>
                  </a:cubicBezTo>
                  <a:close/>
                </a:path>
              </a:pathLst>
            </a:custGeom>
            <a:solidFill>
              <a:srgbClr val="D6DCFF"/>
            </a:solidFill>
          </p:spPr>
        </p:sp>
      </p:grpSp>
      <p:sp>
        <p:nvSpPr>
          <p:cNvPr name="TextBox 5" id="5"/>
          <p:cNvSpPr txBox="true"/>
          <p:nvPr/>
        </p:nvSpPr>
        <p:spPr>
          <a:xfrm rot="0">
            <a:off x="1876709" y="3502347"/>
            <a:ext cx="13867082" cy="4339590"/>
          </a:xfrm>
          <a:prstGeom prst="rect">
            <a:avLst/>
          </a:prstGeom>
        </p:spPr>
        <p:txBody>
          <a:bodyPr anchor="t" rtlCol="false" tIns="0" lIns="0" bIns="0" rIns="0">
            <a:spAutoFit/>
          </a:bodyPr>
          <a:lstStyle/>
          <a:p>
            <a:pPr algn="l">
              <a:lnSpc>
                <a:spcPts val="3639"/>
              </a:lnSpc>
              <a:spcBef>
                <a:spcPct val="0"/>
              </a:spcBef>
            </a:pPr>
            <a:r>
              <a:rPr lang="en-US" b="true" sz="2799">
                <a:solidFill>
                  <a:srgbClr val="000000"/>
                </a:solidFill>
                <a:latin typeface="Open Sans 1 Bold"/>
                <a:ea typeface="Open Sans 1 Bold"/>
                <a:cs typeface="Open Sans 1 Bold"/>
                <a:sym typeface="Open Sans 1 Bold"/>
              </a:rPr>
              <a:t>1.Mood a</a:t>
            </a:r>
            <a:r>
              <a:rPr lang="en-US" b="true" sz="2799">
                <a:solidFill>
                  <a:srgbClr val="000000"/>
                </a:solidFill>
                <a:latin typeface="Open Sans 1 Bold"/>
                <a:ea typeface="Open Sans 1 Bold"/>
                <a:cs typeface="Open Sans 1 Bold"/>
                <a:sym typeface="Open Sans 1 Bold"/>
              </a:rPr>
              <a:t>nd Energy Tracking:</a:t>
            </a:r>
          </a:p>
          <a:p>
            <a:pPr algn="l" marL="496571" indent="-248285" lvl="1">
              <a:lnSpc>
                <a:spcPts val="2990"/>
              </a:lnSpc>
              <a:spcBef>
                <a:spcPct val="0"/>
              </a:spcBef>
              <a:buFont typeface="Arial"/>
              <a:buChar char="•"/>
            </a:pPr>
            <a:r>
              <a:rPr lang="en-US" sz="2300">
                <a:solidFill>
                  <a:srgbClr val="000000"/>
                </a:solidFill>
                <a:latin typeface="Open Sans 1"/>
                <a:ea typeface="Open Sans 1"/>
                <a:cs typeface="Open Sans 1"/>
                <a:sym typeface="Open Sans 1"/>
              </a:rPr>
              <a:t>Correlate weather, workout types, and their impact on participants' mood and energy levels.</a:t>
            </a:r>
          </a:p>
          <a:p>
            <a:pPr algn="l" marL="496571" indent="-248285" lvl="1">
              <a:lnSpc>
                <a:spcPts val="2990"/>
              </a:lnSpc>
              <a:spcBef>
                <a:spcPct val="0"/>
              </a:spcBef>
              <a:buFont typeface="Arial"/>
              <a:buChar char="•"/>
            </a:pPr>
            <a:r>
              <a:rPr lang="en-US" sz="2300">
                <a:solidFill>
                  <a:srgbClr val="000000"/>
                </a:solidFill>
                <a:latin typeface="Open Sans 1"/>
                <a:ea typeface="Open Sans 1"/>
                <a:cs typeface="Open Sans 1"/>
                <a:sym typeface="Open Sans 1"/>
              </a:rPr>
              <a:t>Gather feedback on perceived satisfaction with workouts under varying weather conditions.</a:t>
            </a:r>
          </a:p>
          <a:p>
            <a:pPr algn="l">
              <a:lnSpc>
                <a:spcPts val="3639"/>
              </a:lnSpc>
              <a:spcBef>
                <a:spcPct val="0"/>
              </a:spcBef>
            </a:pPr>
            <a:r>
              <a:rPr lang="en-US" b="true" sz="2799">
                <a:solidFill>
                  <a:srgbClr val="000000"/>
                </a:solidFill>
                <a:latin typeface="Open Sans 1 Bold"/>
                <a:ea typeface="Open Sans 1 Bold"/>
                <a:cs typeface="Open Sans 1 Bold"/>
                <a:sym typeface="Open Sans 1 Bold"/>
              </a:rPr>
              <a:t>2.</a:t>
            </a:r>
            <a:r>
              <a:rPr lang="en-US" b="true" sz="2799">
                <a:solidFill>
                  <a:srgbClr val="000000"/>
                </a:solidFill>
                <a:latin typeface="Open Sans 1 Bold"/>
                <a:ea typeface="Open Sans 1 Bold"/>
                <a:cs typeface="Open Sans 1 Bold"/>
                <a:sym typeface="Open Sans 1 Bold"/>
              </a:rPr>
              <a:t>Activit</a:t>
            </a:r>
            <a:r>
              <a:rPr lang="en-US" b="true" sz="2799">
                <a:solidFill>
                  <a:srgbClr val="000000"/>
                </a:solidFill>
                <a:latin typeface="Open Sans 1 Bold"/>
                <a:ea typeface="Open Sans 1 Bold"/>
                <a:cs typeface="Open Sans 1 Bold"/>
                <a:sym typeface="Open Sans 1 Bold"/>
              </a:rPr>
              <a:t>y Freque</a:t>
            </a:r>
            <a:r>
              <a:rPr lang="en-US" b="true" sz="2799">
                <a:solidFill>
                  <a:srgbClr val="000000"/>
                </a:solidFill>
                <a:latin typeface="Open Sans 1 Bold"/>
                <a:ea typeface="Open Sans 1 Bold"/>
                <a:cs typeface="Open Sans 1 Bold"/>
                <a:sym typeface="Open Sans 1 Bold"/>
              </a:rPr>
              <a:t>ncy Analysis:</a:t>
            </a:r>
          </a:p>
          <a:p>
            <a:pPr algn="l" marL="496571" indent="-248285" lvl="1">
              <a:lnSpc>
                <a:spcPts val="2990"/>
              </a:lnSpc>
              <a:spcBef>
                <a:spcPct val="0"/>
              </a:spcBef>
              <a:buFont typeface="Arial"/>
              <a:buChar char="•"/>
            </a:pPr>
            <a:r>
              <a:rPr lang="en-US" sz="2300">
                <a:solidFill>
                  <a:srgbClr val="000000"/>
                </a:solidFill>
                <a:latin typeface="Open Sans 1"/>
                <a:ea typeface="Open Sans 1"/>
                <a:cs typeface="Open Sans 1"/>
                <a:sym typeface="Open Sans 1"/>
              </a:rPr>
              <a:t>Collect data over a longer period to observe seasonal variations in workout preferences.</a:t>
            </a:r>
          </a:p>
          <a:p>
            <a:pPr algn="l" marL="496571" indent="-248285" lvl="1">
              <a:lnSpc>
                <a:spcPts val="2990"/>
              </a:lnSpc>
              <a:spcBef>
                <a:spcPct val="0"/>
              </a:spcBef>
              <a:buFont typeface="Arial"/>
              <a:buChar char="•"/>
            </a:pPr>
            <a:r>
              <a:rPr lang="en-US" sz="2300">
                <a:solidFill>
                  <a:srgbClr val="000000"/>
                </a:solidFill>
                <a:latin typeface="Open Sans 1"/>
                <a:ea typeface="Open Sans 1"/>
                <a:cs typeface="Open Sans 1"/>
                <a:sym typeface="Open Sans 1"/>
              </a:rPr>
              <a:t>Evaluate the consistency of workout routines under extreme weather patterns.</a:t>
            </a:r>
          </a:p>
          <a:p>
            <a:pPr algn="l">
              <a:lnSpc>
                <a:spcPts val="3639"/>
              </a:lnSpc>
              <a:spcBef>
                <a:spcPct val="0"/>
              </a:spcBef>
            </a:pPr>
            <a:r>
              <a:rPr lang="en-US" b="true" sz="2799">
                <a:solidFill>
                  <a:srgbClr val="000000"/>
                </a:solidFill>
                <a:latin typeface="Open Sans 1 Bold"/>
                <a:ea typeface="Open Sans 1 Bold"/>
                <a:cs typeface="Open Sans 1 Bold"/>
                <a:sym typeface="Open Sans 1 Bold"/>
              </a:rPr>
              <a:t>3.</a:t>
            </a:r>
            <a:r>
              <a:rPr lang="en-US" b="true" sz="2799">
                <a:solidFill>
                  <a:srgbClr val="000000"/>
                </a:solidFill>
                <a:latin typeface="Open Sans 1 Bold"/>
                <a:ea typeface="Open Sans 1 Bold"/>
                <a:cs typeface="Open Sans 1 Bold"/>
                <a:sym typeface="Open Sans 1 Bold"/>
              </a:rPr>
              <a:t>Dem</a:t>
            </a:r>
            <a:r>
              <a:rPr lang="en-US" b="true" sz="2799">
                <a:solidFill>
                  <a:srgbClr val="000000"/>
                </a:solidFill>
                <a:latin typeface="Open Sans 1 Bold"/>
                <a:ea typeface="Open Sans 1 Bold"/>
                <a:cs typeface="Open Sans 1 Bold"/>
                <a:sym typeface="Open Sans 1 Bold"/>
              </a:rPr>
              <a:t>ographic Insights:</a:t>
            </a:r>
          </a:p>
          <a:p>
            <a:pPr algn="l" marL="496571" indent="-248285" lvl="1">
              <a:lnSpc>
                <a:spcPts val="2990"/>
              </a:lnSpc>
              <a:spcBef>
                <a:spcPct val="0"/>
              </a:spcBef>
              <a:buFont typeface="Arial"/>
              <a:buChar char="•"/>
            </a:pPr>
            <a:r>
              <a:rPr lang="en-US" sz="2300">
                <a:solidFill>
                  <a:srgbClr val="000000"/>
                </a:solidFill>
                <a:latin typeface="Open Sans 1"/>
                <a:ea typeface="Open Sans 1"/>
                <a:cs typeface="Open Sans 1"/>
                <a:sym typeface="Open Sans 1"/>
              </a:rPr>
              <a:t>Segment data by age, gender, and fitness goals to identify specific trends.</a:t>
            </a:r>
          </a:p>
          <a:p>
            <a:pPr algn="l" marL="496571" indent="-248285" lvl="1">
              <a:lnSpc>
                <a:spcPts val="2990"/>
              </a:lnSpc>
              <a:spcBef>
                <a:spcPct val="0"/>
              </a:spcBef>
              <a:buFont typeface="Arial"/>
              <a:buChar char="•"/>
            </a:pPr>
            <a:r>
              <a:rPr lang="en-US" sz="2300">
                <a:solidFill>
                  <a:srgbClr val="000000"/>
                </a:solidFill>
                <a:latin typeface="Open Sans 1"/>
                <a:ea typeface="Open Sans 1"/>
                <a:cs typeface="Open Sans 1"/>
                <a:sym typeface="Open Sans 1"/>
              </a:rPr>
              <a:t>Understand if particular groups show stronger preferences for certain workout types in specific weather.</a:t>
            </a:r>
          </a:p>
          <a:p>
            <a:pPr algn="l">
              <a:lnSpc>
                <a:spcPts val="2990"/>
              </a:lnSpc>
              <a:spcBef>
                <a:spcPct val="0"/>
              </a:spcBef>
            </a:pPr>
          </a:p>
        </p:txBody>
      </p:sp>
      <p:sp>
        <p:nvSpPr>
          <p:cNvPr name="Freeform 6" id="6"/>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9" id="9"/>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0" id="10"/>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1" id="11"/>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2" id="12"/>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3" id="13"/>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4" id="14"/>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5" id="15"/>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6" id="16"/>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7" id="17"/>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8" id="18"/>
          <p:cNvSpPr/>
          <p:nvPr/>
        </p:nvSpPr>
        <p:spPr>
          <a:xfrm flipH="false" flipV="false" rot="6672234">
            <a:off x="15557162" y="-1291181"/>
            <a:ext cx="2842953" cy="4114800"/>
          </a:xfrm>
          <a:custGeom>
            <a:avLst/>
            <a:gdLst/>
            <a:ahLst/>
            <a:cxnLst/>
            <a:rect r="r" b="b" t="t" l="l"/>
            <a:pathLst>
              <a:path h="4114800" w="2842953">
                <a:moveTo>
                  <a:pt x="0" y="0"/>
                </a:moveTo>
                <a:lnTo>
                  <a:pt x="2842952" y="0"/>
                </a:lnTo>
                <a:lnTo>
                  <a:pt x="2842952" y="4114800"/>
                </a:lnTo>
                <a:lnTo>
                  <a:pt x="0" y="411480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TextBox 19" id="19"/>
          <p:cNvSpPr txBox="true"/>
          <p:nvPr/>
        </p:nvSpPr>
        <p:spPr>
          <a:xfrm rot="0">
            <a:off x="1876709" y="2611499"/>
            <a:ext cx="2763069" cy="626745"/>
          </a:xfrm>
          <a:prstGeom prst="rect">
            <a:avLst/>
          </a:prstGeom>
        </p:spPr>
        <p:txBody>
          <a:bodyPr anchor="t" rtlCol="false" tIns="0" lIns="0" bIns="0" rIns="0">
            <a:spAutoFit/>
          </a:bodyPr>
          <a:lstStyle/>
          <a:p>
            <a:pPr algn="ctr">
              <a:lnSpc>
                <a:spcPts val="5069"/>
              </a:lnSpc>
              <a:spcBef>
                <a:spcPct val="0"/>
              </a:spcBef>
            </a:pPr>
            <a:r>
              <a:rPr lang="en-US" b="true" sz="3899">
                <a:solidFill>
                  <a:srgbClr val="000000"/>
                </a:solidFill>
                <a:latin typeface="Be Vietnam Bold"/>
                <a:ea typeface="Be Vietnam Bold"/>
                <a:cs typeface="Be Vietnam Bold"/>
                <a:sym typeface="Be Vietnam Bold"/>
              </a:rPr>
              <a:t>Next Steps: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16963" y="1811706"/>
            <a:ext cx="16242337" cy="6728431"/>
            <a:chOff x="0" y="0"/>
            <a:chExt cx="6698964" cy="2775063"/>
          </a:xfrm>
        </p:grpSpPr>
        <p:sp>
          <p:nvSpPr>
            <p:cNvPr name="Freeform 4" id="4"/>
            <p:cNvSpPr/>
            <p:nvPr/>
          </p:nvSpPr>
          <p:spPr>
            <a:xfrm flipH="false" flipV="false" rot="0">
              <a:off x="0" y="0"/>
              <a:ext cx="6698964" cy="2775064"/>
            </a:xfrm>
            <a:custGeom>
              <a:avLst/>
              <a:gdLst/>
              <a:ahLst/>
              <a:cxnLst/>
              <a:rect r="r" b="b" t="t" l="l"/>
              <a:pathLst>
                <a:path h="2775064" w="6698964">
                  <a:moveTo>
                    <a:pt x="6574504" y="2775063"/>
                  </a:moveTo>
                  <a:lnTo>
                    <a:pt x="124460" y="2775063"/>
                  </a:lnTo>
                  <a:cubicBezTo>
                    <a:pt x="55880" y="2775063"/>
                    <a:pt x="0" y="2719183"/>
                    <a:pt x="0" y="2650603"/>
                  </a:cubicBezTo>
                  <a:lnTo>
                    <a:pt x="0" y="124460"/>
                  </a:lnTo>
                  <a:cubicBezTo>
                    <a:pt x="0" y="55880"/>
                    <a:pt x="55880" y="0"/>
                    <a:pt x="124460" y="0"/>
                  </a:cubicBezTo>
                  <a:lnTo>
                    <a:pt x="6574504" y="0"/>
                  </a:lnTo>
                  <a:cubicBezTo>
                    <a:pt x="6643084" y="0"/>
                    <a:pt x="6698964" y="55880"/>
                    <a:pt x="6698964" y="124460"/>
                  </a:cubicBezTo>
                  <a:lnTo>
                    <a:pt x="6698964" y="2650604"/>
                  </a:lnTo>
                  <a:cubicBezTo>
                    <a:pt x="6698964" y="2719183"/>
                    <a:pt x="6643084" y="2775064"/>
                    <a:pt x="6574504" y="2775064"/>
                  </a:cubicBezTo>
                  <a:close/>
                </a:path>
              </a:pathLst>
            </a:custGeom>
            <a:solidFill>
              <a:srgbClr val="D6DCFF"/>
            </a:solidFill>
          </p:spPr>
        </p:sp>
      </p:grpSp>
      <p:sp>
        <p:nvSpPr>
          <p:cNvPr name="TextBox 5" id="5"/>
          <p:cNvSpPr txBox="true"/>
          <p:nvPr/>
        </p:nvSpPr>
        <p:spPr>
          <a:xfrm rot="0">
            <a:off x="1868906" y="2611499"/>
            <a:ext cx="3990305" cy="626745"/>
          </a:xfrm>
          <a:prstGeom prst="rect">
            <a:avLst/>
          </a:prstGeom>
        </p:spPr>
        <p:txBody>
          <a:bodyPr anchor="t" rtlCol="false" tIns="0" lIns="0" bIns="0" rIns="0">
            <a:spAutoFit/>
          </a:bodyPr>
          <a:lstStyle/>
          <a:p>
            <a:pPr algn="ctr">
              <a:lnSpc>
                <a:spcPts val="5069"/>
              </a:lnSpc>
              <a:spcBef>
                <a:spcPct val="0"/>
              </a:spcBef>
            </a:pPr>
            <a:r>
              <a:rPr lang="en-US" b="true" sz="3899">
                <a:solidFill>
                  <a:srgbClr val="000000"/>
                </a:solidFill>
                <a:latin typeface="Be Vietnam Bold"/>
                <a:ea typeface="Be Vietnam Bold"/>
                <a:cs typeface="Be Vietnam Bold"/>
                <a:sym typeface="Be Vietnam Bold"/>
              </a:rPr>
              <a:t>Deeper Analysis:</a:t>
            </a:r>
          </a:p>
        </p:txBody>
      </p:sp>
      <p:sp>
        <p:nvSpPr>
          <p:cNvPr name="TextBox 6" id="6"/>
          <p:cNvSpPr txBox="true"/>
          <p:nvPr/>
        </p:nvSpPr>
        <p:spPr>
          <a:xfrm rot="0">
            <a:off x="1876709" y="3502347"/>
            <a:ext cx="15101929" cy="3873759"/>
          </a:xfrm>
          <a:prstGeom prst="rect">
            <a:avLst/>
          </a:prstGeom>
        </p:spPr>
        <p:txBody>
          <a:bodyPr anchor="t" rtlCol="false" tIns="0" lIns="0" bIns="0" rIns="0">
            <a:spAutoFit/>
          </a:bodyPr>
          <a:lstStyle/>
          <a:p>
            <a:pPr algn="l">
              <a:lnSpc>
                <a:spcPts val="3539"/>
              </a:lnSpc>
              <a:spcBef>
                <a:spcPct val="0"/>
              </a:spcBef>
            </a:pPr>
            <a:r>
              <a:rPr lang="en-US" b="true" sz="2722">
                <a:solidFill>
                  <a:srgbClr val="000000"/>
                </a:solidFill>
                <a:latin typeface="Open Sans 1 Bold"/>
                <a:ea typeface="Open Sans 1 Bold"/>
                <a:cs typeface="Open Sans 1 Bold"/>
                <a:sym typeface="Open Sans 1 Bold"/>
              </a:rPr>
              <a:t>1.Physical Metrics:</a:t>
            </a:r>
          </a:p>
          <a:p>
            <a:pPr algn="l" marL="482867" indent="-241433" lvl="1">
              <a:lnSpc>
                <a:spcPts val="2907"/>
              </a:lnSpc>
              <a:spcBef>
                <a:spcPct val="0"/>
              </a:spcBef>
              <a:buFont typeface="Arial"/>
              <a:buChar char="•"/>
            </a:pPr>
            <a:r>
              <a:rPr lang="en-US" sz="2236">
                <a:solidFill>
                  <a:srgbClr val="000000"/>
                </a:solidFill>
                <a:latin typeface="Open Sans 1"/>
                <a:ea typeface="Open Sans 1"/>
                <a:cs typeface="Open Sans 1"/>
                <a:sym typeface="Open Sans 1"/>
              </a:rPr>
              <a:t>Analyze calorie expenditure, heart rate, or step counts to quantify the effectiveness of different workouts.</a:t>
            </a:r>
          </a:p>
          <a:p>
            <a:pPr algn="l" marL="482867" indent="-241433" lvl="1">
              <a:lnSpc>
                <a:spcPts val="2907"/>
              </a:lnSpc>
              <a:spcBef>
                <a:spcPct val="0"/>
              </a:spcBef>
              <a:buFont typeface="Arial"/>
              <a:buChar char="•"/>
            </a:pPr>
            <a:r>
              <a:rPr lang="en-US" sz="2236">
                <a:solidFill>
                  <a:srgbClr val="000000"/>
                </a:solidFill>
                <a:latin typeface="Open Sans 1"/>
                <a:ea typeface="Open Sans 1"/>
                <a:cs typeface="Open Sans 1"/>
                <a:sym typeface="Open Sans 1"/>
              </a:rPr>
              <a:t>Compare physical activity metrics between indoor and outdoor settings.</a:t>
            </a:r>
          </a:p>
          <a:p>
            <a:pPr algn="l">
              <a:lnSpc>
                <a:spcPts val="3539"/>
              </a:lnSpc>
              <a:spcBef>
                <a:spcPct val="0"/>
              </a:spcBef>
            </a:pPr>
            <a:r>
              <a:rPr lang="en-US" b="true" sz="2722">
                <a:solidFill>
                  <a:srgbClr val="000000"/>
                </a:solidFill>
                <a:latin typeface="Open Sans 1 Bold"/>
                <a:ea typeface="Open Sans 1 Bold"/>
                <a:cs typeface="Open Sans 1 Bold"/>
                <a:sym typeface="Open Sans 1 Bold"/>
              </a:rPr>
              <a:t>2.Weather Intensity Impact:</a:t>
            </a:r>
          </a:p>
          <a:p>
            <a:pPr algn="l" marL="482867" indent="-241433" lvl="1">
              <a:lnSpc>
                <a:spcPts val="2907"/>
              </a:lnSpc>
              <a:spcBef>
                <a:spcPct val="0"/>
              </a:spcBef>
              <a:buFont typeface="Arial"/>
              <a:buChar char="•"/>
            </a:pPr>
            <a:r>
              <a:rPr lang="en-US" sz="2236">
                <a:solidFill>
                  <a:srgbClr val="000000"/>
                </a:solidFill>
                <a:latin typeface="Open Sans 1"/>
                <a:ea typeface="Open Sans 1"/>
                <a:cs typeface="Open Sans 1"/>
                <a:sym typeface="Open Sans 1"/>
              </a:rPr>
              <a:t>Investigate how varying intensities of weather (e.g., heavy rain vs. light rain) affect workout preferences.</a:t>
            </a:r>
          </a:p>
          <a:p>
            <a:pPr algn="l" marL="482867" indent="-241433" lvl="1">
              <a:lnSpc>
                <a:spcPts val="2907"/>
              </a:lnSpc>
              <a:spcBef>
                <a:spcPct val="0"/>
              </a:spcBef>
              <a:buFont typeface="Arial"/>
              <a:buChar char="•"/>
            </a:pPr>
            <a:r>
              <a:rPr lang="en-US" sz="2236">
                <a:solidFill>
                  <a:srgbClr val="000000"/>
                </a:solidFill>
                <a:latin typeface="Open Sans 1"/>
                <a:ea typeface="Open Sans 1"/>
                <a:cs typeface="Open Sans 1"/>
                <a:sym typeface="Open Sans 1"/>
              </a:rPr>
              <a:t>Assess whether extreme weather leads to a complete drop in physical activity levels.</a:t>
            </a:r>
          </a:p>
          <a:p>
            <a:pPr algn="l">
              <a:lnSpc>
                <a:spcPts val="3539"/>
              </a:lnSpc>
              <a:spcBef>
                <a:spcPct val="0"/>
              </a:spcBef>
            </a:pPr>
            <a:r>
              <a:rPr lang="en-US" b="true" sz="2722">
                <a:solidFill>
                  <a:srgbClr val="000000"/>
                </a:solidFill>
                <a:latin typeface="Open Sans 1 Bold"/>
                <a:ea typeface="Open Sans 1 Bold"/>
                <a:cs typeface="Open Sans 1 Bold"/>
                <a:sym typeface="Open Sans 1 Bold"/>
              </a:rPr>
              <a:t>3.Longitudinal Mood Analysis:</a:t>
            </a:r>
          </a:p>
          <a:p>
            <a:pPr algn="l" marL="482867" indent="-241433" lvl="1">
              <a:lnSpc>
                <a:spcPts val="2907"/>
              </a:lnSpc>
              <a:spcBef>
                <a:spcPct val="0"/>
              </a:spcBef>
              <a:buFont typeface="Arial"/>
              <a:buChar char="•"/>
            </a:pPr>
            <a:r>
              <a:rPr lang="en-US" sz="2236">
                <a:solidFill>
                  <a:srgbClr val="000000"/>
                </a:solidFill>
                <a:latin typeface="Open Sans 1"/>
                <a:ea typeface="Open Sans 1"/>
                <a:cs typeface="Open Sans 1"/>
                <a:sym typeface="Open Sans 1"/>
              </a:rPr>
              <a:t>Track mood changes before and after workouts under different weather conditions.</a:t>
            </a:r>
          </a:p>
          <a:p>
            <a:pPr algn="l" marL="482867" indent="-241433" lvl="1">
              <a:lnSpc>
                <a:spcPts val="2907"/>
              </a:lnSpc>
              <a:spcBef>
                <a:spcPct val="0"/>
              </a:spcBef>
              <a:buFont typeface="Arial"/>
              <a:buChar char="•"/>
            </a:pPr>
            <a:r>
              <a:rPr lang="en-US" sz="2236">
                <a:solidFill>
                  <a:srgbClr val="000000"/>
                </a:solidFill>
                <a:latin typeface="Open Sans 1"/>
                <a:ea typeface="Open Sans 1"/>
                <a:cs typeface="Open Sans 1"/>
                <a:sym typeface="Open Sans 1"/>
              </a:rPr>
              <a:t>Determine if sunny or outdoor activities contribute more to mood enhancement compared to indoor activities.</a:t>
            </a:r>
          </a:p>
          <a:p>
            <a:pPr algn="l">
              <a:lnSpc>
                <a:spcPts val="2907"/>
              </a:lnSpc>
              <a:spcBef>
                <a:spcPct val="0"/>
              </a:spcBef>
            </a:pPr>
          </a:p>
        </p:txBody>
      </p:sp>
      <p:sp>
        <p:nvSpPr>
          <p:cNvPr name="Freeform 7" id="7"/>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alphaModFix amt="50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9">
              <a:alphaModFix amt="50000"/>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1" id="11"/>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2" id="12"/>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alphaModFix amt="50000"/>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3" id="13"/>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alphaModFix amt="50000"/>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4" id="14"/>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alphaModFix amt="50000"/>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5" id="15"/>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alphaModFix amt="50000"/>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6" id="16"/>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alphaModFix amt="50000"/>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7" id="17"/>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alphaModFix amt="50000"/>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8" id="18"/>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alphaModFix amt="50000"/>
              <a:extLst>
                <a:ext uri="{96DAC541-7B7A-43D3-8B79-37D633B846F1}">
                  <asvg:svgBlip xmlns:asvg="http://schemas.microsoft.com/office/drawing/2016/SVG/main" r:embed="rId26"/>
                </a:ext>
              </a:extLst>
            </a:blip>
            <a:stretch>
              <a:fillRect l="0" t="0" r="0" b="0"/>
            </a:stretch>
          </a:blipFill>
          <a:ln cap="sq">
            <a:noFill/>
            <a:prstDash val="solid"/>
            <a:miter/>
          </a:ln>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1028700" y="2212121"/>
            <a:ext cx="16352121" cy="5713953"/>
          </a:xfrm>
          <a:prstGeom prst="rect">
            <a:avLst/>
          </a:prstGeom>
        </p:spPr>
        <p:txBody>
          <a:bodyPr anchor="t" rtlCol="false" tIns="0" lIns="0" bIns="0" rIns="0">
            <a:spAutoFit/>
          </a:bodyPr>
          <a:lstStyle/>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Objective: </a:t>
            </a:r>
            <a:r>
              <a:rPr lang="en-US" sz="2332">
                <a:solidFill>
                  <a:srgbClr val="000000"/>
                </a:solidFill>
                <a:latin typeface="Open Sans 1"/>
                <a:ea typeface="Open Sans 1"/>
                <a:cs typeface="Open Sans 1"/>
                <a:sym typeface="Open Sans 1"/>
              </a:rPr>
              <a:t>Study how weather influences workout choices and locations, and its subsequent impact on mood and physical activity metrics.</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Data: </a:t>
            </a:r>
            <a:r>
              <a:rPr lang="en-US" sz="2332">
                <a:solidFill>
                  <a:srgbClr val="000000"/>
                </a:solidFill>
                <a:latin typeface="Open Sans 1"/>
                <a:ea typeface="Open Sans 1"/>
                <a:cs typeface="Open Sans 1"/>
                <a:sym typeface="Open Sans 1"/>
              </a:rPr>
              <a:t>Collect data on weather conditions (e.g., temperature, humidity, rain), workout types, workout locations (indoor vs. outdoor), mood scores, and physical activity metrics (steps, active minutes, calorie burn).</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Preparation: </a:t>
            </a:r>
            <a:r>
              <a:rPr lang="en-US" sz="2332">
                <a:solidFill>
                  <a:srgbClr val="000000"/>
                </a:solidFill>
                <a:latin typeface="Open Sans 1"/>
                <a:ea typeface="Open Sans 1"/>
                <a:cs typeface="Open Sans 1"/>
                <a:sym typeface="Open Sans 1"/>
              </a:rPr>
              <a:t>Categorize weather conditions (e.g., sunny, rainy, cold, hot), group workout locations (indoor, outdoor), and normalize mood and activity data to account for external factors.</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Visualization: </a:t>
            </a:r>
            <a:r>
              <a:rPr lang="en-US" sz="2332">
                <a:solidFill>
                  <a:srgbClr val="000000"/>
                </a:solidFill>
                <a:latin typeface="Open Sans 1"/>
                <a:ea typeface="Open Sans 1"/>
                <a:cs typeface="Open Sans 1"/>
                <a:sym typeface="Open Sans 1"/>
              </a:rPr>
              <a:t>Use bar charts for workout choices by weather type, scatter plots for mood vs. activity levels by location, and heatmaps to show correlations between weather, workout type, and mood.</a:t>
            </a:r>
          </a:p>
          <a:p>
            <a:pPr algn="l">
              <a:lnSpc>
                <a:spcPts val="3032"/>
              </a:lnSpc>
            </a:pPr>
          </a:p>
          <a:p>
            <a:pPr algn="l" marL="503575" indent="-251788" lvl="1">
              <a:lnSpc>
                <a:spcPts val="3032"/>
              </a:lnSpc>
              <a:buFont typeface="Arial"/>
              <a:buChar char="•"/>
            </a:pPr>
            <a:r>
              <a:rPr lang="en-US" b="true" sz="2332">
                <a:solidFill>
                  <a:srgbClr val="000000"/>
                </a:solidFill>
                <a:latin typeface="Open Sans 1 Bold"/>
                <a:ea typeface="Open Sans 1 Bold"/>
                <a:cs typeface="Open Sans 1 Bold"/>
                <a:sym typeface="Open Sans 1 Bold"/>
              </a:rPr>
              <a:t>Insights: </a:t>
            </a:r>
            <a:r>
              <a:rPr lang="en-US" sz="2332">
                <a:solidFill>
                  <a:srgbClr val="000000"/>
                </a:solidFill>
                <a:latin typeface="Open Sans 1"/>
                <a:ea typeface="Open Sans 1"/>
                <a:cs typeface="Open Sans 1"/>
                <a:sym typeface="Open Sans 1"/>
              </a:rPr>
              <a:t>Identify weather patterns that encourage outdoor vs. indoor workouts, highlight the mood-boosting effects of outdoor activity, and analyze how different weather conditions affect physical activity and mood outcomes.</a:t>
            </a:r>
          </a:p>
        </p:txBody>
      </p:sp>
      <p:sp>
        <p:nvSpPr>
          <p:cNvPr name="Freeform 4" id="4"/>
          <p:cNvSpPr/>
          <p:nvPr/>
        </p:nvSpPr>
        <p:spPr>
          <a:xfrm flipH="false" flipV="false" rot="0">
            <a:off x="10580211" y="243756"/>
            <a:ext cx="1061836" cy="1087541"/>
          </a:xfrm>
          <a:custGeom>
            <a:avLst/>
            <a:gdLst/>
            <a:ahLst/>
            <a:cxnLst/>
            <a:rect r="r" b="b" t="t" l="l"/>
            <a:pathLst>
              <a:path h="1087541" w="1061836">
                <a:moveTo>
                  <a:pt x="0" y="0"/>
                </a:moveTo>
                <a:lnTo>
                  <a:pt x="1061836" y="0"/>
                </a:lnTo>
                <a:lnTo>
                  <a:pt x="1061836" y="1087541"/>
                </a:lnTo>
                <a:lnTo>
                  <a:pt x="0" y="10875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707789" y="441577"/>
            <a:ext cx="2872422" cy="587123"/>
          </a:xfrm>
          <a:prstGeom prst="rect">
            <a:avLst/>
          </a:prstGeom>
        </p:spPr>
        <p:txBody>
          <a:bodyPr anchor="t" rtlCol="false" tIns="0" lIns="0" bIns="0" rIns="0">
            <a:spAutoFit/>
          </a:bodyPr>
          <a:lstStyle/>
          <a:p>
            <a:pPr algn="ctr">
              <a:lnSpc>
                <a:spcPts val="4991"/>
              </a:lnSpc>
              <a:spcBef>
                <a:spcPct val="0"/>
              </a:spcBef>
            </a:pPr>
            <a:r>
              <a:rPr lang="en-US" sz="3199">
                <a:solidFill>
                  <a:srgbClr val="000000"/>
                </a:solidFill>
                <a:latin typeface="Open Sans Extra Bold"/>
                <a:ea typeface="Open Sans Extra Bold"/>
                <a:cs typeface="Open Sans Extra Bold"/>
                <a:sym typeface="Open Sans Extra Bold"/>
              </a:rPr>
              <a:t>Methodology </a:t>
            </a:r>
          </a:p>
        </p:txBody>
      </p:sp>
      <p:sp>
        <p:nvSpPr>
          <p:cNvPr name="Freeform 6" id="6"/>
          <p:cNvSpPr/>
          <p:nvPr/>
        </p:nvSpPr>
        <p:spPr>
          <a:xfrm flipH="false" flipV="false" rot="0">
            <a:off x="15401670" y="8082002"/>
            <a:ext cx="1857630" cy="2057400"/>
          </a:xfrm>
          <a:custGeom>
            <a:avLst/>
            <a:gdLst/>
            <a:ahLst/>
            <a:cxnLst/>
            <a:rect r="r" b="b" t="t" l="l"/>
            <a:pathLst>
              <a:path h="2057400" w="1857630">
                <a:moveTo>
                  <a:pt x="0" y="0"/>
                </a:moveTo>
                <a:lnTo>
                  <a:pt x="1857630" y="0"/>
                </a:lnTo>
                <a:lnTo>
                  <a:pt x="1857630"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814020" y="7775991"/>
            <a:ext cx="5272998" cy="575236"/>
          </a:xfrm>
          <a:custGeom>
            <a:avLst/>
            <a:gdLst/>
            <a:ahLst/>
            <a:cxnLst/>
            <a:rect r="r" b="b" t="t" l="l"/>
            <a:pathLst>
              <a:path h="575236" w="5272998">
                <a:moveTo>
                  <a:pt x="0" y="0"/>
                </a:moveTo>
                <a:lnTo>
                  <a:pt x="5272999" y="0"/>
                </a:lnTo>
                <a:lnTo>
                  <a:pt x="5272999" y="575237"/>
                </a:lnTo>
                <a:lnTo>
                  <a:pt x="0" y="57523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804712" y="7895980"/>
            <a:ext cx="4941547" cy="539078"/>
          </a:xfrm>
          <a:custGeom>
            <a:avLst/>
            <a:gdLst/>
            <a:ahLst/>
            <a:cxnLst/>
            <a:rect r="r" b="b" t="t" l="l"/>
            <a:pathLst>
              <a:path h="539078" w="4941547">
                <a:moveTo>
                  <a:pt x="0" y="0"/>
                </a:moveTo>
                <a:lnTo>
                  <a:pt x="4941547" y="0"/>
                </a:lnTo>
                <a:lnTo>
                  <a:pt x="4941547" y="539077"/>
                </a:lnTo>
                <a:lnTo>
                  <a:pt x="0" y="5390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0" id="10"/>
          <p:cNvGrpSpPr/>
          <p:nvPr/>
        </p:nvGrpSpPr>
        <p:grpSpPr>
          <a:xfrm rot="0">
            <a:off x="1028700" y="6592738"/>
            <a:ext cx="4375383" cy="545910"/>
            <a:chOff x="0" y="0"/>
            <a:chExt cx="5833844" cy="727881"/>
          </a:xfrm>
        </p:grpSpPr>
        <p:sp>
          <p:nvSpPr>
            <p:cNvPr name="Freeform 11" id="11"/>
            <p:cNvSpPr/>
            <p:nvPr/>
          </p:nvSpPr>
          <p:spPr>
            <a:xfrm flipH="false" flipV="false" rot="0">
              <a:off x="10280" y="0"/>
              <a:ext cx="5823564" cy="635298"/>
            </a:xfrm>
            <a:custGeom>
              <a:avLst/>
              <a:gdLst/>
              <a:ahLst/>
              <a:cxnLst/>
              <a:rect r="r" b="b" t="t" l="l"/>
              <a:pathLst>
                <a:path h="635298" w="5823564">
                  <a:moveTo>
                    <a:pt x="0" y="0"/>
                  </a:moveTo>
                  <a:lnTo>
                    <a:pt x="5823564" y="0"/>
                  </a:lnTo>
                  <a:lnTo>
                    <a:pt x="5823564" y="635298"/>
                  </a:lnTo>
                  <a:lnTo>
                    <a:pt x="0" y="6352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0" y="132516"/>
              <a:ext cx="5457504" cy="595364"/>
            </a:xfrm>
            <a:custGeom>
              <a:avLst/>
              <a:gdLst/>
              <a:ahLst/>
              <a:cxnLst/>
              <a:rect r="r" b="b" t="t" l="l"/>
              <a:pathLst>
                <a:path h="595364" w="5457504">
                  <a:moveTo>
                    <a:pt x="0" y="0"/>
                  </a:moveTo>
                  <a:lnTo>
                    <a:pt x="5457504" y="0"/>
                  </a:lnTo>
                  <a:lnTo>
                    <a:pt x="5457504" y="595365"/>
                  </a:lnTo>
                  <a:lnTo>
                    <a:pt x="0" y="5953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3" id="13"/>
          <p:cNvGrpSpPr/>
          <p:nvPr/>
        </p:nvGrpSpPr>
        <p:grpSpPr>
          <a:xfrm rot="0">
            <a:off x="804712" y="7179899"/>
            <a:ext cx="4375383" cy="545910"/>
            <a:chOff x="0" y="0"/>
            <a:chExt cx="5833844" cy="727881"/>
          </a:xfrm>
        </p:grpSpPr>
        <p:sp>
          <p:nvSpPr>
            <p:cNvPr name="Freeform 14" id="14"/>
            <p:cNvSpPr/>
            <p:nvPr/>
          </p:nvSpPr>
          <p:spPr>
            <a:xfrm flipH="false" flipV="false" rot="0">
              <a:off x="10280" y="0"/>
              <a:ext cx="5823564" cy="635298"/>
            </a:xfrm>
            <a:custGeom>
              <a:avLst/>
              <a:gdLst/>
              <a:ahLst/>
              <a:cxnLst/>
              <a:rect r="r" b="b" t="t" l="l"/>
              <a:pathLst>
                <a:path h="635298" w="5823564">
                  <a:moveTo>
                    <a:pt x="0" y="0"/>
                  </a:moveTo>
                  <a:lnTo>
                    <a:pt x="5823564" y="0"/>
                  </a:lnTo>
                  <a:lnTo>
                    <a:pt x="5823564" y="635298"/>
                  </a:lnTo>
                  <a:lnTo>
                    <a:pt x="0" y="6352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0" y="132516"/>
              <a:ext cx="5457504" cy="595364"/>
            </a:xfrm>
            <a:custGeom>
              <a:avLst/>
              <a:gdLst/>
              <a:ahLst/>
              <a:cxnLst/>
              <a:rect r="r" b="b" t="t" l="l"/>
              <a:pathLst>
                <a:path h="595364" w="5457504">
                  <a:moveTo>
                    <a:pt x="0" y="0"/>
                  </a:moveTo>
                  <a:lnTo>
                    <a:pt x="5457504" y="0"/>
                  </a:lnTo>
                  <a:lnTo>
                    <a:pt x="5457504" y="595365"/>
                  </a:lnTo>
                  <a:lnTo>
                    <a:pt x="0" y="5953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6" id="16"/>
          <p:cNvGrpSpPr/>
          <p:nvPr/>
        </p:nvGrpSpPr>
        <p:grpSpPr>
          <a:xfrm rot="0">
            <a:off x="13991873" y="4173253"/>
            <a:ext cx="4195158" cy="4149219"/>
            <a:chOff x="0" y="0"/>
            <a:chExt cx="1104898" cy="1092799"/>
          </a:xfrm>
        </p:grpSpPr>
        <p:sp>
          <p:nvSpPr>
            <p:cNvPr name="Freeform 17" id="17"/>
            <p:cNvSpPr/>
            <p:nvPr/>
          </p:nvSpPr>
          <p:spPr>
            <a:xfrm flipH="false" flipV="false" rot="0">
              <a:off x="0" y="0"/>
              <a:ext cx="1104898" cy="1092799"/>
            </a:xfrm>
            <a:custGeom>
              <a:avLst/>
              <a:gdLst/>
              <a:ahLst/>
              <a:cxnLst/>
              <a:rect r="r" b="b" t="t" l="l"/>
              <a:pathLst>
                <a:path h="1092799" w="1104898">
                  <a:moveTo>
                    <a:pt x="94118" y="0"/>
                  </a:moveTo>
                  <a:lnTo>
                    <a:pt x="1010780" y="0"/>
                  </a:lnTo>
                  <a:cubicBezTo>
                    <a:pt x="1035742" y="0"/>
                    <a:pt x="1059681" y="9916"/>
                    <a:pt x="1077331" y="27566"/>
                  </a:cubicBezTo>
                  <a:cubicBezTo>
                    <a:pt x="1094982" y="45217"/>
                    <a:pt x="1104898" y="69156"/>
                    <a:pt x="1104898" y="94118"/>
                  </a:cubicBezTo>
                  <a:lnTo>
                    <a:pt x="1104898" y="998681"/>
                  </a:lnTo>
                  <a:cubicBezTo>
                    <a:pt x="1104898" y="1050661"/>
                    <a:pt x="1062760" y="1092799"/>
                    <a:pt x="1010780" y="1092799"/>
                  </a:cubicBezTo>
                  <a:lnTo>
                    <a:pt x="94118" y="1092799"/>
                  </a:lnTo>
                  <a:cubicBezTo>
                    <a:pt x="42138" y="1092799"/>
                    <a:pt x="0" y="1050661"/>
                    <a:pt x="0" y="998681"/>
                  </a:cubicBezTo>
                  <a:lnTo>
                    <a:pt x="0" y="94118"/>
                  </a:lnTo>
                  <a:cubicBezTo>
                    <a:pt x="0" y="42138"/>
                    <a:pt x="42138" y="0"/>
                    <a:pt x="94118" y="0"/>
                  </a:cubicBezTo>
                  <a:close/>
                </a:path>
              </a:pathLst>
            </a:custGeom>
            <a:solidFill>
              <a:srgbClr val="F4F4E3"/>
            </a:solidFill>
          </p:spPr>
        </p:sp>
        <p:sp>
          <p:nvSpPr>
            <p:cNvPr name="TextBox 18" id="18"/>
            <p:cNvSpPr txBox="true"/>
            <p:nvPr/>
          </p:nvSpPr>
          <p:spPr>
            <a:xfrm>
              <a:off x="0" y="-38100"/>
              <a:ext cx="1104898" cy="1130899"/>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4166015" y="4173253"/>
            <a:ext cx="3846874" cy="3925382"/>
          </a:xfrm>
          <a:custGeom>
            <a:avLst/>
            <a:gdLst/>
            <a:ahLst/>
            <a:cxnLst/>
            <a:rect r="r" b="b" t="t" l="l"/>
            <a:pathLst>
              <a:path h="3925382" w="3846874">
                <a:moveTo>
                  <a:pt x="0" y="0"/>
                </a:moveTo>
                <a:lnTo>
                  <a:pt x="3846874" y="0"/>
                </a:lnTo>
                <a:lnTo>
                  <a:pt x="3846874" y="3925382"/>
                </a:lnTo>
                <a:lnTo>
                  <a:pt x="0" y="39253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0" id="20"/>
          <p:cNvSpPr/>
          <p:nvPr/>
        </p:nvSpPr>
        <p:spPr>
          <a:xfrm flipH="false" flipV="false" rot="0">
            <a:off x="8460212" y="4992770"/>
            <a:ext cx="3959251" cy="791850"/>
          </a:xfrm>
          <a:custGeom>
            <a:avLst/>
            <a:gdLst/>
            <a:ahLst/>
            <a:cxnLst/>
            <a:rect r="r" b="b" t="t" l="l"/>
            <a:pathLst>
              <a:path h="791850" w="3959251">
                <a:moveTo>
                  <a:pt x="0" y="0"/>
                </a:moveTo>
                <a:lnTo>
                  <a:pt x="3959251" y="0"/>
                </a:lnTo>
                <a:lnTo>
                  <a:pt x="3959251" y="791850"/>
                </a:lnTo>
                <a:lnTo>
                  <a:pt x="0" y="79185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1" id="21"/>
          <p:cNvSpPr/>
          <p:nvPr/>
        </p:nvSpPr>
        <p:spPr>
          <a:xfrm flipH="false" flipV="false" rot="0">
            <a:off x="8888171" y="6492374"/>
            <a:ext cx="3231370" cy="646274"/>
          </a:xfrm>
          <a:custGeom>
            <a:avLst/>
            <a:gdLst/>
            <a:ahLst/>
            <a:cxnLst/>
            <a:rect r="r" b="b" t="t" l="l"/>
            <a:pathLst>
              <a:path h="646274" w="3231370">
                <a:moveTo>
                  <a:pt x="0" y="0"/>
                </a:moveTo>
                <a:lnTo>
                  <a:pt x="3231370" y="0"/>
                </a:lnTo>
                <a:lnTo>
                  <a:pt x="3231370" y="646274"/>
                </a:lnTo>
                <a:lnTo>
                  <a:pt x="0" y="64627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2" id="22"/>
          <p:cNvSpPr/>
          <p:nvPr/>
        </p:nvSpPr>
        <p:spPr>
          <a:xfrm flipH="false" flipV="false" rot="0">
            <a:off x="8869066" y="7129717"/>
            <a:ext cx="3231370" cy="646274"/>
          </a:xfrm>
          <a:custGeom>
            <a:avLst/>
            <a:gdLst/>
            <a:ahLst/>
            <a:cxnLst/>
            <a:rect r="r" b="b" t="t" l="l"/>
            <a:pathLst>
              <a:path h="646274" w="3231370">
                <a:moveTo>
                  <a:pt x="0" y="0"/>
                </a:moveTo>
                <a:lnTo>
                  <a:pt x="3231370" y="0"/>
                </a:lnTo>
                <a:lnTo>
                  <a:pt x="3231370" y="646274"/>
                </a:lnTo>
                <a:lnTo>
                  <a:pt x="0" y="64627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3" id="23"/>
          <p:cNvSpPr/>
          <p:nvPr/>
        </p:nvSpPr>
        <p:spPr>
          <a:xfrm flipH="false" flipV="false" rot="0">
            <a:off x="8687675" y="7661463"/>
            <a:ext cx="3231370" cy="646274"/>
          </a:xfrm>
          <a:custGeom>
            <a:avLst/>
            <a:gdLst/>
            <a:ahLst/>
            <a:cxnLst/>
            <a:rect r="r" b="b" t="t" l="l"/>
            <a:pathLst>
              <a:path h="646274" w="3231370">
                <a:moveTo>
                  <a:pt x="0" y="0"/>
                </a:moveTo>
                <a:lnTo>
                  <a:pt x="3231370" y="0"/>
                </a:lnTo>
                <a:lnTo>
                  <a:pt x="3231370" y="646274"/>
                </a:lnTo>
                <a:lnTo>
                  <a:pt x="0" y="64627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4" id="24"/>
          <p:cNvSpPr/>
          <p:nvPr/>
        </p:nvSpPr>
        <p:spPr>
          <a:xfrm flipH="false" flipV="false" rot="0">
            <a:off x="390657" y="3342160"/>
            <a:ext cx="10791478" cy="1177252"/>
          </a:xfrm>
          <a:custGeom>
            <a:avLst/>
            <a:gdLst/>
            <a:ahLst/>
            <a:cxnLst/>
            <a:rect r="r" b="b" t="t" l="l"/>
            <a:pathLst>
              <a:path h="1177252" w="10791478">
                <a:moveTo>
                  <a:pt x="0" y="0"/>
                </a:moveTo>
                <a:lnTo>
                  <a:pt x="10791478" y="0"/>
                </a:lnTo>
                <a:lnTo>
                  <a:pt x="10791478" y="1177252"/>
                </a:lnTo>
                <a:lnTo>
                  <a:pt x="0" y="11772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false" flipV="false" rot="0">
            <a:off x="3216391" y="1240638"/>
            <a:ext cx="12099522" cy="1319948"/>
          </a:xfrm>
          <a:custGeom>
            <a:avLst/>
            <a:gdLst/>
            <a:ahLst/>
            <a:cxnLst/>
            <a:rect r="r" b="b" t="t" l="l"/>
            <a:pathLst>
              <a:path h="1319948" w="12099522">
                <a:moveTo>
                  <a:pt x="0" y="0"/>
                </a:moveTo>
                <a:lnTo>
                  <a:pt x="12099523" y="0"/>
                </a:lnTo>
                <a:lnTo>
                  <a:pt x="12099523" y="1319948"/>
                </a:lnTo>
                <a:lnTo>
                  <a:pt x="0" y="13199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0">
            <a:off x="3903182" y="5115740"/>
            <a:ext cx="4367673" cy="476473"/>
          </a:xfrm>
          <a:custGeom>
            <a:avLst/>
            <a:gdLst/>
            <a:ahLst/>
            <a:cxnLst/>
            <a:rect r="r" b="b" t="t" l="l"/>
            <a:pathLst>
              <a:path h="476473" w="4367673">
                <a:moveTo>
                  <a:pt x="0" y="0"/>
                </a:moveTo>
                <a:lnTo>
                  <a:pt x="4367673" y="0"/>
                </a:lnTo>
                <a:lnTo>
                  <a:pt x="4367673" y="476473"/>
                </a:lnTo>
                <a:lnTo>
                  <a:pt x="0" y="47647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3895472" y="5215127"/>
            <a:ext cx="4093128" cy="446523"/>
          </a:xfrm>
          <a:custGeom>
            <a:avLst/>
            <a:gdLst/>
            <a:ahLst/>
            <a:cxnLst/>
            <a:rect r="r" b="b" t="t" l="l"/>
            <a:pathLst>
              <a:path h="446523" w="4093128">
                <a:moveTo>
                  <a:pt x="0" y="0"/>
                </a:moveTo>
                <a:lnTo>
                  <a:pt x="4093129" y="0"/>
                </a:lnTo>
                <a:lnTo>
                  <a:pt x="4093129" y="446523"/>
                </a:lnTo>
                <a:lnTo>
                  <a:pt x="0" y="44652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8" id="28"/>
          <p:cNvSpPr txBox="true"/>
          <p:nvPr/>
        </p:nvSpPr>
        <p:spPr>
          <a:xfrm rot="0">
            <a:off x="1028700" y="5211845"/>
            <a:ext cx="11772900" cy="916297"/>
          </a:xfrm>
          <a:prstGeom prst="rect">
            <a:avLst/>
          </a:prstGeom>
        </p:spPr>
        <p:txBody>
          <a:bodyPr anchor="t" rtlCol="false" tIns="0" lIns="0" bIns="0" rIns="0">
            <a:spAutoFit/>
          </a:bodyPr>
          <a:lstStyle/>
          <a:p>
            <a:pPr algn="l">
              <a:lnSpc>
                <a:spcPts val="3542"/>
              </a:lnSpc>
            </a:pPr>
            <a:r>
              <a:rPr lang="en-US" sz="3651" b="true">
                <a:solidFill>
                  <a:srgbClr val="000000"/>
                </a:solidFill>
                <a:latin typeface="Open Sans 1 Bold"/>
                <a:ea typeface="Open Sans 1 Bold"/>
                <a:cs typeface="Open Sans 1 Bold"/>
                <a:sym typeface="Open Sans 1 Bold"/>
              </a:rPr>
              <a:t>Team Leader :Prashant Ranjan</a:t>
            </a:r>
            <a:r>
              <a:rPr lang="en-US" sz="3651">
                <a:solidFill>
                  <a:srgbClr val="000000"/>
                </a:solidFill>
                <a:latin typeface="Open Sans 1"/>
                <a:ea typeface="Open Sans 1"/>
                <a:cs typeface="Open Sans 1"/>
                <a:sym typeface="Open Sans 1"/>
              </a:rPr>
              <a:t>             (24MC3035)</a:t>
            </a:r>
          </a:p>
          <a:p>
            <a:pPr algn="l">
              <a:lnSpc>
                <a:spcPts val="3542"/>
              </a:lnSpc>
            </a:pPr>
          </a:p>
        </p:txBody>
      </p:sp>
      <p:sp>
        <p:nvSpPr>
          <p:cNvPr name="TextBox 29" id="29"/>
          <p:cNvSpPr txBox="true"/>
          <p:nvPr/>
        </p:nvSpPr>
        <p:spPr>
          <a:xfrm rot="0">
            <a:off x="1101873" y="5933113"/>
            <a:ext cx="13064142" cy="2382496"/>
          </a:xfrm>
          <a:prstGeom prst="rect">
            <a:avLst/>
          </a:prstGeom>
        </p:spPr>
        <p:txBody>
          <a:bodyPr anchor="t" rtlCol="false" tIns="0" lIns="0" bIns="0" rIns="0">
            <a:spAutoFit/>
          </a:bodyPr>
          <a:lstStyle/>
          <a:p>
            <a:pPr algn="l">
              <a:lnSpc>
                <a:spcPts val="4747"/>
              </a:lnSpc>
            </a:pPr>
            <a:r>
              <a:rPr lang="en-US" sz="3651" b="true">
                <a:solidFill>
                  <a:srgbClr val="000000"/>
                </a:solidFill>
                <a:latin typeface="Open Sans 1 Bold"/>
                <a:ea typeface="Open Sans 1 Bold"/>
                <a:cs typeface="Open Sans 1 Bold"/>
                <a:sym typeface="Open Sans 1 Bold"/>
              </a:rPr>
              <a:t>Members : </a:t>
            </a:r>
            <a:r>
              <a:rPr lang="en-US" sz="3651">
                <a:solidFill>
                  <a:srgbClr val="000000"/>
                </a:solidFill>
                <a:latin typeface="Open Sans 1"/>
                <a:ea typeface="Open Sans 1"/>
                <a:cs typeface="Open Sans 1"/>
                <a:sym typeface="Open Sans 1"/>
              </a:rPr>
              <a:t> </a:t>
            </a:r>
          </a:p>
          <a:p>
            <a:pPr algn="l">
              <a:lnSpc>
                <a:spcPts val="4747"/>
              </a:lnSpc>
            </a:pPr>
            <a:r>
              <a:rPr lang="en-US" sz="3651" b="true">
                <a:solidFill>
                  <a:srgbClr val="000000"/>
                </a:solidFill>
                <a:latin typeface="Open Sans 1 Bold"/>
                <a:ea typeface="Open Sans 1 Bold"/>
                <a:cs typeface="Open Sans 1 Bold"/>
                <a:sym typeface="Open Sans 1 Bold"/>
              </a:rPr>
              <a:t>1. Jayant Raj Verma</a:t>
            </a:r>
            <a:r>
              <a:rPr lang="en-US" sz="3651">
                <a:solidFill>
                  <a:srgbClr val="000000"/>
                </a:solidFill>
                <a:latin typeface="Open Sans 1"/>
                <a:ea typeface="Open Sans 1"/>
                <a:cs typeface="Open Sans 1"/>
                <a:sym typeface="Open Sans 1"/>
              </a:rPr>
              <a:t>                                  (24MC3022)</a:t>
            </a:r>
          </a:p>
          <a:p>
            <a:pPr algn="l">
              <a:lnSpc>
                <a:spcPts val="4747"/>
              </a:lnSpc>
            </a:pPr>
            <a:r>
              <a:rPr lang="en-US" sz="3651" b="true">
                <a:solidFill>
                  <a:srgbClr val="000000"/>
                </a:solidFill>
                <a:latin typeface="Open Sans 1 Bold"/>
                <a:ea typeface="Open Sans 1 Bold"/>
                <a:cs typeface="Open Sans 1 Bold"/>
                <a:sym typeface="Open Sans 1 Bold"/>
              </a:rPr>
              <a:t>2. Saket Suman </a:t>
            </a:r>
            <a:r>
              <a:rPr lang="en-US" sz="3651">
                <a:solidFill>
                  <a:srgbClr val="000000"/>
                </a:solidFill>
                <a:latin typeface="Open Sans 1"/>
                <a:ea typeface="Open Sans 1"/>
                <a:cs typeface="Open Sans 1"/>
                <a:sym typeface="Open Sans 1"/>
              </a:rPr>
              <a:t>                                        (24EC3029)</a:t>
            </a:r>
          </a:p>
          <a:p>
            <a:pPr algn="l">
              <a:lnSpc>
                <a:spcPts val="4747"/>
              </a:lnSpc>
            </a:pPr>
            <a:r>
              <a:rPr lang="en-US" sz="3651" b="true">
                <a:solidFill>
                  <a:srgbClr val="000000"/>
                </a:solidFill>
                <a:latin typeface="Open Sans 1 Bold"/>
                <a:ea typeface="Open Sans 1 Bold"/>
                <a:cs typeface="Open Sans 1 Bold"/>
                <a:sym typeface="Open Sans 1 Bold"/>
              </a:rPr>
              <a:t>3. Baldev Singh Jadon</a:t>
            </a:r>
            <a:r>
              <a:rPr lang="en-US" sz="3651">
                <a:solidFill>
                  <a:srgbClr val="000000"/>
                </a:solidFill>
                <a:latin typeface="Open Sans 1"/>
                <a:ea typeface="Open Sans 1"/>
                <a:cs typeface="Open Sans 1"/>
                <a:sym typeface="Open Sans 1"/>
              </a:rPr>
              <a:t>                            (24MC3012)</a:t>
            </a:r>
          </a:p>
        </p:txBody>
      </p:sp>
      <p:sp>
        <p:nvSpPr>
          <p:cNvPr name="Freeform 30" id="30"/>
          <p:cNvSpPr/>
          <p:nvPr/>
        </p:nvSpPr>
        <p:spPr>
          <a:xfrm flipH="false" flipV="false" rot="0">
            <a:off x="371607" y="3587723"/>
            <a:ext cx="10113144" cy="1103252"/>
          </a:xfrm>
          <a:custGeom>
            <a:avLst/>
            <a:gdLst/>
            <a:ahLst/>
            <a:cxnLst/>
            <a:rect r="r" b="b" t="t" l="l"/>
            <a:pathLst>
              <a:path h="1103252" w="10113144">
                <a:moveTo>
                  <a:pt x="0" y="0"/>
                </a:moveTo>
                <a:lnTo>
                  <a:pt x="10113144" y="0"/>
                </a:lnTo>
                <a:lnTo>
                  <a:pt x="10113144" y="1103252"/>
                </a:lnTo>
                <a:lnTo>
                  <a:pt x="0" y="110325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1" id="31"/>
          <p:cNvSpPr txBox="true"/>
          <p:nvPr/>
        </p:nvSpPr>
        <p:spPr>
          <a:xfrm rot="0">
            <a:off x="1028700" y="3633721"/>
            <a:ext cx="9701127" cy="937144"/>
          </a:xfrm>
          <a:prstGeom prst="rect">
            <a:avLst/>
          </a:prstGeom>
        </p:spPr>
        <p:txBody>
          <a:bodyPr anchor="t" rtlCol="false" tIns="0" lIns="0" bIns="0" rIns="0">
            <a:spAutoFit/>
          </a:bodyPr>
          <a:lstStyle/>
          <a:p>
            <a:pPr algn="l">
              <a:lnSpc>
                <a:spcPts val="7081"/>
              </a:lnSpc>
            </a:pPr>
            <a:r>
              <a:rPr lang="en-US" sz="7300" b="true">
                <a:solidFill>
                  <a:srgbClr val="000000"/>
                </a:solidFill>
                <a:latin typeface="Open Sans 1 Bold"/>
                <a:ea typeface="Open Sans 1 Bold"/>
                <a:cs typeface="Open Sans 1 Bold"/>
                <a:sym typeface="Open Sans 1 Bold"/>
              </a:rPr>
              <a:t>Team DataMorphers </a:t>
            </a:r>
          </a:p>
        </p:txBody>
      </p:sp>
      <p:sp>
        <p:nvSpPr>
          <p:cNvPr name="Freeform 32" id="32"/>
          <p:cNvSpPr/>
          <p:nvPr/>
        </p:nvSpPr>
        <p:spPr>
          <a:xfrm flipH="false" flipV="false" rot="0">
            <a:off x="3216391" y="1517844"/>
            <a:ext cx="12099522" cy="1319948"/>
          </a:xfrm>
          <a:custGeom>
            <a:avLst/>
            <a:gdLst/>
            <a:ahLst/>
            <a:cxnLst/>
            <a:rect r="r" b="b" t="t" l="l"/>
            <a:pathLst>
              <a:path h="1319948" w="12099522">
                <a:moveTo>
                  <a:pt x="0" y="0"/>
                </a:moveTo>
                <a:lnTo>
                  <a:pt x="12099523" y="0"/>
                </a:lnTo>
                <a:lnTo>
                  <a:pt x="12099523" y="1319948"/>
                </a:lnTo>
                <a:lnTo>
                  <a:pt x="0" y="131994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4066783" y="1417535"/>
            <a:ext cx="10910396" cy="1754786"/>
          </a:xfrm>
          <a:prstGeom prst="rect">
            <a:avLst/>
          </a:prstGeom>
        </p:spPr>
        <p:txBody>
          <a:bodyPr anchor="t" rtlCol="false" tIns="0" lIns="0" bIns="0" rIns="0">
            <a:spAutoFit/>
          </a:bodyPr>
          <a:lstStyle/>
          <a:p>
            <a:pPr algn="ctr">
              <a:lnSpc>
                <a:spcPts val="12699"/>
              </a:lnSpc>
            </a:pPr>
            <a:r>
              <a:rPr lang="en-US" b="true" sz="14597">
                <a:solidFill>
                  <a:srgbClr val="000000"/>
                </a:solidFill>
                <a:latin typeface="Open Sans 1 Bold"/>
                <a:ea typeface="Open Sans 1 Bold"/>
                <a:cs typeface="Open Sans 1 Bold"/>
                <a:sym typeface="Open Sans 1 Bold"/>
              </a:rPr>
              <a:t>Thank you!</a:t>
            </a:r>
          </a:p>
        </p:txBody>
      </p:sp>
      <p:grpSp>
        <p:nvGrpSpPr>
          <p:cNvPr name="Group 34" id="34"/>
          <p:cNvGrpSpPr/>
          <p:nvPr/>
        </p:nvGrpSpPr>
        <p:grpSpPr>
          <a:xfrm rot="0">
            <a:off x="957112" y="8692536"/>
            <a:ext cx="3205072" cy="1672465"/>
            <a:chOff x="0" y="0"/>
            <a:chExt cx="4273429" cy="2229953"/>
          </a:xfrm>
        </p:grpSpPr>
        <p:sp>
          <p:nvSpPr>
            <p:cNvPr name="Freeform 35" id="35"/>
            <p:cNvSpPr/>
            <p:nvPr/>
          </p:nvSpPr>
          <p:spPr>
            <a:xfrm flipH="false" flipV="false" rot="0">
              <a:off x="0" y="0"/>
              <a:ext cx="4273429" cy="2229953"/>
            </a:xfrm>
            <a:custGeom>
              <a:avLst/>
              <a:gdLst/>
              <a:ahLst/>
              <a:cxnLst/>
              <a:rect r="r" b="b" t="t" l="l"/>
              <a:pathLst>
                <a:path h="2229953" w="4273429">
                  <a:moveTo>
                    <a:pt x="0" y="0"/>
                  </a:moveTo>
                  <a:lnTo>
                    <a:pt x="4273429" y="0"/>
                  </a:lnTo>
                  <a:lnTo>
                    <a:pt x="4273429" y="2229953"/>
                  </a:lnTo>
                  <a:lnTo>
                    <a:pt x="0" y="222995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6" id="36"/>
            <p:cNvSpPr/>
            <p:nvPr/>
          </p:nvSpPr>
          <p:spPr>
            <a:xfrm flipH="false" flipV="false" rot="0">
              <a:off x="99653" y="0"/>
              <a:ext cx="4074123" cy="2125951"/>
            </a:xfrm>
            <a:custGeom>
              <a:avLst/>
              <a:gdLst/>
              <a:ahLst/>
              <a:cxnLst/>
              <a:rect r="r" b="b" t="t" l="l"/>
              <a:pathLst>
                <a:path h="2125951" w="4074123">
                  <a:moveTo>
                    <a:pt x="0" y="0"/>
                  </a:moveTo>
                  <a:lnTo>
                    <a:pt x="4074123" y="0"/>
                  </a:lnTo>
                  <a:lnTo>
                    <a:pt x="4074123" y="2125951"/>
                  </a:lnTo>
                  <a:lnTo>
                    <a:pt x="0" y="212595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DAGbJhTy-oc</dc:identifier>
  <dcterms:modified xsi:type="dcterms:W3CDTF">2011-08-01T06:04:30Z</dcterms:modified>
  <cp:revision>1</cp:revision>
  <dc:title>Project presentation</dc:title>
</cp:coreProperties>
</file>