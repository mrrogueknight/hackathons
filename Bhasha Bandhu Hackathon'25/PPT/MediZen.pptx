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147483596" r:id="rId3"/>
    <p:sldId id="2147483597" r:id="rId4"/>
    <p:sldId id="2147483598" r:id="rId5"/>
    <p:sldId id="2147483599" r:id="rId6"/>
    <p:sldId id="2147483601" r:id="rId7"/>
    <p:sldId id="2147483600" r:id="rId8"/>
    <p:sldId id="268" r:id="rId9"/>
  </p:sldIdLst>
  <p:sldSz cx="12192000" cy="6858000"/>
  <p:notesSz cx="6858000" cy="9144000"/>
  <p:embeddedFontLst>
    <p:embeddedFont>
      <p:font typeface="Quattrocento Sans" panose="020B060402020202020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5">
          <p15:clr>
            <a:srgbClr val="A4A3A4"/>
          </p15:clr>
        </p15:guide>
        <p15:guide id="4" pos="347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orient="horz" pos="27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wP/3JhVPTBTh9jJKLJO5Hv/mW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58E"/>
    <a:srgbClr val="FE6E4C"/>
    <a:srgbClr val="0A38A8"/>
    <a:srgbClr val="CDEEFF"/>
    <a:srgbClr val="FFFFFF"/>
    <a:srgbClr val="EA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904EC8-8CF8-4656-B4F1-4E188C4A5F1F}">
  <a:tblStyle styleId="{B0904EC8-8CF8-4656-B4F1-4E188C4A5F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/>
    <p:restoredTop sz="94694"/>
  </p:normalViewPr>
  <p:slideViewPr>
    <p:cSldViewPr snapToGrid="0">
      <p:cViewPr varScale="1">
        <p:scale>
          <a:sx n="79" d="100"/>
          <a:sy n="79" d="100"/>
        </p:scale>
        <p:origin x="619" y="43"/>
      </p:cViewPr>
      <p:guideLst>
        <p:guide orient="horz" pos="2115"/>
        <p:guide pos="3840"/>
        <p:guide orient="horz" pos="255"/>
        <p:guide pos="347"/>
        <p:guide orient="horz" pos="504"/>
        <p:guide orient="horz" pos="2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13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72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6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99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682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100" dirty="0"/>
              <a:t>Idea Submissions Form – Details of the form</a:t>
            </a:r>
            <a:br>
              <a:rPr lang="en-US" sz="1100" dirty="0"/>
            </a:br>
            <a:r>
              <a:rPr lang="en-US" sz="1100" dirty="0"/>
              <a:t>Topic </a:t>
            </a:r>
          </a:p>
          <a:p>
            <a:r>
              <a:rPr lang="en-US" sz="1100" dirty="0"/>
              <a:t>Thesis Abstract</a:t>
            </a:r>
            <a:br>
              <a:rPr lang="en-US" sz="1100" dirty="0"/>
            </a:br>
            <a:r>
              <a:rPr lang="en-US" sz="1100" dirty="0"/>
              <a:t>Concept Note </a:t>
            </a:r>
            <a:br>
              <a:rPr lang="en-US" sz="1100" dirty="0"/>
            </a:br>
            <a:r>
              <a:rPr lang="en-US" sz="1100" dirty="0"/>
              <a:t>What is the solution Build? </a:t>
            </a:r>
            <a:br>
              <a:rPr lang="en-US" sz="1100" dirty="0"/>
            </a:br>
            <a:r>
              <a:rPr lang="en-US" sz="1100" dirty="0"/>
              <a:t>Business use case </a:t>
            </a:r>
            <a:br>
              <a:rPr lang="en-US" sz="1100" dirty="0"/>
            </a:br>
            <a:r>
              <a:rPr lang="en-US" sz="1100" dirty="0"/>
              <a:t>(Less than 100 – 200 words) </a:t>
            </a:r>
            <a:br>
              <a:rPr lang="en-US" sz="1100" dirty="0"/>
            </a:br>
            <a:r>
              <a:rPr lang="en-US" sz="1100" dirty="0"/>
              <a:t>Judge and filter becomes easy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DBD83A-EE30-1F4F-A529-D0224E4B48A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7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11176F-68C6-DAEE-D537-AEC84D4908DD}"/>
              </a:ext>
            </a:extLst>
          </p:cNvPr>
          <p:cNvSpPr/>
          <p:nvPr/>
        </p:nvSpPr>
        <p:spPr>
          <a:xfrm>
            <a:off x="0" y="1514653"/>
            <a:ext cx="5040667" cy="1156138"/>
          </a:xfrm>
          <a:prstGeom prst="rect">
            <a:avLst/>
          </a:prstGeom>
          <a:solidFill>
            <a:srgbClr val="2935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Google Shape;93;p1"/>
          <p:cNvSpPr/>
          <p:nvPr/>
        </p:nvSpPr>
        <p:spPr>
          <a:xfrm>
            <a:off x="0" y="80962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255B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ctrTitle"/>
          </p:nvPr>
        </p:nvSpPr>
        <p:spPr>
          <a:xfrm>
            <a:off x="0" y="1626426"/>
            <a:ext cx="5040667" cy="596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A38A8"/>
              </a:buClr>
              <a:buSzPts val="3200"/>
              <a:buFont typeface="Quattrocento Sans"/>
              <a:buNone/>
            </a:pP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Bhasha </a:t>
            </a:r>
            <a:r>
              <a:rPr lang="en-US" sz="2400" b="1" dirty="0" err="1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Bandhu</a:t>
            </a:r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Hackathon</a:t>
            </a:r>
            <a:endParaRPr sz="4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0" y="2099396"/>
            <a:ext cx="50406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u="none" strike="noStrike" cap="none" dirty="0">
                <a:solidFill>
                  <a:schemeClr val="bg1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Innovating for a Multilingual Judiciary</a:t>
            </a:r>
            <a:endParaRPr sz="1800" b="1" dirty="0">
              <a:solidFill>
                <a:schemeClr val="bg1"/>
              </a:solidFill>
              <a:latin typeface="Segoe UI" panose="020B0502040204020203" pitchFamily="34" charset="0"/>
              <a:ea typeface="Calibri"/>
              <a:cs typeface="Segoe UI" panose="020B0502040204020203" pitchFamily="34" charset="0"/>
              <a:sym typeface="Calibri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6515006" y="1048222"/>
            <a:ext cx="4202655" cy="2840948"/>
            <a:chOff x="5744480" y="1426638"/>
            <a:chExt cx="4202655" cy="2840948"/>
          </a:xfrm>
        </p:grpSpPr>
        <p:sp>
          <p:nvSpPr>
            <p:cNvPr id="97" name="Google Shape;97;p1"/>
            <p:cNvSpPr txBox="1"/>
            <p:nvPr/>
          </p:nvSpPr>
          <p:spPr>
            <a:xfrm>
              <a:off x="5744480" y="3670641"/>
              <a:ext cx="4202655" cy="5969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38A8"/>
                </a:buClr>
                <a:buSzPts val="1200"/>
                <a:buFont typeface="Quattrocento Sans"/>
                <a:buNone/>
              </a:pPr>
              <a:r>
                <a:rPr lang="en-US" sz="1200" b="1" u="none">
                  <a:solidFill>
                    <a:srgbClr val="0A38A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Supported by</a:t>
              </a:r>
              <a:endParaRPr/>
            </a:p>
          </p:txBody>
        </p:sp>
        <p:pic>
          <p:nvPicPr>
            <p:cNvPr id="98" name="Google Shape;98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423137" y="3588701"/>
              <a:ext cx="861187" cy="3566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9" name="Google Shape;99;p1"/>
            <p:cNvGrpSpPr/>
            <p:nvPr/>
          </p:nvGrpSpPr>
          <p:grpSpPr>
            <a:xfrm>
              <a:off x="6751128" y="1426638"/>
              <a:ext cx="2949298" cy="2715031"/>
              <a:chOff x="4622154" y="3957084"/>
              <a:chExt cx="2949298" cy="2715031"/>
            </a:xfrm>
          </p:grpSpPr>
          <p:pic>
            <p:nvPicPr>
              <p:cNvPr id="100" name="Google Shape;100;p1" descr="A logo with text on it&#10;&#10;Description automatically generated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4622154" y="3957084"/>
                <a:ext cx="2739601" cy="27150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" name="Google Shape;101;p1"/>
              <p:cNvSpPr txBox="1"/>
              <p:nvPr/>
            </p:nvSpPr>
            <p:spPr>
              <a:xfrm>
                <a:off x="4879689" y="5437898"/>
                <a:ext cx="269176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rgbClr val="0D0D0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Innovating for a Multilingual Judiciary</a:t>
                </a:r>
                <a:endParaRPr sz="1200" b="1" dirty="0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02" name="Google Shape;102;p1" descr="A logo with orange green and black color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95977" y="449900"/>
            <a:ext cx="1440712" cy="5752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DF08B3-AEE1-75EC-DA76-20E39A0A586A}"/>
              </a:ext>
            </a:extLst>
          </p:cNvPr>
          <p:cNvSpPr txBox="1"/>
          <p:nvPr/>
        </p:nvSpPr>
        <p:spPr>
          <a:xfrm>
            <a:off x="467433" y="2900453"/>
            <a:ext cx="6098058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Team Name : Data </a:t>
            </a:r>
            <a:r>
              <a:rPr lang="en-US" b="1" dirty="0" err="1"/>
              <a:t>Morphers</a:t>
            </a:r>
            <a:br>
              <a:rPr lang="en-US" b="1" dirty="0"/>
            </a:br>
            <a:r>
              <a:rPr lang="en-US" b="1" dirty="0"/>
              <a:t>Team: Prashant, Saket, Manas, Ritik  </a:t>
            </a:r>
            <a:br>
              <a:rPr lang="en-US" b="1" dirty="0"/>
            </a:br>
            <a:r>
              <a:rPr lang="en-US" b="1" dirty="0"/>
              <a:t>Date:21-Feb-2025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564223" y="182077"/>
            <a:ext cx="11300621" cy="6540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i="0" dirty="0" err="1">
                <a:solidFill>
                  <a:srgbClr val="1F2328"/>
                </a:solidFill>
                <a:effectLst/>
                <a:latin typeface="-apple-system"/>
              </a:rPr>
              <a:t>MediZen</a:t>
            </a:r>
            <a:r>
              <a:rPr lang="en-US" sz="3600" b="1" i="0" dirty="0">
                <a:solidFill>
                  <a:srgbClr val="1F2328"/>
                </a:solidFill>
                <a:effectLst/>
                <a:latin typeface="-apple-system"/>
              </a:rPr>
              <a:t> – AI-Powered Mediation Awareness Platform</a:t>
            </a:r>
            <a:endParaRPr lang="en-US" sz="2800" b="1" dirty="0">
              <a:solidFill>
                <a:srgbClr val="29358E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algn="l"/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The Legal Awareness Gap</a:t>
            </a:r>
          </a:p>
          <a:p>
            <a:pPr algn="l"/>
            <a:endParaRPr lang="en-US" sz="28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Mediation is a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faster, cost-effective alternative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to court cases, but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awareness is low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Citizens, businesses, and institutions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lack access to structured mediation resources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Language barriers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make it difficult for people to understand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processes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in India.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Goal: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Build a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multilingual AI-powered platform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that educates, assists, and connects users with mediators.</a:t>
            </a: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914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139497" y="72911"/>
            <a:ext cx="11300621" cy="7394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9358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</a:p>
          <a:p>
            <a:pPr algn="l"/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2800" b="1" i="0" dirty="0" err="1">
                <a:solidFill>
                  <a:srgbClr val="1F2328"/>
                </a:solidFill>
                <a:effectLst/>
                <a:latin typeface="-apple-system"/>
              </a:rPr>
              <a:t>MediZen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 – AI-Powered Mediation Awareness Platform </a:t>
            </a:r>
          </a:p>
          <a:p>
            <a:pPr algn="l"/>
            <a:endParaRPr lang="en-IN" sz="28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AI Chatbot &amp; Voice Assistant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Educates users about mediation in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regional languages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Legal Document Generator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Auto-fills mediation request forms based on user input.</a:t>
            </a:r>
            <a:b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</a:br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Mediator Directory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Connects users with certified mediators online.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Gamified Learning &amp; Interactive Case Studies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Engages users in real-world mediation scenarios.</a:t>
            </a:r>
          </a:p>
          <a:p>
            <a:pPr>
              <a:lnSpc>
                <a:spcPct val="150000"/>
              </a:lnSpc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146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265956" y="588477"/>
            <a:ext cx="11300621" cy="6098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 of Azure OpenAI &amp; </a:t>
            </a:r>
            <a:r>
              <a:rPr lang="en-US" sz="2800" b="1" dirty="0" err="1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Bhashini</a:t>
            </a: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API</a:t>
            </a:r>
          </a:p>
          <a:p>
            <a:pPr algn="l"/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AI-Powered Legal Awareness</a:t>
            </a:r>
          </a:p>
          <a:p>
            <a:pPr algn="l"/>
            <a:endParaRPr lang="en-IN" sz="2800" b="1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Azure OpenAI &amp; </a:t>
            </a:r>
            <a:r>
              <a:rPr lang="en-IN" sz="2800" b="1" i="0" dirty="0" err="1">
                <a:solidFill>
                  <a:srgbClr val="1F2328"/>
                </a:solidFill>
                <a:effectLst/>
                <a:latin typeface="-apple-system"/>
              </a:rPr>
              <a:t>Bhashini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 API: 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AI Chatbot provides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legal Q&amp;A and dispute resolution guidance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Speech-to-text &amp; text-to-speech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for voice interaction.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Multilingual support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for Indian languages.</a:t>
            </a:r>
          </a:p>
          <a:p>
            <a:pPr algn="l"/>
            <a:endParaRPr lang="en-IN" sz="2800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Converts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spoken queries into legal guidance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535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265956" y="588477"/>
            <a:ext cx="11300621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Techstack</a:t>
            </a: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/Technology Used</a:t>
            </a:r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dirty="0">
              <a:solidFill>
                <a:srgbClr val="0D0D0D"/>
              </a:solidFill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C7010F7-4D05-CAB7-8BC5-ACE90DCC3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252706"/>
              </p:ext>
            </p:extLst>
          </p:nvPr>
        </p:nvGraphicFramePr>
        <p:xfrm>
          <a:off x="654606" y="1819073"/>
          <a:ext cx="10619751" cy="445044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5285794">
                  <a:extLst>
                    <a:ext uri="{9D8B030D-6E8A-4147-A177-3AD203B41FA5}">
                      <a16:colId xmlns:a16="http://schemas.microsoft.com/office/drawing/2014/main" val="2815598124"/>
                    </a:ext>
                  </a:extLst>
                </a:gridCol>
                <a:gridCol w="5333957">
                  <a:extLst>
                    <a:ext uri="{9D8B030D-6E8A-4147-A177-3AD203B41FA5}">
                      <a16:colId xmlns:a16="http://schemas.microsoft.com/office/drawing/2014/main" val="2642592066"/>
                    </a:ext>
                  </a:extLst>
                </a:gridCol>
              </a:tblGrid>
              <a:tr h="590768">
                <a:tc>
                  <a:txBody>
                    <a:bodyPr/>
                    <a:lstStyle/>
                    <a:p>
                      <a:r>
                        <a:rPr lang="en-IN" sz="2400" b="1" dirty="0">
                          <a:effectLst/>
                        </a:rPr>
                        <a:t>Component</a:t>
                      </a: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effectLst/>
                        </a:rPr>
                        <a:t>Technology Used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568737497"/>
                  </a:ext>
                </a:extLst>
              </a:tr>
              <a:tr h="905844">
                <a:tc>
                  <a:txBody>
                    <a:bodyPr/>
                    <a:lstStyle/>
                    <a:p>
                      <a:r>
                        <a:rPr lang="en-IN" sz="2000" b="1" dirty="0">
                          <a:effectLst/>
                        </a:rPr>
                        <a:t>AI Chatbot &amp; NLP</a:t>
                      </a:r>
                      <a:endParaRPr lang="en-IN" sz="2000" dirty="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it-IT" sz="2000" dirty="0">
                          <a:effectLst/>
                        </a:rPr>
                        <a:t>Azure OpenAI (GPT-4), Bhashini API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696212744"/>
                  </a:ext>
                </a:extLst>
              </a:tr>
              <a:tr h="905844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Speech Processing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effectLst/>
                        </a:rPr>
                        <a:t>OpenAI Whisper, Google Speech API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737469214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Frontend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React.js (Web), Flutter (Mobile)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825812538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Backend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Node.js, FastAPI, Flask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356351368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Database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Firebase / PostgreSQL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272074141"/>
                  </a:ext>
                </a:extLst>
              </a:tr>
              <a:tr h="511998">
                <a:tc>
                  <a:txBody>
                    <a:bodyPr/>
                    <a:lstStyle/>
                    <a:p>
                      <a:r>
                        <a:rPr lang="en-IN" sz="2000" b="1">
                          <a:effectLst/>
                        </a:rPr>
                        <a:t>Hosting</a:t>
                      </a:r>
                      <a:endParaRPr lang="en-IN" sz="2000">
                        <a:effectLst/>
                      </a:endParaRPr>
                    </a:p>
                  </a:txBody>
                  <a:tcPr marL="99060" marR="99060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Azure Cloud, AWS</a:t>
                      </a:r>
                    </a:p>
                  </a:txBody>
                  <a:tcPr marL="99060" marR="99060" anchor="ctr"/>
                </a:tc>
                <a:extLst>
                  <a:ext uri="{0D108BD9-81ED-4DB2-BD59-A6C34878D82A}">
                    <a16:rowId xmlns:a16="http://schemas.microsoft.com/office/drawing/2014/main" val="1962091684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5E7A2873-E09D-CE65-D35C-983BE6D79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35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981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217318" y="345285"/>
            <a:ext cx="11300621" cy="557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Unique Selling Proposition</a:t>
            </a:r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800" b="1" dirty="0">
              <a:solidFill>
                <a:srgbClr val="29358E"/>
              </a:solidFill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0D0D0D"/>
              </a:solidFill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Multilingual AI Chatbot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Helps users in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native languages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Legal Document Automation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Auto-fills mediation request forms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Gamified Learning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Users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learn mediation through interactive scenarios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>
              <a:spcAft>
                <a:spcPts val="1500"/>
              </a:spcAft>
              <a:buFont typeface="Wingdings" panose="05000000000000000000" pitchFamily="2" charset="2"/>
              <a:buChar char="Ø"/>
            </a:pP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Voice-Enabled Legal Aid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 – Even </a:t>
            </a:r>
            <a:r>
              <a:rPr lang="en-IN" sz="2800" b="1" i="0" dirty="0">
                <a:solidFill>
                  <a:srgbClr val="1F2328"/>
                </a:solidFill>
                <a:effectLst/>
                <a:latin typeface="-apple-system"/>
              </a:rPr>
              <a:t>illiterate users can access legal help</a:t>
            </a:r>
            <a:r>
              <a:rPr lang="en-IN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US" sz="2000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28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0B5328-042F-21E0-8EAE-0341E4B46C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CDEE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94E52-B94D-2AEF-A5FF-BD132013B3F3}"/>
              </a:ext>
            </a:extLst>
          </p:cNvPr>
          <p:cNvSpPr txBox="1"/>
          <p:nvPr/>
        </p:nvSpPr>
        <p:spPr>
          <a:xfrm>
            <a:off x="165096" y="337802"/>
            <a:ext cx="11608887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Business Potential</a:t>
            </a:r>
            <a:br>
              <a:rPr lang="en-US" sz="2800" b="1" dirty="0">
                <a:solidFill>
                  <a:srgbClr val="29358E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2000" u="sng" kern="0" dirty="0">
              <a:solidFill>
                <a:srgbClr val="0D0D0D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  <a:p>
            <a:pPr algn="l"/>
            <a:r>
              <a:rPr lang="en-US" sz="3200" b="1" i="0" dirty="0">
                <a:solidFill>
                  <a:srgbClr val="1F2328"/>
                </a:solidFill>
                <a:effectLst/>
                <a:latin typeface="-apple-system"/>
              </a:rPr>
              <a:t>Who Can Benefit?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Citizens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Helps people avoid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expensive court cases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  <a:endParaRPr lang="en-US" sz="2800" dirty="0">
              <a:solidFill>
                <a:srgbClr val="1F2328"/>
              </a:solidFill>
              <a:latin typeface="-apple-system"/>
            </a:endParaRP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Small Businesses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Quick dispute resolution saves costs.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Aid Organizations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Expands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reach using AI-powered mediation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Government &amp; Judiciary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Reduces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burden on courts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 </a:t>
            </a:r>
          </a:p>
          <a:p>
            <a:pPr algn="l"/>
            <a:endParaRPr lang="en-US" sz="2800" b="0" i="0" u="sng" dirty="0">
              <a:solidFill>
                <a:srgbClr val="1F2328"/>
              </a:solidFill>
              <a:effectLst/>
              <a:latin typeface="-apple-system"/>
            </a:endParaRPr>
          </a:p>
          <a:p>
            <a:pPr algn="l"/>
            <a:r>
              <a:rPr lang="en-US" sz="3200" b="1" i="0" dirty="0">
                <a:solidFill>
                  <a:srgbClr val="1F2328"/>
                </a:solidFill>
                <a:effectLst/>
                <a:latin typeface="-apple-system"/>
              </a:rPr>
              <a:t>Implementation Strategy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Collaborate with the Government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Integrate with Digital India initiatives.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Law Firms &amp; Mediators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Provide as a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tech tool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AI for Public Legal Education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 – Scalable </a:t>
            </a:r>
            <a:r>
              <a:rPr lang="en-US" sz="2800" b="1" i="0" dirty="0">
                <a:solidFill>
                  <a:srgbClr val="1F2328"/>
                </a:solidFill>
                <a:effectLst/>
                <a:latin typeface="-apple-system"/>
              </a:rPr>
              <a:t>legal awareness platform</a:t>
            </a:r>
            <a:r>
              <a:rPr lang="en-US" sz="2800" b="0" i="0" dirty="0">
                <a:solidFill>
                  <a:srgbClr val="1F2328"/>
                </a:solidFill>
                <a:effectLst/>
                <a:latin typeface="-apple-system"/>
              </a:rPr>
              <a:t>.</a:t>
            </a:r>
          </a:p>
          <a:p>
            <a:pPr>
              <a:spcAft>
                <a:spcPts val="1500"/>
              </a:spcAft>
            </a:pPr>
            <a:endParaRPr lang="en-IN" sz="2000" kern="1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092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" y="0"/>
            <a:ext cx="12189630" cy="6858000"/>
          </a:xfrm>
          <a:prstGeom prst="rect">
            <a:avLst/>
          </a:prstGeom>
        </p:spPr>
      </p:pic>
      <p:grpSp>
        <p:nvGrpSpPr>
          <p:cNvPr id="214" name="Google Shape;214;p13"/>
          <p:cNvGrpSpPr/>
          <p:nvPr/>
        </p:nvGrpSpPr>
        <p:grpSpPr>
          <a:xfrm>
            <a:off x="5097757" y="4859758"/>
            <a:ext cx="1996487" cy="1292289"/>
            <a:chOff x="5888815" y="5325516"/>
            <a:chExt cx="1996487" cy="1292289"/>
          </a:xfrm>
        </p:grpSpPr>
        <p:sp>
          <p:nvSpPr>
            <p:cNvPr id="215" name="Google Shape;215;p13"/>
            <p:cNvSpPr txBox="1"/>
            <p:nvPr/>
          </p:nvSpPr>
          <p:spPr>
            <a:xfrm>
              <a:off x="5888815" y="6334224"/>
              <a:ext cx="1996487" cy="283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A38A8"/>
                </a:buClr>
                <a:buSzPts val="600"/>
                <a:buFont typeface="Quattrocento Sans"/>
                <a:buNone/>
              </a:pPr>
              <a:r>
                <a:rPr lang="en-US" sz="600" b="1">
                  <a:solidFill>
                    <a:srgbClr val="0A38A8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Supported by</a:t>
              </a:r>
              <a:endParaRPr/>
            </a:p>
          </p:txBody>
        </p:sp>
        <p:pic>
          <p:nvPicPr>
            <p:cNvPr id="216" name="Google Shape;216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87368" y="6334224"/>
              <a:ext cx="409110" cy="16944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7" name="Google Shape;217;p13"/>
            <p:cNvGrpSpPr/>
            <p:nvPr/>
          </p:nvGrpSpPr>
          <p:grpSpPr>
            <a:xfrm>
              <a:off x="6236330" y="5325516"/>
              <a:ext cx="1528500" cy="1289786"/>
              <a:chOff x="156554" y="3957084"/>
              <a:chExt cx="3217528" cy="2715031"/>
            </a:xfrm>
          </p:grpSpPr>
          <p:pic>
            <p:nvPicPr>
              <p:cNvPr id="218" name="Google Shape;218;p13" descr="A logo with text on it&#10;&#10;Description automatically generated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156554" y="3957084"/>
                <a:ext cx="2739599" cy="27150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9" name="Google Shape;219;p13"/>
              <p:cNvSpPr txBox="1"/>
              <p:nvPr/>
            </p:nvSpPr>
            <p:spPr>
              <a:xfrm>
                <a:off x="414095" y="5437897"/>
                <a:ext cx="2959987" cy="38872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00" b="1">
                    <a:solidFill>
                      <a:srgbClr val="0D0D0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Innovating for a Multilingual Judiciary</a:t>
                </a:r>
                <a:endParaRPr sz="600" b="1">
                  <a:solidFill>
                    <a:srgbClr val="1F3864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1248</TotalTime>
  <Words>664</Words>
  <Application>Microsoft Office PowerPoint</Application>
  <PresentationFormat>Widescreen</PresentationFormat>
  <Paragraphs>89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Quattrocento Sans</vt:lpstr>
      <vt:lpstr>Wingdings</vt:lpstr>
      <vt:lpstr>Arial</vt:lpstr>
      <vt:lpstr>-apple-system</vt:lpstr>
      <vt:lpstr>Segoe UI</vt:lpstr>
      <vt:lpstr>Calibri</vt:lpstr>
      <vt:lpstr>Office Theme</vt:lpstr>
      <vt:lpstr>Bhasha Bandhu Hackathon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Proposal</dc:title>
  <dc:creator>Avinash Rohit</dc:creator>
  <cp:lastModifiedBy>Rogue Knight</cp:lastModifiedBy>
  <cp:revision>33</cp:revision>
  <dcterms:created xsi:type="dcterms:W3CDTF">2023-11-19T09:12:34Z</dcterms:created>
  <dcterms:modified xsi:type="dcterms:W3CDTF">2025-02-20T18:03:04Z</dcterms:modified>
</cp:coreProperties>
</file>